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ca6b4447f2042cb" /><Relationship Type="http://schemas.openxmlformats.org/officeDocument/2006/relationships/extended-properties" Target="/docProps/app.xml" Id="R84985828dd8548a4" /><Relationship Type="http://schemas.openxmlformats.org/officeDocument/2006/relationships/officeDocument" Target="/ppt/presentation.xml" Id="R7b30dea260ca400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375daf4723d4b5b"/>
  </p:sldMasterIdLst>
  <p:notesMasterIdLst>
    <p:notesMasterId xmlns:r="http://schemas.openxmlformats.org/officeDocument/2006/relationships" r:id="Rcebc74ecd76249dd"/>
  </p:notesMasterIdLst>
  <p:sldIdLst>
    <p:sldId xmlns:r="http://schemas.openxmlformats.org/officeDocument/2006/relationships" id="256" r:id="R616fa369273d472d"/>
    <p:sldId xmlns:r="http://schemas.openxmlformats.org/officeDocument/2006/relationships" id="257" r:id="R622e912b5f6a46f6"/>
    <p:sldId xmlns:r="http://schemas.openxmlformats.org/officeDocument/2006/relationships" id="258" r:id="Re39435e709b641a3"/>
    <p:sldId xmlns:r="http://schemas.openxmlformats.org/officeDocument/2006/relationships" id="259" r:id="Ra21f7037db2c49d6"/>
    <p:sldId xmlns:r="http://schemas.openxmlformats.org/officeDocument/2006/relationships" id="260" r:id="Ra04fa9278ec14304"/>
    <p:sldId xmlns:r="http://schemas.openxmlformats.org/officeDocument/2006/relationships" id="261" r:id="R014b4b18016e47d2"/>
    <p:sldId xmlns:r="http://schemas.openxmlformats.org/officeDocument/2006/relationships" id="262" r:id="R42384efcbff64a02"/>
    <p:sldId xmlns:r="http://schemas.openxmlformats.org/officeDocument/2006/relationships" id="263" r:id="Rf01a5277e85d49be"/>
    <p:sldId xmlns:r="http://schemas.openxmlformats.org/officeDocument/2006/relationships" id="264" r:id="R47bc871accb2471e"/>
    <p:sldId xmlns:r="http://schemas.openxmlformats.org/officeDocument/2006/relationships" id="265" r:id="R67077420570b48a2"/>
    <p:sldId xmlns:r="http://schemas.openxmlformats.org/officeDocument/2006/relationships" id="266" r:id="R2eb3d3aff6114f27"/>
    <p:sldId xmlns:r="http://schemas.openxmlformats.org/officeDocument/2006/relationships" id="267" r:id="Rb9a2f93c07fb48a9"/>
    <p:sldId xmlns:r="http://schemas.openxmlformats.org/officeDocument/2006/relationships" id="268" r:id="Re1184805ef3a4388"/>
    <p:sldId xmlns:r="http://schemas.openxmlformats.org/officeDocument/2006/relationships" id="269" r:id="R7cee7f0639e54320"/>
    <p:sldId xmlns:r="http://schemas.openxmlformats.org/officeDocument/2006/relationships" id="270" r:id="Re71c66ffbe834877"/>
    <p:sldId xmlns:r="http://schemas.openxmlformats.org/officeDocument/2006/relationships" id="271" r:id="Re0e1b5c857cd45b9"/>
    <p:sldId xmlns:r="http://schemas.openxmlformats.org/officeDocument/2006/relationships" id="272" r:id="R34a6bd5cbe7440e8"/>
    <p:sldId xmlns:r="http://schemas.openxmlformats.org/officeDocument/2006/relationships" id="273" r:id="R5b3e66576d794eda"/>
    <p:sldId xmlns:r="http://schemas.openxmlformats.org/officeDocument/2006/relationships" id="274" r:id="R0b93babc32cb41c7"/>
    <p:sldId xmlns:r="http://schemas.openxmlformats.org/officeDocument/2006/relationships" id="275" r:id="Re8de1ae2e74647ec"/>
    <p:sldId xmlns:r="http://schemas.openxmlformats.org/officeDocument/2006/relationships" id="276" r:id="R04b81b832a3544cf"/>
    <p:sldId xmlns:r="http://schemas.openxmlformats.org/officeDocument/2006/relationships" id="277" r:id="R79439f794d8b4d27"/>
    <p:sldId xmlns:r="http://schemas.openxmlformats.org/officeDocument/2006/relationships" id="278" r:id="Rf477fbbdcd0a4931"/>
    <p:sldId xmlns:r="http://schemas.openxmlformats.org/officeDocument/2006/relationships" id="279" r:id="Rf67058f995c547b8"/>
    <p:sldId xmlns:r="http://schemas.openxmlformats.org/officeDocument/2006/relationships" id="280" r:id="R11cf4a9487f0449e"/>
    <p:sldId xmlns:r="http://schemas.openxmlformats.org/officeDocument/2006/relationships" id="281" r:id="R3eaaf71e1e3340b3"/>
    <p:sldId xmlns:r="http://schemas.openxmlformats.org/officeDocument/2006/relationships" id="282" r:id="Rd2ea6fad79304bb2"/>
    <p:sldId xmlns:r="http://schemas.openxmlformats.org/officeDocument/2006/relationships" id="283" r:id="R5911ecb513ca42db"/>
    <p:sldId xmlns:r="http://schemas.openxmlformats.org/officeDocument/2006/relationships" id="284" r:id="R1e6be73c8b5043d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7a56d6e82b04e54" /><Relationship Type="http://schemas.openxmlformats.org/officeDocument/2006/relationships/slideMaster" Target="/ppt/slideMasters/slideMaster1.xml" Id="Re375daf4723d4b5b" /><Relationship Type="http://schemas.openxmlformats.org/officeDocument/2006/relationships/notesMaster" Target="/ppt/notesMasters/notesMaster1.xml" Id="Rcebc74ecd76249dd" /><Relationship Type="http://schemas.openxmlformats.org/officeDocument/2006/relationships/presProps" Target="/ppt/presProps.xml" Id="Rcd0c275c536e4878" /><Relationship Type="http://schemas.openxmlformats.org/officeDocument/2006/relationships/tableStyles" Target="/ppt/tableStyles.xml" Id="Rcbf55e02aa964c56" /><Relationship Type="http://schemas.openxmlformats.org/officeDocument/2006/relationships/slide" Target="/ppt/slides/slide1.xml" Id="R616fa369273d472d" /><Relationship Type="http://schemas.openxmlformats.org/officeDocument/2006/relationships/slide" Target="/ppt/slides/slide2.xml" Id="R622e912b5f6a46f6" /><Relationship Type="http://schemas.openxmlformats.org/officeDocument/2006/relationships/slide" Target="/ppt/slides/slide3.xml" Id="Re39435e709b641a3" /><Relationship Type="http://schemas.openxmlformats.org/officeDocument/2006/relationships/slide" Target="/ppt/slides/slide4.xml" Id="Ra21f7037db2c49d6" /><Relationship Type="http://schemas.openxmlformats.org/officeDocument/2006/relationships/slide" Target="/ppt/slides/slide5.xml" Id="Ra04fa9278ec14304" /><Relationship Type="http://schemas.openxmlformats.org/officeDocument/2006/relationships/slide" Target="/ppt/slides/slide6.xml" Id="R014b4b18016e47d2" /><Relationship Type="http://schemas.openxmlformats.org/officeDocument/2006/relationships/slide" Target="/ppt/slides/slide7.xml" Id="R42384efcbff64a02" /><Relationship Type="http://schemas.openxmlformats.org/officeDocument/2006/relationships/slide" Target="/ppt/slides/slide8.xml" Id="Rf01a5277e85d49be" /><Relationship Type="http://schemas.openxmlformats.org/officeDocument/2006/relationships/slide" Target="/ppt/slides/slide9.xml" Id="R47bc871accb2471e" /><Relationship Type="http://schemas.openxmlformats.org/officeDocument/2006/relationships/slide" Target="/ppt/slides/slide10.xml" Id="R67077420570b48a2" /><Relationship Type="http://schemas.openxmlformats.org/officeDocument/2006/relationships/slide" Target="/ppt/slides/slide11.xml" Id="R2eb3d3aff6114f27" /><Relationship Type="http://schemas.openxmlformats.org/officeDocument/2006/relationships/slide" Target="/ppt/slides/slide12.xml" Id="Rb9a2f93c07fb48a9" /><Relationship Type="http://schemas.openxmlformats.org/officeDocument/2006/relationships/slide" Target="/ppt/slides/slide13.xml" Id="Re1184805ef3a4388" /><Relationship Type="http://schemas.openxmlformats.org/officeDocument/2006/relationships/slide" Target="/ppt/slides/slide14.xml" Id="R7cee7f0639e54320" /><Relationship Type="http://schemas.openxmlformats.org/officeDocument/2006/relationships/slide" Target="/ppt/slides/slide15.xml" Id="Re71c66ffbe834877" /><Relationship Type="http://schemas.openxmlformats.org/officeDocument/2006/relationships/slide" Target="/ppt/slides/slide16.xml" Id="Re0e1b5c857cd45b9" /><Relationship Type="http://schemas.openxmlformats.org/officeDocument/2006/relationships/slide" Target="/ppt/slides/slide17.xml" Id="R34a6bd5cbe7440e8" /><Relationship Type="http://schemas.openxmlformats.org/officeDocument/2006/relationships/slide" Target="/ppt/slides/slide18.xml" Id="R5b3e66576d794eda" /><Relationship Type="http://schemas.openxmlformats.org/officeDocument/2006/relationships/slide" Target="/ppt/slides/slide19.xml" Id="R0b93babc32cb41c7" /><Relationship Type="http://schemas.openxmlformats.org/officeDocument/2006/relationships/slide" Target="/ppt/slides/slide20.xml" Id="Re8de1ae2e74647ec" /><Relationship Type="http://schemas.openxmlformats.org/officeDocument/2006/relationships/slide" Target="/ppt/slides/slide21.xml" Id="R04b81b832a3544cf" /><Relationship Type="http://schemas.openxmlformats.org/officeDocument/2006/relationships/slide" Target="/ppt/slides/slide22.xml" Id="R79439f794d8b4d27" /><Relationship Type="http://schemas.openxmlformats.org/officeDocument/2006/relationships/slide" Target="/ppt/slides/slide23.xml" Id="Rf477fbbdcd0a4931" /><Relationship Type="http://schemas.openxmlformats.org/officeDocument/2006/relationships/slide" Target="/ppt/slides/slide24.xml" Id="Rf67058f995c547b8" /><Relationship Type="http://schemas.openxmlformats.org/officeDocument/2006/relationships/slide" Target="/ppt/slides/slide25.xml" Id="R11cf4a9487f0449e" /><Relationship Type="http://schemas.openxmlformats.org/officeDocument/2006/relationships/slide" Target="/ppt/slides/slide26.xml" Id="R3eaaf71e1e3340b3" /><Relationship Type="http://schemas.openxmlformats.org/officeDocument/2006/relationships/slide" Target="/ppt/slides/slide27.xml" Id="Rd2ea6fad79304bb2" /><Relationship Type="http://schemas.openxmlformats.org/officeDocument/2006/relationships/slide" Target="/ppt/slides/slide28.xml" Id="R5911ecb513ca42db" /><Relationship Type="http://schemas.openxmlformats.org/officeDocument/2006/relationships/slide" Target="/ppt/slides/slide29.xml" Id="R1e6be73c8b5043d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40110cd2005416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TurnFlow Dark">
      <a:dk1>
        <a:srgbClr val="000000"/>
      </a:dk1>
      <a:lt1>
        <a:srgbClr val="FFFFFF"/>
      </a:lt1>
      <a:dk2>
        <a:srgbClr val="10121E"/>
      </a:dk2>
      <a:lt2>
        <a:srgbClr val="E7E9F2"/>
      </a:lt2>
      <a:accent1>
        <a:srgbClr val="8B7CFF"/>
      </a:accent1>
      <a:accent2>
        <a:srgbClr val="2DD4A7"/>
      </a:accent2>
      <a:accent3>
        <a:srgbClr val="F5B84B"/>
      </a:accent3>
      <a:accent4>
        <a:srgbClr val="FF6B8A"/>
      </a:accent4>
      <a:accent5>
        <a:srgbClr val="5EC8F2"/>
      </a:accent5>
      <a:accent6>
        <a:srgbClr val="737A99"/>
      </a:accent6>
      <a:hlink>
        <a:srgbClr val="5EC8F2"/>
      </a:hlink>
      <a:folHlink>
        <a:srgbClr val="8B7CFF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TurnFlow Dark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bf122959d65415f" /><Relationship Type="http://schemas.openxmlformats.org/officeDocument/2006/relationships/notesMaster" Target="/ppt/notesMasters/notesMaster1.xml" Id="Rb31eee40ee854d4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be24fa04d7a466b" /><Relationship Type="http://schemas.openxmlformats.org/officeDocument/2006/relationships/notesMaster" Target="/ppt/notesMasters/notesMaster1.xml" Id="R7dd3f3f37ca249e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6db0d920b0541f1" /><Relationship Type="http://schemas.openxmlformats.org/officeDocument/2006/relationships/notesMaster" Target="/ppt/notesMasters/notesMaster1.xml" Id="R51b9a3f183134dd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c5c6abfa16544cc" /><Relationship Type="http://schemas.openxmlformats.org/officeDocument/2006/relationships/notesMaster" Target="/ppt/notesMasters/notesMaster1.xml" Id="Ree8824a21bd5483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dd312eacd2d4fc2" /><Relationship Type="http://schemas.openxmlformats.org/officeDocument/2006/relationships/notesMaster" Target="/ppt/notesMasters/notesMaster1.xml" Id="R5b45e225cadb4c2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73f1f2d05bf489a" /><Relationship Type="http://schemas.openxmlformats.org/officeDocument/2006/relationships/notesMaster" Target="/ppt/notesMasters/notesMaster1.xml" Id="Rc2e65a2b5e86414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7b4b8c0bdb24f88" /><Relationship Type="http://schemas.openxmlformats.org/officeDocument/2006/relationships/notesMaster" Target="/ppt/notesMasters/notesMaster1.xml" Id="R1927f7a9815e478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268a370642b4616" /><Relationship Type="http://schemas.openxmlformats.org/officeDocument/2006/relationships/notesMaster" Target="/ppt/notesMasters/notesMaster1.xml" Id="R12dfd0a67a3e4af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ae8953540a54ecf" /><Relationship Type="http://schemas.openxmlformats.org/officeDocument/2006/relationships/notesMaster" Target="/ppt/notesMasters/notesMaster1.xml" Id="R8bcc3d7c4269450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74ce8a3da154490" /><Relationship Type="http://schemas.openxmlformats.org/officeDocument/2006/relationships/notesMaster" Target="/ppt/notesMasters/notesMaster1.xml" Id="R39f1b1b123b940e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4ec6cccd5344561" /><Relationship Type="http://schemas.openxmlformats.org/officeDocument/2006/relationships/notesMaster" Target="/ppt/notesMasters/notesMaster1.xml" Id="Rb390e4c799044c2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a541cf3f7c1478b" /><Relationship Type="http://schemas.openxmlformats.org/officeDocument/2006/relationships/notesMaster" Target="/ppt/notesMasters/notesMaster1.xml" Id="R5f1441b07cb34fdb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90e91cd2bc464cf7" /><Relationship Type="http://schemas.openxmlformats.org/officeDocument/2006/relationships/notesMaster" Target="/ppt/notesMasters/notesMaster1.xml" Id="Rdc0d7ebe74be4e3a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d61d3ad2860c48bc" /><Relationship Type="http://schemas.openxmlformats.org/officeDocument/2006/relationships/notesMaster" Target="/ppt/notesMasters/notesMaster1.xml" Id="R057503bc1549439f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bdc01c202b054d1c" /><Relationship Type="http://schemas.openxmlformats.org/officeDocument/2006/relationships/notesMaster" Target="/ppt/notesMasters/notesMaster1.xml" Id="Ra31f8497b3f846a3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7639a8592444417a" /><Relationship Type="http://schemas.openxmlformats.org/officeDocument/2006/relationships/notesMaster" Target="/ppt/notesMasters/notesMaster1.xml" Id="Rc840a60b9c314778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c1d36c1dadcc48cc" /><Relationship Type="http://schemas.openxmlformats.org/officeDocument/2006/relationships/notesMaster" Target="/ppt/notesMasters/notesMaster1.xml" Id="Rbb51ced1b3b2409f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4c71f99045e448d2" /><Relationship Type="http://schemas.openxmlformats.org/officeDocument/2006/relationships/notesMaster" Target="/ppt/notesMasters/notesMaster1.xml" Id="R6c2e7c78a71e4fdc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3685df92679c42fa" /><Relationship Type="http://schemas.openxmlformats.org/officeDocument/2006/relationships/notesMaster" Target="/ppt/notesMasters/notesMaster1.xml" Id="R2f73de7f3afd444f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80e18cab481f4e23" /><Relationship Type="http://schemas.openxmlformats.org/officeDocument/2006/relationships/notesMaster" Target="/ppt/notesMasters/notesMaster1.xml" Id="R5211319d26db457b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0caa4ff9abae42ea" /><Relationship Type="http://schemas.openxmlformats.org/officeDocument/2006/relationships/notesMaster" Target="/ppt/notesMasters/notesMaster1.xml" Id="Rd989d8de8cdb435e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f25d5f1d32cf44a1" /><Relationship Type="http://schemas.openxmlformats.org/officeDocument/2006/relationships/notesMaster" Target="/ppt/notesMasters/notesMaster1.xml" Id="R2e162a9496534ec5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5c555134a9e04253" /><Relationship Type="http://schemas.openxmlformats.org/officeDocument/2006/relationships/notesMaster" Target="/ppt/notesMasters/notesMaster1.xml" Id="Rf12143d704cb44da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161a487fcff346f7" /><Relationship Type="http://schemas.openxmlformats.org/officeDocument/2006/relationships/notesMaster" Target="/ppt/notesMasters/notesMaster1.xml" Id="R33c915c811e24260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f4a3f24d9b1a45be" /><Relationship Type="http://schemas.openxmlformats.org/officeDocument/2006/relationships/notesMaster" Target="/ppt/notesMasters/notesMaster1.xml" Id="Rf8de22c82025489f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c66159ac0d5b43bc" /><Relationship Type="http://schemas.openxmlformats.org/officeDocument/2006/relationships/notesMaster" Target="/ppt/notesMasters/notesMaster1.xml" Id="Rf09210708e284ab4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df410b6b4e774565" /><Relationship Type="http://schemas.openxmlformats.org/officeDocument/2006/relationships/notesMaster" Target="/ppt/notesMasters/notesMaster1.xml" Id="R59cb48ac82054f5c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457addb9465f42bc" /><Relationship Type="http://schemas.openxmlformats.org/officeDocument/2006/relationships/notesMaster" Target="/ppt/notesMasters/notesMaster1.xml" Id="R7cba368b4154451a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b781d3772b58470d" /><Relationship Type="http://schemas.openxmlformats.org/officeDocument/2006/relationships/notesMaster" Target="/ppt/notesMasters/notesMaster1.xml" Id="R94f5d1e6524f4a1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Purpose: orient a mixed audience to TurnFlow Home. Sources: README.md, package.json, repository inspection. Visual language adapted from the supplied h777 reference deck.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deliverable structure requested by the user, adapted to the repository evidence.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README.md product direction and current POC readiness; docs/ENDPOINT_EXPERIENCE_MAP.md.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README.md Product Direction, Core Features, and Remaining Product Gaps.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lib/auth/dal.ts, app/vendor/page.tsx, app/collaborator/page.tsx, docs/ENDPOINT_EXPERIENCE_MAP.md.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app/owner/onboarding/page.tsx, lib/owner-readiness.ts, screenshot screenshots/ux-owner/setup-desktop.png.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screenshots/ux-owner/properties-desktop.png, screenshots/ux-owner/new-request-desktop.png, screenshots/04-request-detail.png.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lib/db/schema.ts request_status enum, lib/request-workflow.ts, lib/actions/requests.ts.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components/VendorPortal.tsx, lib/vendor-lifecycle.ts, lib/closeout-submissions.ts, screenshot screenshots/ux-helper/vendor-desktop.png.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app/collaborator/page.tsx, lib/actions/invites.ts, screenshot screenshots/ux-helper/collaborator-desktop.png.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package.json, lib/db/index.ts, lib/auth/config.ts, app/api/blob-upload/route.ts, lib/email.ts, vercel.json.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installed Next.js 16 authentication/data-security guides, lib/auth/dal.ts, representative actions under lib/actions/.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repository file inventory, app/, components/, lib/, drizzle/, __tests__/, scripts/.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app route pages and imported components/actions found by repository inspection.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lib/* guidance helpers, lib/actions/*, __tests__/*.test.ts. Test count verified with npm test on 2026-09-30.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lib/db/schema.ts. Primary tables counted from exported pgTable declarations.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lib/auth/config.ts, lib/auth/dal.ts, proxy.ts, representative Server Actions, lib/db/schema.ts.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action authorization checks, app/vendor/page.tsx, app/collaborator/page.tsx. Matrix summarizes current code, not a generalized future organization policy.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app/api/blob-upload/route.ts, app/api/files/route.ts, lib/blob-upload-client.ts, lib/blob-paths.ts, lib/file-access.ts.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app/api/health, app/api/cron/reminder-digest, lib/email.ts, vercel.json, backup and PDF utilities.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package.json scripts, __tests__/, scripts/ux-*.ts. Local verification run on 2026-09-30.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docs/DEPLOYMENT.md, .env.local.example, package.json, vercel.json, next.config.ts.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README.md Current POC Readiness and Remaining Product Gaps, docs/DEPLOYMENT.md, docs/USER_TESTING.md.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README.md gaps, docs/DEPLOYMENT.md, docs/UI_UX_REVIEW.md, __tests__/security-headers.test.ts.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repository organization and recurring change pattern visible in schema, actions, components, tests, and build log.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explain-the-code-practice-guide.md, based on repository evidence.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code-glossary.md and repository imports.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README.md, docs/DEPLOYMENT.md, docs/USER_TESTING.md, docs/VENDOR_LIFECYCLE_ROADMAP.md.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with the mental model. The central guide links the deck and all companion documents.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3525dd166294c8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1cbde6df0d9462c" /><Relationship Type="http://schemas.openxmlformats.org/officeDocument/2006/relationships/slideLayout" Target="/ppt/slideLayouts/slideLayout1.xml" Id="R398e5400fa97492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98e5400fa97492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TurnFlow Dark">
      <a:dk1>
        <a:srgbClr val="000000"/>
      </a:dk1>
      <a:lt1>
        <a:srgbClr val="FFFFFF"/>
      </a:lt1>
      <a:dk2>
        <a:srgbClr val="10121E"/>
      </a:dk2>
      <a:lt2>
        <a:srgbClr val="E7E9F2"/>
      </a:lt2>
      <a:accent1>
        <a:srgbClr val="8B7CFF"/>
      </a:accent1>
      <a:accent2>
        <a:srgbClr val="2DD4A7"/>
      </a:accent2>
      <a:accent3>
        <a:srgbClr val="F5B84B"/>
      </a:accent3>
      <a:accent4>
        <a:srgbClr val="FF6B8A"/>
      </a:accent4>
      <a:accent5>
        <a:srgbClr val="5EC8F2"/>
      </a:accent5>
      <a:accent6>
        <a:srgbClr val="737A99"/>
      </a:accent6>
      <a:hlink>
        <a:srgbClr val="5EC8F2"/>
      </a:hlink>
      <a:folHlink>
        <a:srgbClr val="8B7CFF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TurnFlow Dark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d6dc1de7984294" /><Relationship Type="http://schemas.openxmlformats.org/officeDocument/2006/relationships/notesSlide" Target="/ppt/notesSlides/notesSlide1.xml" Id="R68623f110dfb4b0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c856e031ce4ea0" /><Relationship Type="http://schemas.openxmlformats.org/officeDocument/2006/relationships/notesSlide" Target="/ppt/notesSlides/notesSlide2.xml" Id="R11ffb481f2a449c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2b0c8568454572" /><Relationship Type="http://schemas.openxmlformats.org/officeDocument/2006/relationships/notesSlide" Target="/ppt/notesSlides/notesSlide3.xml" Id="Reddb8ad0cdd641f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bed0954b1d41c4" /><Relationship Type="http://schemas.openxmlformats.org/officeDocument/2006/relationships/notesSlide" Target="/ppt/notesSlides/notesSlide4.xml" Id="R500a3c2427344f2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eda0be0ae3405b" /><Relationship Type="http://schemas.openxmlformats.org/officeDocument/2006/relationships/notesSlide" Target="/ppt/notesSlides/notesSlide5.xml" Id="Re69901067666437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8b55f0898342a7" /><Relationship Type="http://schemas.openxmlformats.org/officeDocument/2006/relationships/image" Target="/ppt/media/image.png" Id="R40267121bc0e4f66" /><Relationship Type="http://schemas.openxmlformats.org/officeDocument/2006/relationships/notesSlide" Target="/ppt/notesSlides/notesSlide6.xml" Id="Rf19414b29f72481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8a413d5da1452d" /><Relationship Type="http://schemas.openxmlformats.org/officeDocument/2006/relationships/image" Target="/ppt/media/image2.png" Id="R6ee91782ec1c4e7b" /><Relationship Type="http://schemas.openxmlformats.org/officeDocument/2006/relationships/image" Target="/ppt/media/image3.png" Id="Rd7fc4f255bfc4d3d" /><Relationship Type="http://schemas.openxmlformats.org/officeDocument/2006/relationships/image" Target="/ppt/media/image4.png" Id="Rf815ed55ee8a4ba8" /><Relationship Type="http://schemas.openxmlformats.org/officeDocument/2006/relationships/notesSlide" Target="/ppt/notesSlides/notesSlide7.xml" Id="Rb1290dc3dcbf4e8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3b9d5b6dfb4d41" /><Relationship Type="http://schemas.openxmlformats.org/officeDocument/2006/relationships/notesSlide" Target="/ppt/notesSlides/notesSlide8.xml" Id="R39cb3ba9a14e46a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2b1618e7074e15" /><Relationship Type="http://schemas.openxmlformats.org/officeDocument/2006/relationships/image" Target="/ppt/media/image5.png" Id="Ref79afcf3103485f" /><Relationship Type="http://schemas.openxmlformats.org/officeDocument/2006/relationships/notesSlide" Target="/ppt/notesSlides/notesSlide9.xml" Id="R432b8256e6c44c3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9de9595c0c41ea" /><Relationship Type="http://schemas.openxmlformats.org/officeDocument/2006/relationships/image" Target="/ppt/media/image6.png" Id="Ra8b8ce1272214fdb" /><Relationship Type="http://schemas.openxmlformats.org/officeDocument/2006/relationships/notesSlide" Target="/ppt/notesSlides/notesSlide10.xml" Id="R86b6c791ff66435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bf15af86504eb8" /><Relationship Type="http://schemas.openxmlformats.org/officeDocument/2006/relationships/notesSlide" Target="/ppt/notesSlides/notesSlide11.xml" Id="R6db05e642f9d46de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433b63892b4fdf" /><Relationship Type="http://schemas.openxmlformats.org/officeDocument/2006/relationships/notesSlide" Target="/ppt/notesSlides/notesSlide12.xml" Id="Rb2c6bfd09cbd4855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2c625a4820428c" /><Relationship Type="http://schemas.openxmlformats.org/officeDocument/2006/relationships/notesSlide" Target="/ppt/notesSlides/notesSlide13.xml" Id="R071be5803a654692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f69c6bde204efc" /><Relationship Type="http://schemas.openxmlformats.org/officeDocument/2006/relationships/notesSlide" Target="/ppt/notesSlides/notesSlide14.xml" Id="Re812946f8d3a419e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5652f8442b404d" /><Relationship Type="http://schemas.openxmlformats.org/officeDocument/2006/relationships/notesSlide" Target="/ppt/notesSlides/notesSlide15.xml" Id="R6354f5b9d6864369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a75e7922b843a8" /><Relationship Type="http://schemas.openxmlformats.org/officeDocument/2006/relationships/notesSlide" Target="/ppt/notesSlides/notesSlide16.xml" Id="R919193d2af1649e9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afbaa4d12d472d" /><Relationship Type="http://schemas.openxmlformats.org/officeDocument/2006/relationships/notesSlide" Target="/ppt/notesSlides/notesSlide17.xml" Id="R060cfcf3e45348e0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f704d63de04a47" /><Relationship Type="http://schemas.openxmlformats.org/officeDocument/2006/relationships/notesSlide" Target="/ppt/notesSlides/notesSlide18.xml" Id="R91c82bbbd1934374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8b39a9b6d3476b" /><Relationship Type="http://schemas.openxmlformats.org/officeDocument/2006/relationships/notesSlide" Target="/ppt/notesSlides/notesSlide19.xml" Id="R892b91c408204e7a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6879d3656645eb" /><Relationship Type="http://schemas.openxmlformats.org/officeDocument/2006/relationships/notesSlide" Target="/ppt/notesSlides/notesSlide20.xml" Id="R67d233e1d6864194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e3592a49ec4782" /><Relationship Type="http://schemas.openxmlformats.org/officeDocument/2006/relationships/notesSlide" Target="/ppt/notesSlides/notesSlide21.xml" Id="R26a10ef9b51d4aa6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edcdc69f8a4c1a" /><Relationship Type="http://schemas.openxmlformats.org/officeDocument/2006/relationships/notesSlide" Target="/ppt/notesSlides/notesSlide22.xml" Id="R2bf1180d10804837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1c346a2c9f40b3" /><Relationship Type="http://schemas.openxmlformats.org/officeDocument/2006/relationships/notesSlide" Target="/ppt/notesSlides/notesSlide23.xml" Id="R24abc534a49548da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b03c1ab5704ebe" /><Relationship Type="http://schemas.openxmlformats.org/officeDocument/2006/relationships/notesSlide" Target="/ppt/notesSlides/notesSlide24.xml" Id="R4027cc8b8e424bf4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a3e20fa4c7418e" /><Relationship Type="http://schemas.openxmlformats.org/officeDocument/2006/relationships/notesSlide" Target="/ppt/notesSlides/notesSlide25.xml" Id="R914ed2de08be4174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73af80a1b945e3" /><Relationship Type="http://schemas.openxmlformats.org/officeDocument/2006/relationships/notesSlide" Target="/ppt/notesSlides/notesSlide26.xml" Id="R44b07a7a977044a7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3786793c6a490b" /><Relationship Type="http://schemas.openxmlformats.org/officeDocument/2006/relationships/notesSlide" Target="/ppt/notesSlides/notesSlide27.xml" Id="Ref0ce568aa72446f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43af800fe1460c" /><Relationship Type="http://schemas.openxmlformats.org/officeDocument/2006/relationships/notesSlide" Target="/ppt/notesSlides/notesSlide28.xml" Id="R4e70e90c90374430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ab9c7791ec45dd" /><Relationship Type="http://schemas.openxmlformats.org/officeDocument/2006/relationships/notesSlide" Target="/ppt/notesSlides/notesSlide29.xml" Id="Rdb6b8c610e9d448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E0F1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56449FC-E881-4A0E-AFA8-58CFBE5E3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2DD4A7"/>
                </a:solidFill>
                <a:latin typeface="Courier New"/>
                <a:ea typeface="Courier New"/>
                <a:cs typeface="Courier New"/>
              </a:defRPr>
            </a:pPr>
            <a:r>
              <a:rPr sz="1350" b="1" i="0">
                <a:solidFill>
                  <a:srgbClr val="2DD4A7"/>
                </a:solidFill>
                <a:latin typeface="Courier New"/>
                <a:ea typeface="Courier New"/>
                <a:cs typeface="Courier New"/>
              </a:rPr>
              <a:t>TURNFLOW HOME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5B8807-BC51-407F-8F83-0ECC92AFD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8096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650" b="1" i="0">
                <a:solidFill>
                  <a:srgbClr val="F1F2F8"/>
                </a:solidFill>
                <a:latin typeface="Arial"/>
                <a:ea typeface="Arial"/>
                <a:cs typeface="Arial"/>
              </a:defRPr>
            </a:pPr>
            <a:r>
              <a:rPr sz="4650" b="1" i="0">
                <a:solidFill>
                  <a:srgbClr val="F1F2F8"/>
                </a:solidFill>
                <a:latin typeface="Arial"/>
                <a:ea typeface="Arial"/>
                <a:cs typeface="Arial"/>
              </a:rPr>
              <a:t>How the System Works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84E3D4-3070-4B15-B7A0-66ED517F4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9800"/>
            <a:ext cx="7715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 i="0">
                <a:solidFill>
                  <a:srgbClr val="A7ACC2"/>
                </a:solidFill>
                <a:latin typeface="Calibri"/>
                <a:ea typeface="Calibri"/>
                <a:cs typeface="Calibri"/>
              </a:defRPr>
            </a:pPr>
            <a:r>
              <a:rPr sz="1875" b="0" i="0">
                <a:solidFill>
                  <a:srgbClr val="A7ACC2"/>
                </a:solidFill>
                <a:latin typeface="Calibri"/>
                <a:ea typeface="Calibri"/>
                <a:cs typeface="Calibri"/>
              </a:rPr>
              <a:t>A visual guide to the product, user journeys, architecture, data, security, delivery, and the safest places to extend the code.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D01104-161E-4931-B1BB-6D91762DC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05250"/>
            <a:ext cx="2095500" cy="8001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1B1D2E"/>
          </a:solidFill>
          <a:ln xmlns:a="http://schemas.openxmlformats.org/drawingml/2006/main" w="19050">
            <a:solidFill>
              <a:srgbClr val="8B7C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569D88-89E2-489A-A36A-8D837D98F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00500"/>
            <a:ext cx="1866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8B7CFF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8B7CFF"/>
                </a:solidFill>
                <a:latin typeface="Arial"/>
                <a:ea typeface="Arial"/>
                <a:cs typeface="Arial"/>
              </a:rPr>
              <a:t>Home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D46956-F10F-4F3F-8CB7-B87A753C6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3905250"/>
            <a:ext cx="2095500" cy="8001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1B1D2E"/>
          </a:solidFill>
          <a:ln xmlns:a="http://schemas.openxmlformats.org/drawingml/2006/main" w="19050">
            <a:solidFill>
              <a:srgbClr val="2DD4A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C78DFE-D417-4A58-902E-D7CC4030A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4000500"/>
            <a:ext cx="1866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2DD4A7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2DD4A7"/>
                </a:solidFill>
                <a:latin typeface="Arial"/>
                <a:ea typeface="Arial"/>
                <a:cs typeface="Arial"/>
              </a:rPr>
              <a:t>Request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345089-2399-40FD-A7E8-C2BC2DB45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3905250"/>
            <a:ext cx="2095500" cy="8001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1B1D2E"/>
          </a:solidFill>
          <a:ln xmlns:a="http://schemas.openxmlformats.org/drawingml/2006/main" w="19050">
            <a:solidFill>
              <a:srgbClr val="F5B84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EC8ED24-2C5E-423E-9339-A706B6ACD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4000500"/>
            <a:ext cx="1866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F5B84B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F5B84B"/>
                </a:solidFill>
                <a:latin typeface="Arial"/>
                <a:ea typeface="Arial"/>
                <a:cs typeface="Arial"/>
              </a:rPr>
              <a:t>Shared work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9CE03E6-D828-46FB-9048-2D262E067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3905250"/>
            <a:ext cx="2095500" cy="8001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1B1D2E"/>
          </a:solidFill>
          <a:ln xmlns:a="http://schemas.openxmlformats.org/drawingml/2006/main" w="19050">
            <a:solidFill>
              <a:srgbClr val="FF6B8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9E95D5A-8B4E-4CC3-8F75-061DFC217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8225" y="4000500"/>
            <a:ext cx="1866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FF6B8A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FF6B8A"/>
                </a:solidFill>
                <a:latin typeface="Arial"/>
                <a:ea typeface="Arial"/>
                <a:cs typeface="Arial"/>
              </a:rPr>
              <a:t>Proof history</a:t>
            </a:r>
          </a:p>
        </p:txBody>
      </p:sp>
      <p:cxnSp>
        <p:nvCxnSpPr>
          <p:cNvPr id="30" name=""/>
          <p:cNvCxnSpPr>
            <a:stCxn xmlns:a="http://schemas.openxmlformats.org/drawingml/2006/main" id="4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2781300" y="4305300"/>
            <a:ext cx="5238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37A99"/>
            </a:solidFill>
            <a:prstDash val="solid"/>
            <a:tailEnd type="arrow" w="sm" len="sm"/>
          </a:ln>
        </p:spPr>
      </p:cxnSp>
      <p:cxnSp>
        <p:nvCxnSpPr>
          <p:cNvPr id="31" name=""/>
          <p:cNvCxnSpPr>
            <a:stCxn xmlns:a="http://schemas.openxmlformats.org/drawingml/2006/main" id="6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5400675" y="4305300"/>
            <a:ext cx="5238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37A99"/>
            </a:solidFill>
            <a:prstDash val="solid"/>
            <a:tailEnd type="arrow" w="sm" len="sm"/>
          </a:ln>
        </p:spPr>
      </p:cxnSp>
      <p:cxnSp>
        <p:nvCxnSpPr>
          <p:cNvPr id="32" name=""/>
          <p:cNvCxnSpPr>
            <a:stCxn xmlns:a="http://schemas.openxmlformats.org/drawingml/2006/main" id="8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8020050" y="4305300"/>
            <a:ext cx="5238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37A99"/>
            </a:solidFill>
            <a:prstDash val="solid"/>
            <a:tailEnd type="arrow" w="sm" len="sm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D4C703F-66AF-457A-8A5C-CF90A996A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3405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737A99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737A99"/>
                </a:solidFill>
                <a:latin typeface="Calibri"/>
                <a:ea typeface="Calibri"/>
                <a:cs typeface="Calibri"/>
              </a:rPr>
              <a:t>Repository state: 30 September 2026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B155F02-1691-4431-A881-0030B6B08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388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737A99"/>
                </a:solidFill>
                <a:latin typeface="Calibri"/>
                <a:ea typeface="Calibri"/>
                <a:cs typeface="Calibri"/>
              </a:defRPr>
            </a:pPr>
            <a:r>
              <a:rPr sz="1050" b="0" i="0">
                <a:solidFill>
                  <a:srgbClr val="737A99"/>
                </a:solidFill>
                <a:latin typeface="Calibri"/>
                <a:ea typeface="Calibri"/>
                <a:cs typeface="Calibri"/>
              </a:rPr>
              <a:t>Carlos Sanchez Gonzalez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C822B54-602A-4491-B94F-1D57286EB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38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737A99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737A99"/>
                </a:solidFill>
                <a:latin typeface="Arial"/>
                <a:ea typeface="Arial"/>
                <a:cs typeface="Arial"/>
              </a:rPr>
              <a:t>TURNFLOW HOME  •  SYSTEM GUIDE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5B59A61-0D18-463A-A66D-F0C7FE0AE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737A99"/>
                </a:solidFill>
                <a:latin typeface="Courier New"/>
                <a:ea typeface="Courier New"/>
                <a:cs typeface="Courier New"/>
              </a:defRPr>
            </a:pPr>
            <a:r>
              <a:rPr sz="900" b="0" i="0">
                <a:solidFill>
                  <a:srgbClr val="737A99"/>
                </a:solidFill>
                <a:latin typeface="Courier New"/>
                <a:ea typeface="Courier New"/>
                <a:cs typeface="Courier New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78113625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E0F1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B9E2844-18C0-43B3-BB8F-D06A3B391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4287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B7CFF">
              <a:alpha val="12549"/>
            </a:srgbClr>
          </a:solidFill>
          <a:ln xmlns:a="http://schemas.openxmlformats.org/drawingml/2006/main" w="9525">
            <a:solidFill>
              <a:srgbClr val="8B7C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92C078-4903-4BE3-9488-DF1B91A6F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8B7C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8B7CFF"/>
                </a:solidFill>
                <a:latin typeface="Arial"/>
                <a:ea typeface="Arial"/>
                <a:cs typeface="Arial"/>
              </a:rPr>
              <a:t>ORIENTATION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2B1C13-D8FD-4218-9379-03228B7D0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F1F2F8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F1F2F8"/>
                </a:solidFill>
                <a:latin typeface="Arial"/>
                <a:ea typeface="Arial"/>
                <a:cs typeface="Arial"/>
              </a:rPr>
              <a:t>Six lenses on one product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FB84BD-FCD3-4F96-9A17-2A97ED3A8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1">
                <a:solidFill>
                  <a:srgbClr val="A7ACC2"/>
                </a:solidFill>
                <a:latin typeface="Calibri"/>
                <a:ea typeface="Calibri"/>
                <a:cs typeface="Calibri"/>
              </a:defRPr>
            </a:pPr>
            <a:r>
              <a:rPr sz="1500" b="0" i="1">
                <a:solidFill>
                  <a:srgbClr val="A7ACC2"/>
                </a:solidFill>
                <a:latin typeface="Calibri"/>
                <a:ea typeface="Calibri"/>
                <a:cs typeface="Calibri"/>
              </a:rPr>
              <a:t>Each section answers a different question about TurnFlow Home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0B16C0-D0B6-45FA-9DF4-D3DFCC7A4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38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737A99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737A99"/>
                </a:solidFill>
                <a:latin typeface="Arial"/>
                <a:ea typeface="Arial"/>
                <a:cs typeface="Arial"/>
              </a:rPr>
              <a:t>TURNFLOW HOME  •  SYSTEM GUIDE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1F9050-4780-4606-91E5-52FBD2BA3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737A99"/>
                </a:solidFill>
                <a:latin typeface="Courier New"/>
                <a:ea typeface="Courier New"/>
                <a:cs typeface="Courier New"/>
              </a:defRPr>
            </a:pPr>
            <a:r>
              <a:rPr sz="900" b="0" i="0">
                <a:solidFill>
                  <a:srgbClr val="737A99"/>
                </a:solidFill>
                <a:latin typeface="Courier New"/>
                <a:ea typeface="Courier New"/>
                <a:cs typeface="Courier New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9B8FA8-3CFC-4912-9118-22B2C922E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47875"/>
            <a:ext cx="3333750" cy="1381125"/>
          </a:xfrm>
          <a:prstGeom xmlns:a="http://schemas.openxmlformats.org/drawingml/2006/main" prst="roundRect">
            <a:avLst>
              <a:gd name="adj" fmla="val 12414"/>
            </a:avLst>
          </a:prstGeom>
          <a:solidFill xmlns:a="http://schemas.openxmlformats.org/drawingml/2006/main">
            <a:srgbClr val="1B1D2E"/>
          </a:solidFill>
          <a:ln xmlns:a="http://schemas.openxmlformats.org/drawingml/2006/main" w="9525">
            <a:solidFill>
              <a:srgbClr val="3A3F5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DC5F32-9235-4775-B700-29864FFA8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383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7CFF"/>
          </a:solidFill>
          <a:ln xmlns:a="http://schemas.openxmlformats.org/drawingml/2006/main" w="9525">
            <a:solidFill>
              <a:srgbClr val="8B7C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E67F873-208B-4971-A6FE-BB1FB4604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3837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0E0F1A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0E0F1A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7CBEA67-FA19-437B-892C-9CFAA6731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238375"/>
            <a:ext cx="2333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8B7CFF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8B7CFF"/>
                </a:solidFill>
                <a:latin typeface="Arial"/>
                <a:ea typeface="Arial"/>
                <a:cs typeface="Arial"/>
              </a:rPr>
              <a:t>Product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D320F1D-8405-45A6-95FC-F55ED5B8C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638425"/>
            <a:ext cx="2286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A7ACC2"/>
                </a:solidFill>
                <a:latin typeface="Calibri"/>
                <a:ea typeface="Calibri"/>
                <a:cs typeface="Calibri"/>
              </a:defRPr>
            </a:pPr>
            <a:r>
              <a:rPr sz="1350" b="0" i="0">
                <a:solidFill>
                  <a:srgbClr val="A7ACC2"/>
                </a:solidFill>
                <a:latin typeface="Calibri"/>
                <a:ea typeface="Calibri"/>
                <a:cs typeface="Calibri"/>
              </a:rPr>
              <a:t>Why it exists and where it stops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57BF38F-F99B-4A15-8037-13E9B51A3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47875"/>
            <a:ext cx="3333750" cy="1381125"/>
          </a:xfrm>
          <a:prstGeom xmlns:a="http://schemas.openxmlformats.org/drawingml/2006/main" prst="roundRect">
            <a:avLst>
              <a:gd name="adj" fmla="val 12414"/>
            </a:avLst>
          </a:prstGeom>
          <a:solidFill xmlns:a="http://schemas.openxmlformats.org/drawingml/2006/main">
            <a:srgbClr val="1B1D2E"/>
          </a:solidFill>
          <a:ln xmlns:a="http://schemas.openxmlformats.org/drawingml/2006/main" w="9525">
            <a:solidFill>
              <a:srgbClr val="3A3F5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F6C5E98-53A1-43B0-BDB5-D6BDE772D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2383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D4A7"/>
          </a:solidFill>
          <a:ln xmlns:a="http://schemas.openxmlformats.org/drawingml/2006/main" w="9525">
            <a:solidFill>
              <a:srgbClr val="2DD4A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543B498-2222-46EF-BE6D-66F1CF838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23837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0E0F1A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0E0F1A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392BCBB-EBC1-4CEF-BD47-3CE4BDA16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238375"/>
            <a:ext cx="2333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2DD4A7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2DD4A7"/>
                </a:solidFill>
                <a:latin typeface="Arial"/>
                <a:ea typeface="Arial"/>
                <a:cs typeface="Arial"/>
              </a:rPr>
              <a:t>Experience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D6800AD-AC52-4228-A5C0-E5A78A020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638425"/>
            <a:ext cx="2286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A7ACC2"/>
                </a:solidFill>
                <a:latin typeface="Calibri"/>
                <a:ea typeface="Calibri"/>
                <a:cs typeface="Calibri"/>
              </a:defRPr>
            </a:pPr>
            <a:r>
              <a:rPr sz="1350" b="0" i="0">
                <a:solidFill>
                  <a:srgbClr val="A7ACC2"/>
                </a:solidFill>
                <a:latin typeface="Calibri"/>
                <a:ea typeface="Calibri"/>
                <a:cs typeface="Calibri"/>
              </a:rPr>
              <a:t>What each role sees and does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34BEA71-C6CD-4CE3-815F-8CEFA2610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047875"/>
            <a:ext cx="3333750" cy="1381125"/>
          </a:xfrm>
          <a:prstGeom xmlns:a="http://schemas.openxmlformats.org/drawingml/2006/main" prst="roundRect">
            <a:avLst>
              <a:gd name="adj" fmla="val 12414"/>
            </a:avLst>
          </a:prstGeom>
          <a:solidFill xmlns:a="http://schemas.openxmlformats.org/drawingml/2006/main">
            <a:srgbClr val="1B1D2E"/>
          </a:solidFill>
          <a:ln xmlns:a="http://schemas.openxmlformats.org/drawingml/2006/main" w="9525">
            <a:solidFill>
              <a:srgbClr val="3A3F5E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CC0AA68-484C-41E4-B293-73D9EEB83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2383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EC8F2"/>
          </a:solidFill>
          <a:ln xmlns:a="http://schemas.openxmlformats.org/drawingml/2006/main" w="9525">
            <a:solidFill>
              <a:srgbClr val="5EC8F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87DC506-81DD-4D38-84A1-E4C7E7740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23837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0E0F1A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0E0F1A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3FF93FE-30A2-46F2-AEAC-021F7B160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238375"/>
            <a:ext cx="2333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5EC8F2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5EC8F2"/>
                </a:solidFill>
                <a:latin typeface="Arial"/>
                <a:ea typeface="Arial"/>
                <a:cs typeface="Arial"/>
              </a:rPr>
              <a:t>Architecture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E3E433F-00EA-485F-8841-E7F6BAD6B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638425"/>
            <a:ext cx="2286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A7ACC2"/>
                </a:solidFill>
                <a:latin typeface="Calibri"/>
                <a:ea typeface="Calibri"/>
                <a:cs typeface="Calibri"/>
              </a:defRPr>
            </a:pPr>
            <a:r>
              <a:rPr sz="1350" b="0" i="0">
                <a:solidFill>
                  <a:srgbClr val="A7ACC2"/>
                </a:solidFill>
                <a:latin typeface="Calibri"/>
                <a:ea typeface="Calibri"/>
                <a:cs typeface="Calibri"/>
              </a:rPr>
              <a:t>How requests and data move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F42473A-3A52-491D-9E4A-E5C919701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0"/>
            <a:ext cx="3333750" cy="1381125"/>
          </a:xfrm>
          <a:prstGeom xmlns:a="http://schemas.openxmlformats.org/drawingml/2006/main" prst="roundRect">
            <a:avLst>
              <a:gd name="adj" fmla="val 12414"/>
            </a:avLst>
          </a:prstGeom>
          <a:solidFill xmlns:a="http://schemas.openxmlformats.org/drawingml/2006/main">
            <a:srgbClr val="1B1D2E"/>
          </a:solidFill>
          <a:ln xmlns:a="http://schemas.openxmlformats.org/drawingml/2006/main" w="9525">
            <a:solidFill>
              <a:srgbClr val="3A3F5E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5AC3616-F876-42F4-B55A-F889A9B92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005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B84B"/>
          </a:solidFill>
          <a:ln xmlns:a="http://schemas.openxmlformats.org/drawingml/2006/main" w="9525">
            <a:solidFill>
              <a:srgbClr val="F5B84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5890678-9B0A-4826-B761-97CFD47A2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005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0E0F1A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0E0F1A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3E00228-78D2-4DF7-ADD0-D9D45AAD1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000500"/>
            <a:ext cx="2333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F5B84B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F5B84B"/>
                </a:solidFill>
                <a:latin typeface="Arial"/>
                <a:ea typeface="Arial"/>
                <a:cs typeface="Arial"/>
              </a:rPr>
              <a:t>Code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144D5BA-EF48-4D2B-BC13-552617559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400550"/>
            <a:ext cx="2286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A7ACC2"/>
                </a:solidFill>
                <a:latin typeface="Calibri"/>
                <a:ea typeface="Calibri"/>
                <a:cs typeface="Calibri"/>
              </a:defRPr>
            </a:pPr>
            <a:r>
              <a:rPr sz="1350" b="0" i="0">
                <a:solidFill>
                  <a:srgbClr val="A7ACC2"/>
                </a:solidFill>
                <a:latin typeface="Calibri"/>
                <a:ea typeface="Calibri"/>
                <a:cs typeface="Calibri"/>
              </a:rPr>
              <a:t>Where responsibilities live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1CEF580-58B0-42E6-A17D-D9508E543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810000"/>
            <a:ext cx="3333750" cy="1381125"/>
          </a:xfrm>
          <a:prstGeom xmlns:a="http://schemas.openxmlformats.org/drawingml/2006/main" prst="roundRect">
            <a:avLst>
              <a:gd name="adj" fmla="val 12414"/>
            </a:avLst>
          </a:prstGeom>
          <a:solidFill xmlns:a="http://schemas.openxmlformats.org/drawingml/2006/main">
            <a:srgbClr val="1B1D2E"/>
          </a:solidFill>
          <a:ln xmlns:a="http://schemas.openxmlformats.org/drawingml/2006/main" w="9525">
            <a:solidFill>
              <a:srgbClr val="3A3F5E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2D14552-1582-4274-83AB-50E321509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0005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8A"/>
          </a:solidFill>
          <a:ln xmlns:a="http://schemas.openxmlformats.org/drawingml/2006/main" w="9525">
            <a:solidFill>
              <a:srgbClr val="FF6B8A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98CF023-6FE5-439F-956C-2D8BDFE99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0005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0E0F1A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0E0F1A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8B373FE-0DAD-4D25-A0DE-C82B22750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4000500"/>
            <a:ext cx="2333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FF6B8A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FF6B8A"/>
                </a:solidFill>
                <a:latin typeface="Arial"/>
                <a:ea typeface="Arial"/>
                <a:cs typeface="Arial"/>
              </a:rPr>
              <a:t>Trust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6187038-AF3C-46A0-96FB-C5850A203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4400550"/>
            <a:ext cx="2286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A7ACC2"/>
                </a:solidFill>
                <a:latin typeface="Calibri"/>
                <a:ea typeface="Calibri"/>
                <a:cs typeface="Calibri"/>
              </a:defRPr>
            </a:pPr>
            <a:r>
              <a:rPr sz="1350" b="0" i="0">
                <a:solidFill>
                  <a:srgbClr val="A7ACC2"/>
                </a:solidFill>
                <a:latin typeface="Calibri"/>
                <a:ea typeface="Calibri"/>
                <a:cs typeface="Calibri"/>
              </a:rPr>
              <a:t>How access and evidence stay scoped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0E5077A-BAF2-430F-B129-62501DB2B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810000"/>
            <a:ext cx="3333750" cy="1381125"/>
          </a:xfrm>
          <a:prstGeom xmlns:a="http://schemas.openxmlformats.org/drawingml/2006/main" prst="roundRect">
            <a:avLst>
              <a:gd name="adj" fmla="val 12414"/>
            </a:avLst>
          </a:prstGeom>
          <a:solidFill xmlns:a="http://schemas.openxmlformats.org/drawingml/2006/main">
            <a:srgbClr val="1B1D2E"/>
          </a:solidFill>
          <a:ln xmlns:a="http://schemas.openxmlformats.org/drawingml/2006/main" w="9525">
            <a:solidFill>
              <a:srgbClr val="3A3F5E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32109C9-951F-445B-A3FE-604537014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0005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7CFF"/>
          </a:solidFill>
          <a:ln xmlns:a="http://schemas.openxmlformats.org/drawingml/2006/main" w="9525">
            <a:solidFill>
              <a:srgbClr val="8B7CFF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25AE364-DD75-424C-9F07-A6AD03A4F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0005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0E0F1A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0E0F1A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CFD4F1E-E0B5-4C8F-8E3D-6F601E02F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4000500"/>
            <a:ext cx="2333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8B7CFF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8B7CFF"/>
                </a:solidFill>
                <a:latin typeface="Arial"/>
                <a:ea typeface="Arial"/>
                <a:cs typeface="Arial"/>
              </a:rPr>
              <a:t>Delivery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1A5C3A6-0745-457C-9946-BD179D274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4400550"/>
            <a:ext cx="2286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A7ACC2"/>
                </a:solidFill>
                <a:latin typeface="Calibri"/>
                <a:ea typeface="Calibri"/>
                <a:cs typeface="Calibri"/>
              </a:defRPr>
            </a:pPr>
            <a:r>
              <a:rPr sz="1350" b="0" i="0">
                <a:solidFill>
                  <a:srgbClr val="A7ACC2"/>
                </a:solidFill>
                <a:latin typeface="Calibri"/>
                <a:ea typeface="Calibri"/>
                <a:cs typeface="Calibri"/>
              </a:rPr>
              <a:t>How to verify, deploy, and extend</a:t>
            </a:r>
          </a:p>
        </p:txBody>
      </p:sp>
    </p:spTree>
    <p:extLst>
      <p:ext uri="{BB962C8B-B14F-4D97-AF65-F5344CB8AC3E}">
        <p14:creationId xmlns:p14="http://schemas.microsoft.com/office/powerpoint/2010/main" val="3002142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E0F1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57A7CDF-B63B-48A6-A20A-FF4BBFDC2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4287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B7CFF">
              <a:alpha val="12549"/>
            </a:srgbClr>
          </a:solidFill>
          <a:ln xmlns:a="http://schemas.openxmlformats.org/drawingml/2006/main" w="9525">
            <a:solidFill>
              <a:srgbClr val="8B7C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ADD8A9-46F1-4B68-8E51-478DDD47C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8B7C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8B7CFF"/>
                </a:solidFill>
                <a:latin typeface="Arial"/>
                <a:ea typeface="Arial"/>
                <a:cs typeface="Arial"/>
              </a:rPr>
              <a:t>ORIENTATION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3CC74F-19B3-4C54-B683-4D687C962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F1F2F8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F1F2F8"/>
                </a:solidFill>
                <a:latin typeface="Arial"/>
                <a:ea typeface="Arial"/>
                <a:cs typeface="Arial"/>
              </a:rPr>
              <a:t>TurnFlow Home in one picture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E025B2-33B5-443A-8D26-009069374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1">
                <a:solidFill>
                  <a:srgbClr val="A7ACC2"/>
                </a:solidFill>
                <a:latin typeface="Calibri"/>
                <a:ea typeface="Calibri"/>
                <a:cs typeface="Calibri"/>
              </a:defRPr>
            </a:pPr>
            <a:r>
              <a:rPr sz="1500" b="0" i="1">
                <a:solidFill>
                  <a:srgbClr val="A7ACC2"/>
                </a:solidFill>
                <a:latin typeface="Calibri"/>
                <a:ea typeface="Calibri"/>
                <a:cs typeface="Calibri"/>
              </a:rPr>
              <a:t>A homeowner-owned repair record with request-scoped help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9084BC-A31A-4701-B070-35975F139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38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737A99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737A99"/>
                </a:solidFill>
                <a:latin typeface="Arial"/>
                <a:ea typeface="Arial"/>
                <a:cs typeface="Arial"/>
              </a:rPr>
              <a:t>TURNFLOW HOME  •  SYSTEM GUIDE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3F965B-BBEE-4117-891A-676B5749A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737A99"/>
                </a:solidFill>
                <a:latin typeface="Courier New"/>
                <a:ea typeface="Courier New"/>
                <a:cs typeface="Courier New"/>
              </a:defRPr>
            </a:pPr>
            <a:r>
              <a:rPr sz="900" b="0" i="0">
                <a:solidFill>
                  <a:srgbClr val="737A99"/>
                </a:solidFill>
                <a:latin typeface="Courier New"/>
                <a:ea typeface="Courier New"/>
                <a:cs typeface="Courier New"/>
              </a:rPr>
              <a:t>03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CE189E-869B-4158-ACBE-85EF04520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57500"/>
            <a:ext cx="18097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1B1D2E"/>
          </a:solidFill>
          <a:ln xmlns:a="http://schemas.openxmlformats.org/drawingml/2006/main" w="19050">
            <a:solidFill>
              <a:srgbClr val="8B7C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7D5FF6-E919-432E-A166-DBDF61AC8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52750"/>
            <a:ext cx="1581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8B7CFF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8B7CFF"/>
                </a:solidFill>
                <a:latin typeface="Arial"/>
                <a:ea typeface="Arial"/>
                <a:cs typeface="Arial"/>
              </a:rPr>
              <a:t>Homeowner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A0C16A-1AFA-4A6E-8011-64A2BF3DC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57550"/>
            <a:ext cx="15811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A7ACC2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A7ACC2"/>
                </a:solidFill>
                <a:latin typeface="Calibri"/>
                <a:ea typeface="Calibri"/>
                <a:cs typeface="Calibri"/>
              </a:rPr>
              <a:t>Owns the durable record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FF8425D-331B-4B6C-BB77-B7474D5C5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2476500"/>
            <a:ext cx="2667000" cy="1714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1B1D2E"/>
          </a:solidFill>
          <a:ln xmlns:a="http://schemas.openxmlformats.org/drawingml/2006/main" w="19050">
            <a:solidFill>
              <a:srgbClr val="2DD4A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EF8539E-B24A-4A68-AB04-B6CE9CA75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925" y="2571750"/>
            <a:ext cx="2438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2DD4A7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2DD4A7"/>
                </a:solidFill>
                <a:latin typeface="Arial"/>
                <a:ea typeface="Arial"/>
                <a:cs typeface="Arial"/>
              </a:rPr>
              <a:t>Maintenance request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C5E3A64-57F4-4F15-9C96-5E134BF5B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925" y="2876550"/>
            <a:ext cx="24384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A7ACC2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A7ACC2"/>
                </a:solidFill>
                <a:latin typeface="Calibri"/>
                <a:ea typeface="Calibri"/>
                <a:cs typeface="Calibri"/>
              </a:rPr>
              <a:t>Scope, costs, proof, tasks, updates, decisions, closeout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F631AF2-DF92-4DC8-A40D-85AE97641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000250"/>
            <a:ext cx="23812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1B1D2E"/>
          </a:solidFill>
          <a:ln xmlns:a="http://schemas.openxmlformats.org/drawingml/2006/main" w="19050">
            <a:solidFill>
              <a:srgbClr val="F5B84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3B2F74B-C82B-4DFD-BF3A-0BDA2174A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7675" y="2095500"/>
            <a:ext cx="2152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F5B84B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F5B84B"/>
                </a:solidFill>
                <a:latin typeface="Arial"/>
                <a:ea typeface="Arial"/>
                <a:cs typeface="Arial"/>
              </a:rPr>
              <a:t>Vendor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D38A1F5-4879-4D34-A6AD-719EBDD0A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7675" y="2400300"/>
            <a:ext cx="21526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A7ACC2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A7ACC2"/>
                </a:solidFill>
                <a:latin typeface="Calibri"/>
                <a:ea typeface="Calibri"/>
                <a:cs typeface="Calibri"/>
              </a:rPr>
              <a:t>Assigned work and closeout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D9419D8-182B-4DA5-8E40-29CAAD175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3714750"/>
            <a:ext cx="23812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1B1D2E"/>
          </a:solidFill>
          <a:ln xmlns:a="http://schemas.openxmlformats.org/drawingml/2006/main" w="19050">
            <a:solidFill>
              <a:srgbClr val="5EC8F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B6E0CAB-71C3-4389-BDAD-A6DCF7D7E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7675" y="3810000"/>
            <a:ext cx="2152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5EC8F2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5EC8F2"/>
                </a:solidFill>
                <a:latin typeface="Arial"/>
                <a:ea typeface="Arial"/>
                <a:cs typeface="Arial"/>
              </a:rPr>
              <a:t>Collaborator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1A37020-C380-4616-8D16-E6CEA65D9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7675" y="4114800"/>
            <a:ext cx="21526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A7ACC2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A7ACC2"/>
                </a:solidFill>
                <a:latin typeface="Calibri"/>
                <a:ea typeface="Calibri"/>
                <a:cs typeface="Calibri"/>
              </a:rPr>
              <a:t>Shared context and updates</a:t>
            </a:r>
          </a:p>
        </p:txBody>
      </p:sp>
      <p:cxnSp>
        <p:nvCxnSpPr>
          <p:cNvPr id="44" name=""/>
          <p:cNvCxnSpPr>
            <a:stCxn xmlns:a="http://schemas.openxmlformats.org/drawingml/2006/main" id="7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2571750" y="3333750"/>
            <a:ext cx="12858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8B7CFF"/>
            </a:solidFill>
            <a:prstDash val="solid"/>
            <a:tailEnd type="arrow" w="sm" len="sm"/>
          </a:ln>
        </p:spPr>
      </p:cxnSp>
      <p:cxnSp>
        <p:nvCxnSpPr>
          <p:cNvPr id="45" name=""/>
          <p:cNvCxnSpPr>
            <a:stCxn xmlns:a="http://schemas.openxmlformats.org/drawingml/2006/main" id="10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 flipV="1">
            <a:off x="6524625" y="2476500"/>
            <a:ext cx="1428750" cy="8572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F5B84B"/>
            </a:solidFill>
            <a:prstDash val="solid"/>
            <a:tailEnd type="arrow" w="sm" len="sm"/>
          </a:ln>
        </p:spPr>
      </p:cxnSp>
      <p:cxnSp>
        <p:nvCxnSpPr>
          <p:cNvPr id="46" name=""/>
          <p:cNvCxnSpPr>
            <a:stCxn xmlns:a="http://schemas.openxmlformats.org/drawingml/2006/main" id="10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6524625" y="3333750"/>
            <a:ext cx="1428750" cy="8572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5EC8F2"/>
            </a:solidFill>
            <a:prstDash val="solid"/>
            <a:tailEnd type="arrow" w="sm" len="sm"/>
          </a:ln>
        </p:spPr>
      </p:cxn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8FC5B73-D5A9-4E3A-8502-5607952DD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4810125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2460"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FF6B8A"/>
                </a:solidFill>
                <a:latin typeface="Calibri"/>
                <a:ea typeface="Calibri"/>
                <a:cs typeface="Calibri"/>
              </a:defRPr>
            </a:pPr>
            <a:r>
              <a:rPr sz="1575" b="1" i="0">
                <a:solidFill>
                  <a:srgbClr val="FF6B8A"/>
                </a:solidFill>
                <a:latin typeface="Calibri"/>
                <a:ea typeface="Calibri"/>
                <a:cs typeface="Calibri"/>
              </a:rPr>
              <a:t>The owner shares one repair, not the whole account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F77CB4A-A488-4C8D-83EB-4D23141AE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5429250"/>
            <a:ext cx="20955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DD4A7">
              <a:alpha val="12549"/>
            </a:srgbClr>
          </a:solidFill>
          <a:ln xmlns:a="http://schemas.openxmlformats.org/drawingml/2006/main" w="9525">
            <a:solidFill>
              <a:srgbClr val="2DD4A7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1B5FF62-1657-424E-855C-C9AE2D771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5438775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2DD4A7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2DD4A7"/>
                </a:solidFill>
                <a:latin typeface="Arial"/>
                <a:ea typeface="Arial"/>
                <a:cs typeface="Arial"/>
              </a:rPr>
              <a:t>CURRENT MATURITY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175587A-7E2B-422F-95D6-E48E15F3F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84835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0" i="0">
                <a:solidFill>
                  <a:srgbClr val="F1F2F8"/>
                </a:solidFill>
                <a:latin typeface="Calibri"/>
                <a:ea typeface="Calibri"/>
                <a:cs typeface="Calibri"/>
              </a:defRPr>
            </a:pPr>
            <a:r>
              <a:rPr sz="1650" b="0" i="0">
                <a:solidFill>
                  <a:srgbClr val="F1F2F8"/>
                </a:solidFill>
                <a:latin typeface="Calibri"/>
                <a:ea typeface="Calibri"/>
                <a:cs typeface="Calibri"/>
              </a:rPr>
              <a:t>Launch-oriented SaaS proof of concept</a:t>
            </a:r>
          </a:p>
        </p:txBody>
      </p:sp>
    </p:spTree>
    <p:extLst>
      <p:ext uri="{BB962C8B-B14F-4D97-AF65-F5344CB8AC3E}">
        <p14:creationId xmlns:p14="http://schemas.microsoft.com/office/powerpoint/2010/main" val="191959992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E0F1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291934F-5A9C-4E3C-99B8-123087F51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4287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B7CFF">
              <a:alpha val="12549"/>
            </a:srgbClr>
          </a:solidFill>
          <a:ln xmlns:a="http://schemas.openxmlformats.org/drawingml/2006/main" w="9525">
            <a:solidFill>
              <a:srgbClr val="8B7C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7BC077-1B22-45A0-B6C8-9066787AD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8B7C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8B7CFF"/>
                </a:solidFill>
                <a:latin typeface="Arial"/>
                <a:ea typeface="Arial"/>
                <a:cs typeface="Arial"/>
              </a:rPr>
              <a:t>ORIENTATION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BFC89A-F872-4A30-965F-C4248B55A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F1F2F8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F1F2F8"/>
                </a:solidFill>
                <a:latin typeface="Arial"/>
                <a:ea typeface="Arial"/>
                <a:cs typeface="Arial"/>
              </a:rPr>
              <a:t>The product boundary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BCEE10-1507-487D-876D-DEADB0A64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1">
                <a:solidFill>
                  <a:srgbClr val="A7ACC2"/>
                </a:solidFill>
                <a:latin typeface="Calibri"/>
                <a:ea typeface="Calibri"/>
                <a:cs typeface="Calibri"/>
              </a:defRPr>
            </a:pPr>
            <a:r>
              <a:rPr sz="1500" b="0" i="1">
                <a:solidFill>
                  <a:srgbClr val="A7ACC2"/>
                </a:solidFill>
                <a:latin typeface="Calibri"/>
                <a:ea typeface="Calibri"/>
                <a:cs typeface="Calibri"/>
              </a:rPr>
              <a:t>TurnFlow keeps the home record coherent without becoming a property-management platform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83B721-BE13-4053-8274-B40461303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38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737A99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737A99"/>
                </a:solidFill>
                <a:latin typeface="Arial"/>
                <a:ea typeface="Arial"/>
                <a:cs typeface="Arial"/>
              </a:rPr>
              <a:t>TURNFLOW HOME  •  SYSTEM GUIDE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B160DF-3777-4A6F-A56C-31C6ABB1F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737A99"/>
                </a:solidFill>
                <a:latin typeface="Courier New"/>
                <a:ea typeface="Courier New"/>
                <a:cs typeface="Courier New"/>
              </a:defRPr>
            </a:pPr>
            <a:r>
              <a:rPr sz="900" b="0" i="0">
                <a:solidFill>
                  <a:srgbClr val="737A99"/>
                </a:solidFill>
                <a:latin typeface="Courier New"/>
                <a:ea typeface="Courier New"/>
                <a:cs typeface="Courier New"/>
              </a:rPr>
              <a:t>04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27785E-7C61-438E-B813-FB04CA9FC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0383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FF6B8A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FF6B8A"/>
                </a:solidFill>
                <a:latin typeface="Arial"/>
                <a:ea typeface="Arial"/>
                <a:cs typeface="Arial"/>
              </a:rPr>
              <a:t>Today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8EEB94-E34D-4D84-B3EF-42E77FCA8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6193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8A"/>
          </a:solidFill>
          <a:ln xmlns:a="http://schemas.openxmlformats.org/drawingml/2006/main" w="9525">
            <a:solidFill>
              <a:srgbClr val="FF6B8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F81C0FD-9733-4528-8BA2-9C9528E82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2571750"/>
            <a:ext cx="3981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F1F2F8"/>
                </a:solidFill>
                <a:latin typeface="Calibri"/>
                <a:ea typeface="Calibri"/>
                <a:cs typeface="Calibri"/>
              </a:defRPr>
            </a:pPr>
            <a:r>
              <a:rPr sz="1575" b="0" i="0">
                <a:solidFill>
                  <a:srgbClr val="F1F2F8"/>
                </a:solidFill>
                <a:latin typeface="Calibri"/>
                <a:ea typeface="Calibri"/>
                <a:cs typeface="Calibri"/>
              </a:rPr>
              <a:t>Photos live in text threads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583EEC7-EFC9-46F8-AA83-81DBA46AC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2289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8A"/>
          </a:solidFill>
          <a:ln xmlns:a="http://schemas.openxmlformats.org/drawingml/2006/main" w="9525">
            <a:solidFill>
              <a:srgbClr val="FF6B8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0A199B7-81C6-45AB-8BEB-4CCB8E832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3181350"/>
            <a:ext cx="3981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F1F2F8"/>
                </a:solidFill>
                <a:latin typeface="Calibri"/>
                <a:ea typeface="Calibri"/>
                <a:cs typeface="Calibri"/>
              </a:defRPr>
            </a:pPr>
            <a:r>
              <a:rPr sz="1575" b="0" i="0">
                <a:solidFill>
                  <a:srgbClr val="F1F2F8"/>
                </a:solidFill>
                <a:latin typeface="Calibri"/>
                <a:ea typeface="Calibri"/>
                <a:cs typeface="Calibri"/>
              </a:rPr>
              <a:t>Quotes and receipts separate from the repair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664D87D-8447-4B0C-B085-BAB707B5D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8385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8A"/>
          </a:solidFill>
          <a:ln xmlns:a="http://schemas.openxmlformats.org/drawingml/2006/main" w="9525">
            <a:solidFill>
              <a:srgbClr val="FF6B8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B4B9D3D-0217-41A1-9322-A8D90EF74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3790950"/>
            <a:ext cx="3981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F1F2F8"/>
                </a:solidFill>
                <a:latin typeface="Calibri"/>
                <a:ea typeface="Calibri"/>
                <a:cs typeface="Calibri"/>
              </a:defRPr>
            </a:pPr>
            <a:r>
              <a:rPr sz="1575" b="0" i="0">
                <a:solidFill>
                  <a:srgbClr val="F1F2F8"/>
                </a:solidFill>
                <a:latin typeface="Calibri"/>
                <a:ea typeface="Calibri"/>
                <a:cs typeface="Calibri"/>
              </a:rPr>
              <a:t>The next owner decision is easy to miss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9C18DA4-CEA9-4A19-A093-5D89C66F9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4481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8A"/>
          </a:solidFill>
          <a:ln xmlns:a="http://schemas.openxmlformats.org/drawingml/2006/main" w="9525">
            <a:solidFill>
              <a:srgbClr val="FF6B8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96C96BA-73C7-4A2A-A3F7-46F6D8BD8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4400550"/>
            <a:ext cx="3981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F1F2F8"/>
                </a:solidFill>
                <a:latin typeface="Calibri"/>
                <a:ea typeface="Calibri"/>
                <a:cs typeface="Calibri"/>
              </a:defRPr>
            </a:pPr>
            <a:r>
              <a:rPr sz="1575" b="0" i="0">
                <a:solidFill>
                  <a:srgbClr val="F1F2F8"/>
                </a:solidFill>
                <a:latin typeface="Calibri"/>
                <a:ea typeface="Calibri"/>
                <a:cs typeface="Calibri"/>
              </a:rPr>
              <a:t>Recurring care starts over from memory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790E9A9-169D-4E5C-AE64-6B4DC1282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2324100"/>
            <a:ext cx="1466850" cy="2286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DD4A7"/>
          </a:solidFill>
          <a:ln xmlns:a="http://schemas.openxmlformats.org/drawingml/2006/main" w="9525">
            <a:solidFill>
              <a:srgbClr val="2DD4A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CC4B521-1798-4BBB-9CEC-D10066A0E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5925" y="2628900"/>
            <a:ext cx="1219200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 i="0">
                <a:solidFill>
                  <a:srgbClr val="0E0F1A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0E0F1A"/>
                </a:solidFill>
                <a:latin typeface="Arial"/>
                <a:ea typeface="Arial"/>
                <a:cs typeface="Arial"/>
              </a:rPr>
              <a:t>ONE</a:t>
            </a:r>
          </a:p>
          <a:p xmlns:a="http://schemas.openxmlformats.org/drawingml/2006/main">
            <a:pPr algn="ctr">
              <a:defRPr sz="2025" b="1" i="0">
                <a:solidFill>
                  <a:srgbClr val="0E0F1A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0E0F1A"/>
                </a:solidFill>
                <a:latin typeface="Arial"/>
                <a:ea typeface="Arial"/>
                <a:cs typeface="Arial"/>
              </a:rPr>
              <a:t>HOME</a:t>
            </a:r>
          </a:p>
          <a:p xmlns:a="http://schemas.openxmlformats.org/drawingml/2006/main">
            <a:pPr algn="ctr">
              <a:defRPr sz="2025" b="1" i="0">
                <a:solidFill>
                  <a:srgbClr val="0E0F1A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0E0F1A"/>
                </a:solidFill>
                <a:latin typeface="Arial"/>
                <a:ea typeface="Arial"/>
                <a:cs typeface="Arial"/>
              </a:rPr>
              <a:t>RECORD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F852416-8917-4B1B-A6B5-BC24E6378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03835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2DD4A7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2DD4A7"/>
                </a:solidFill>
                <a:latin typeface="Arial"/>
                <a:ea typeface="Arial"/>
                <a:cs typeface="Arial"/>
              </a:rPr>
              <a:t>TurnFlow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650C0F9-D9B6-4F24-A6FA-53CF7FB16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6193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D4A7"/>
          </a:solidFill>
          <a:ln xmlns:a="http://schemas.openxmlformats.org/drawingml/2006/main" w="9525">
            <a:solidFill>
              <a:srgbClr val="2DD4A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46E2063-8247-40BC-8AED-1092B9968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2571750"/>
            <a:ext cx="34099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F1F2F8"/>
                </a:solidFill>
                <a:latin typeface="Calibri"/>
                <a:ea typeface="Calibri"/>
                <a:cs typeface="Calibri"/>
              </a:defRPr>
            </a:pPr>
            <a:r>
              <a:rPr sz="1575" b="0" i="0">
                <a:solidFill>
                  <a:srgbClr val="F1F2F8"/>
                </a:solidFill>
                <a:latin typeface="Calibri"/>
                <a:ea typeface="Calibri"/>
                <a:cs typeface="Calibri"/>
              </a:rPr>
              <a:t>One request ties decisions to evidence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EB76C74-745E-4DA0-8D97-4583F6BC9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32289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D4A7"/>
          </a:solidFill>
          <a:ln xmlns:a="http://schemas.openxmlformats.org/drawingml/2006/main" w="9525">
            <a:solidFill>
              <a:srgbClr val="2DD4A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D5EDCC2-78B2-4C9D-B465-8B195EF5D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3181350"/>
            <a:ext cx="34099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F1F2F8"/>
                </a:solidFill>
                <a:latin typeface="Calibri"/>
                <a:ea typeface="Calibri"/>
                <a:cs typeface="Calibri"/>
              </a:defRPr>
            </a:pPr>
            <a:r>
              <a:rPr sz="1575" b="0" i="0">
                <a:solidFill>
                  <a:srgbClr val="F1F2F8"/>
                </a:solidFill>
                <a:latin typeface="Calibri"/>
                <a:ea typeface="Calibri"/>
                <a:cs typeface="Calibri"/>
              </a:rPr>
              <a:t>Only invited helpers see shared work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5A5FCD6-0FC9-415D-B512-71B433AB4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38385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D4A7"/>
          </a:solidFill>
          <a:ln xmlns:a="http://schemas.openxmlformats.org/drawingml/2006/main" w="9525">
            <a:solidFill>
              <a:srgbClr val="2DD4A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43F830A-E1CB-4469-9934-EE886FF3D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3790950"/>
            <a:ext cx="34099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F1F2F8"/>
                </a:solidFill>
                <a:latin typeface="Calibri"/>
                <a:ea typeface="Calibri"/>
                <a:cs typeface="Calibri"/>
              </a:defRPr>
            </a:pPr>
            <a:r>
              <a:rPr sz="1575" b="0" i="0">
                <a:solidFill>
                  <a:srgbClr val="F1F2F8"/>
                </a:solidFill>
                <a:latin typeface="Calibri"/>
                <a:ea typeface="Calibri"/>
                <a:cs typeface="Calibri"/>
              </a:rPr>
              <a:t>Closeout preserves proof and final cost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9F6B47F-EF91-4F3B-B2F7-C2D28019D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44481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D4A7"/>
          </a:solidFill>
          <a:ln xmlns:a="http://schemas.openxmlformats.org/drawingml/2006/main" w="9525">
            <a:solidFill>
              <a:srgbClr val="2DD4A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BE02421-D063-4C6D-AD1C-CFB58367B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4400550"/>
            <a:ext cx="34099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F1F2F8"/>
                </a:solidFill>
                <a:latin typeface="Calibri"/>
                <a:ea typeface="Calibri"/>
                <a:cs typeface="Calibri"/>
              </a:defRPr>
            </a:pPr>
            <a:r>
              <a:rPr sz="1575" b="0" i="0">
                <a:solidFill>
                  <a:srgbClr val="F1F2F8"/>
                </a:solidFill>
                <a:latin typeface="Calibri"/>
                <a:ea typeface="Calibri"/>
                <a:cs typeface="Calibri"/>
              </a:rPr>
              <a:t>Reminders extend the record into prevention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2895937-53D7-4F5E-B9FE-7844E078C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5810250"/>
            <a:ext cx="9239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F5B84B"/>
                </a:solidFill>
                <a:latin typeface="Calibri"/>
                <a:ea typeface="Calibri"/>
                <a:cs typeface="Calibri"/>
              </a:defRPr>
            </a:pPr>
            <a:r>
              <a:rPr sz="1425" b="1" i="0">
                <a:solidFill>
                  <a:srgbClr val="F5B84B"/>
                </a:solidFill>
                <a:latin typeface="Calibri"/>
                <a:ea typeface="Calibri"/>
                <a:cs typeface="Calibri"/>
              </a:rPr>
              <a:t>Not in scope: dispatch operations, payroll, open vendor marketplace, or payment processing</a:t>
            </a:r>
          </a:p>
        </p:txBody>
      </p:sp>
    </p:spTree>
    <p:extLst>
      <p:ext uri="{BB962C8B-B14F-4D97-AF65-F5344CB8AC3E}">
        <p14:creationId xmlns:p14="http://schemas.microsoft.com/office/powerpoint/2010/main" val="68896248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E0F1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E7B99CE-19F7-4994-9B62-1938E6B54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4287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DD4A7">
              <a:alpha val="12549"/>
            </a:srgbClr>
          </a:solidFill>
          <a:ln xmlns:a="http://schemas.openxmlformats.org/drawingml/2006/main" w="9525">
            <a:solidFill>
              <a:srgbClr val="2DD4A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733399-0F70-4A09-8D04-AF2AA36F3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2DD4A7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2DD4A7"/>
                </a:solidFill>
                <a:latin typeface="Arial"/>
                <a:ea typeface="Arial"/>
                <a:cs typeface="Arial"/>
              </a:rPr>
              <a:t>EXPERIENCE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21B41E-1528-4DFD-BC02-9097CCF94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F1F2F8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F1F2F8"/>
                </a:solidFill>
                <a:latin typeface="Arial"/>
                <a:ea typeface="Arial"/>
                <a:cs typeface="Arial"/>
              </a:rPr>
              <a:t>Roles and data reach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4E8C45-65F6-4786-849D-B32062CE9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1">
                <a:solidFill>
                  <a:srgbClr val="A7ACC2"/>
                </a:solidFill>
                <a:latin typeface="Calibri"/>
                <a:ea typeface="Calibri"/>
                <a:cs typeface="Calibri"/>
              </a:defRPr>
            </a:pPr>
            <a:r>
              <a:rPr sz="1500" b="0" i="1">
                <a:solidFill>
                  <a:srgbClr val="A7ACC2"/>
                </a:solidFill>
                <a:latin typeface="Calibri"/>
                <a:ea typeface="Calibri"/>
                <a:cs typeface="Calibri"/>
              </a:rPr>
              <a:t>The owner controls the record. Vendor and collaborator access stays request-scoped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DFECAA-3DCA-42A3-9E1E-FE3D2720D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38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737A99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737A99"/>
                </a:solidFill>
                <a:latin typeface="Arial"/>
                <a:ea typeface="Arial"/>
                <a:cs typeface="Arial"/>
              </a:rPr>
              <a:t>TURNFLOW HOME  •  SYSTEM GUIDE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B3CB14-0F70-498A-8238-A1CB6F85B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737A99"/>
                </a:solidFill>
                <a:latin typeface="Courier New"/>
                <a:ea typeface="Courier New"/>
                <a:cs typeface="Courier New"/>
              </a:defRPr>
            </a:pPr>
            <a:r>
              <a:rPr sz="900" b="0" i="0">
                <a:solidFill>
                  <a:srgbClr val="737A99"/>
                </a:solidFill>
                <a:latin typeface="Courier New"/>
                <a:ea typeface="Courier New"/>
                <a:cs typeface="Courier New"/>
              </a:rPr>
              <a:t>05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0A7FC3-26CF-4521-8D92-6A4340487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43125"/>
            <a:ext cx="3238500" cy="31432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1B1D2E"/>
          </a:solidFill>
          <a:ln xmlns:a="http://schemas.openxmlformats.org/drawingml/2006/main" w="19050">
            <a:solidFill>
              <a:srgbClr val="8B7C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77CD48-083F-402C-9C70-C23E50420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2457450"/>
            <a:ext cx="1104900" cy="1104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7CFF">
              <a:alpha val="18824"/>
            </a:srgbClr>
          </a:solidFill>
          <a:ln xmlns:a="http://schemas.openxmlformats.org/drawingml/2006/main" w="19050">
            <a:solidFill>
              <a:srgbClr val="8B7C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3C6A70A-0CDD-4B7F-A634-C31D89330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2457450"/>
            <a:ext cx="11049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150" b="1" i="0">
                <a:solidFill>
                  <a:srgbClr val="8B7CFF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8B7CFF"/>
                </a:solidFill>
                <a:latin typeface="Arial"/>
                <a:ea typeface="Arial"/>
                <a:cs typeface="Arial"/>
              </a:rPr>
              <a:t>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4A50D2-386A-4A06-B366-16823F6EA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29050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 i="0">
                <a:solidFill>
                  <a:srgbClr val="8B7CFF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8B7CFF"/>
                </a:solidFill>
                <a:latin typeface="Arial"/>
                <a:ea typeface="Arial"/>
                <a:cs typeface="Arial"/>
              </a:rPr>
              <a:t>OWNER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347FD55-FE29-4D31-AB6D-2E8FEFFF7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24350"/>
            <a:ext cx="2667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 i="0">
                <a:solidFill>
                  <a:srgbClr val="A7ACC2"/>
                </a:solidFill>
                <a:latin typeface="Calibri"/>
                <a:ea typeface="Calibri"/>
                <a:cs typeface="Calibri"/>
              </a:defRPr>
            </a:pPr>
            <a:r>
              <a:rPr sz="1350" b="0" i="0">
                <a:solidFill>
                  <a:srgbClr val="A7ACC2"/>
                </a:solidFill>
                <a:latin typeface="Calibri"/>
                <a:ea typeface="Calibri"/>
                <a:cs typeface="Calibri"/>
              </a:rPr>
              <a:t>Properties, all owned requests, vault, reminders, sharing, backups, notifications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357BA4E-7EDB-43CA-B326-566B55176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143125"/>
            <a:ext cx="3238500" cy="31432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1B1D2E"/>
          </a:solidFill>
          <a:ln xmlns:a="http://schemas.openxmlformats.org/drawingml/2006/main" w="19050">
            <a:solidFill>
              <a:srgbClr val="F5B84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437A6A1-C4F9-47C6-B3DB-A692B48A1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0675" y="2457450"/>
            <a:ext cx="1104900" cy="1104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B84B">
              <a:alpha val="18824"/>
            </a:srgbClr>
          </a:solidFill>
          <a:ln xmlns:a="http://schemas.openxmlformats.org/drawingml/2006/main" w="19050">
            <a:solidFill>
              <a:srgbClr val="F5B84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CC83CAD-DFC3-4CC0-AABC-DCC58159D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0675" y="2457450"/>
            <a:ext cx="11049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150" b="1" i="0">
                <a:solidFill>
                  <a:srgbClr val="F5B84B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F5B84B"/>
                </a:solidFill>
                <a:latin typeface="Arial"/>
                <a:ea typeface="Arial"/>
                <a:cs typeface="Arial"/>
              </a:rPr>
              <a:t>V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C4E18B9-1DF4-465B-AFCE-4B506421B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829050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 i="0">
                <a:solidFill>
                  <a:srgbClr val="F5B84B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F5B84B"/>
                </a:solidFill>
                <a:latin typeface="Arial"/>
                <a:ea typeface="Arial"/>
                <a:cs typeface="Arial"/>
              </a:rPr>
              <a:t>VENDOR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EA49014-F2E4-444D-AE4E-FA536108C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4324350"/>
            <a:ext cx="2667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 i="0">
                <a:solidFill>
                  <a:srgbClr val="A7ACC2"/>
                </a:solidFill>
                <a:latin typeface="Calibri"/>
                <a:ea typeface="Calibri"/>
                <a:cs typeface="Calibri"/>
              </a:defRPr>
            </a:pPr>
            <a:r>
              <a:rPr sz="1350" b="0" i="0">
                <a:solidFill>
                  <a:srgbClr val="A7ACC2"/>
                </a:solidFill>
                <a:latin typeface="Calibri"/>
                <a:ea typeface="Calibri"/>
                <a:cs typeface="Calibri"/>
              </a:rPr>
              <a:t>Assigned request, bid, tasks, proof, work sessions, closeout, read-only billing context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E22F2C8-2618-48BB-BDAE-8B1CE0290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143125"/>
            <a:ext cx="3238500" cy="31432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1B1D2E"/>
          </a:solidFill>
          <a:ln xmlns:a="http://schemas.openxmlformats.org/drawingml/2006/main" w="19050">
            <a:solidFill>
              <a:srgbClr val="5EC8F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7B6D5F6-3ECC-43AC-8DE4-D29B1186A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457450"/>
            <a:ext cx="1104900" cy="1104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EC8F2">
              <a:alpha val="18824"/>
            </a:srgbClr>
          </a:solidFill>
          <a:ln xmlns:a="http://schemas.openxmlformats.org/drawingml/2006/main" w="19050">
            <a:solidFill>
              <a:srgbClr val="5EC8F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0C3DFBB-BA48-4A3A-9B77-58F9F2C54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457450"/>
            <a:ext cx="11049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150" b="1" i="0">
                <a:solidFill>
                  <a:srgbClr val="5EC8F2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5EC8F2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99DC951-5B90-45E6-8626-0D73CBE11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829050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 i="0">
                <a:solidFill>
                  <a:srgbClr val="5EC8F2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5EC8F2"/>
                </a:solidFill>
                <a:latin typeface="Arial"/>
                <a:ea typeface="Arial"/>
                <a:cs typeface="Arial"/>
              </a:rPr>
              <a:t>COLLABORATOR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0020D7C-8E93-4A02-AE2E-EFDDC60AA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324350"/>
            <a:ext cx="2667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 i="0">
                <a:solidFill>
                  <a:srgbClr val="A7ACC2"/>
                </a:solidFill>
                <a:latin typeface="Calibri"/>
                <a:ea typeface="Calibri"/>
                <a:cs typeface="Calibri"/>
              </a:defRPr>
            </a:pPr>
            <a:r>
              <a:rPr sz="1350" b="0" i="0">
                <a:solidFill>
                  <a:srgbClr val="A7ACC2"/>
                </a:solidFill>
                <a:latin typeface="Calibri"/>
                <a:ea typeface="Calibri"/>
                <a:cs typeface="Calibri"/>
              </a:rPr>
              <a:t>Shared request context and updates. No unrelated owner records</a:t>
            </a:r>
          </a:p>
        </p:txBody>
      </p:sp>
    </p:spTree>
    <p:extLst>
      <p:ext uri="{BB962C8B-B14F-4D97-AF65-F5344CB8AC3E}">
        <p14:creationId xmlns:p14="http://schemas.microsoft.com/office/powerpoint/2010/main" val="58497560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E0F1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2F3F869-A93D-41BB-A3AA-9F7089D21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4287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DD4A7">
              <a:alpha val="12549"/>
            </a:srgbClr>
          </a:solidFill>
          <a:ln xmlns:a="http://schemas.openxmlformats.org/drawingml/2006/main" w="9525">
            <a:solidFill>
              <a:srgbClr val="2DD4A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4FA39A-7A04-4F50-9D72-C505AD191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2DD4A7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2DD4A7"/>
                </a:solidFill>
                <a:latin typeface="Arial"/>
                <a:ea typeface="Arial"/>
                <a:cs typeface="Arial"/>
              </a:rPr>
              <a:t>EXPERIENCE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951CF8-38AC-4024-B2FB-2F7068885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F1F2F8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F1F2F8"/>
                </a:solidFill>
                <a:latin typeface="Arial"/>
                <a:ea typeface="Arial"/>
                <a:cs typeface="Arial"/>
              </a:rPr>
              <a:t>Owner journey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9783A9-73A1-4923-AC84-CF50B686E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1">
                <a:solidFill>
                  <a:srgbClr val="A7ACC2"/>
                </a:solidFill>
                <a:latin typeface="Calibri"/>
                <a:ea typeface="Calibri"/>
                <a:cs typeface="Calibri"/>
              </a:defRPr>
            </a:pPr>
            <a:r>
              <a:rPr sz="1500" b="0" i="1">
                <a:solidFill>
                  <a:srgbClr val="A7ACC2"/>
                </a:solidFill>
                <a:latin typeface="Calibri"/>
                <a:ea typeface="Calibri"/>
                <a:cs typeface="Calibri"/>
              </a:rPr>
              <a:t>Setup turns an empty account into a repair record that can survive the next handoff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255956-53B5-43EB-8EB6-A391B7937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38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737A99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737A99"/>
                </a:solidFill>
                <a:latin typeface="Arial"/>
                <a:ea typeface="Arial"/>
                <a:cs typeface="Arial"/>
              </a:rPr>
              <a:t>TURNFLOW HOME  •  SYSTEM GUIDE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50A2A5-032F-4D7C-A0E7-395F3A97B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737A99"/>
                </a:solidFill>
                <a:latin typeface="Courier New"/>
                <a:ea typeface="Courier New"/>
                <a:cs typeface="Courier New"/>
              </a:defRPr>
            </a:pPr>
            <a:r>
              <a:rPr sz="900" b="0" i="0">
                <a:solidFill>
                  <a:srgbClr val="737A99"/>
                </a:solidFill>
                <a:latin typeface="Courier New"/>
                <a:ea typeface="Courier New"/>
                <a:cs typeface="Courier New"/>
              </a:rPr>
              <a:t>06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AF59F2-3420-40C1-B197-4A9DAD90A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90725"/>
            <a:ext cx="4686300" cy="3781425"/>
          </a:xfrm>
          <a:prstGeom xmlns:a="http://schemas.openxmlformats.org/drawingml/2006/main" prst="roundRect">
            <a:avLst>
              <a:gd name="adj" fmla="val 4030"/>
            </a:avLst>
          </a:prstGeom>
          <a:solidFill xmlns:a="http://schemas.openxmlformats.org/drawingml/2006/main">
            <a:srgbClr val="262A42"/>
          </a:solidFill>
          <a:ln xmlns:a="http://schemas.openxmlformats.org/drawingml/2006/main" w="14288">
            <a:solidFill>
              <a:srgbClr val="2DD4A7"/>
            </a:solidFill>
            <a:prstDash val="solid"/>
          </a:ln>
        </p:spPr>
      </p:sp>
      <p:pic>
        <p:nvPicPr>
          <p:cNvPr id="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0267121bc0e4f66"/>
          <a:stretch xmlns:a="http://schemas.openxmlformats.org/drawingml/2006/main"/>
        </p:blipFill>
        <p:spPr>
          <a:xfrm xmlns:a="http://schemas.openxmlformats.org/drawingml/2006/main">
            <a:off x="666750" y="2217738"/>
            <a:ext cx="4572000" cy="3327400"/>
          </a:xfrm>
          <a:prstGeom xmlns:a="http://schemas.openxmlformats.org/drawingml/2006/main" prst="roundRect">
            <a:avLst>
              <a:gd name="adj" fmla="val 3117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B5CF359-EC65-4FED-9B60-DEDADDB30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095500"/>
            <a:ext cx="4476750" cy="552450"/>
          </a:xfrm>
          <a:prstGeom xmlns:a="http://schemas.openxmlformats.org/drawingml/2006/main" prst="roundRect">
            <a:avLst>
              <a:gd name="adj" fmla="val 24138"/>
            </a:avLst>
          </a:prstGeom>
          <a:solidFill xmlns:a="http://schemas.openxmlformats.org/drawingml/2006/main">
            <a:srgbClr val="1B1D2E"/>
          </a:solidFill>
          <a:ln xmlns:a="http://schemas.openxmlformats.org/drawingml/2006/main" w="9525">
            <a:solidFill>
              <a:srgbClr val="8B7C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38A3297-6051-4096-BE9F-7A1D54D09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1812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7CFF"/>
          </a:solidFill>
          <a:ln xmlns:a="http://schemas.openxmlformats.org/drawingml/2006/main" w="9525">
            <a:solidFill>
              <a:srgbClr val="8B7C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97B4AC-76FB-4826-BC2A-F852CBBAA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181225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0E0F1A"/>
                </a:solidFill>
                <a:latin typeface="Calibri"/>
                <a:ea typeface="Calibri"/>
                <a:cs typeface="Calibri"/>
              </a:defRPr>
            </a:pPr>
            <a:r>
              <a:rPr sz="1350" b="1" i="0">
                <a:solidFill>
                  <a:srgbClr val="0E0F1A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449CAFC-3CC4-43E9-A2AE-FB844DFEE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220980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F1F2F8"/>
                </a:solidFill>
                <a:latin typeface="Calibri"/>
                <a:ea typeface="Calibri"/>
                <a:cs typeface="Calibri"/>
              </a:defRPr>
            </a:pPr>
            <a:r>
              <a:rPr sz="1650" b="1" i="0">
                <a:solidFill>
                  <a:srgbClr val="F1F2F8"/>
                </a:solidFill>
                <a:latin typeface="Calibri"/>
                <a:ea typeface="Calibri"/>
                <a:cs typeface="Calibri"/>
              </a:rPr>
              <a:t>Add the home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97796BC-9F2D-408D-BAEB-5A90741DC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838450"/>
            <a:ext cx="4476750" cy="552450"/>
          </a:xfrm>
          <a:prstGeom xmlns:a="http://schemas.openxmlformats.org/drawingml/2006/main" prst="roundRect">
            <a:avLst>
              <a:gd name="adj" fmla="val 24138"/>
            </a:avLst>
          </a:prstGeom>
          <a:solidFill xmlns:a="http://schemas.openxmlformats.org/drawingml/2006/main">
            <a:srgbClr val="1B1D2E"/>
          </a:solidFill>
          <a:ln xmlns:a="http://schemas.openxmlformats.org/drawingml/2006/main" w="9525">
            <a:solidFill>
              <a:srgbClr val="2DD4A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F550B08-9360-4602-ABBD-6836A35C5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92417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D4A7"/>
          </a:solidFill>
          <a:ln xmlns:a="http://schemas.openxmlformats.org/drawingml/2006/main" w="9525">
            <a:solidFill>
              <a:srgbClr val="2DD4A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3B32882-2AF6-4809-8844-C856546A0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924175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0E0F1A"/>
                </a:solidFill>
                <a:latin typeface="Calibri"/>
                <a:ea typeface="Calibri"/>
                <a:cs typeface="Calibri"/>
              </a:defRPr>
            </a:pPr>
            <a:r>
              <a:rPr sz="1350" b="1" i="0">
                <a:solidFill>
                  <a:srgbClr val="0E0F1A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1C854C8-CAB0-4C4A-B6D4-C951553CA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295275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F1F2F8"/>
                </a:solidFill>
                <a:latin typeface="Calibri"/>
                <a:ea typeface="Calibri"/>
                <a:cs typeface="Calibri"/>
              </a:defRPr>
            </a:pPr>
            <a:r>
              <a:rPr sz="1650" b="1" i="0">
                <a:solidFill>
                  <a:srgbClr val="F1F2F8"/>
                </a:solidFill>
                <a:latin typeface="Calibri"/>
                <a:ea typeface="Calibri"/>
                <a:cs typeface="Calibri"/>
              </a:rPr>
              <a:t>Capture the issue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155EC1E-8DC9-4C7C-9514-054D41E2F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581400"/>
            <a:ext cx="4476750" cy="552450"/>
          </a:xfrm>
          <a:prstGeom xmlns:a="http://schemas.openxmlformats.org/drawingml/2006/main" prst="roundRect">
            <a:avLst>
              <a:gd name="adj" fmla="val 24138"/>
            </a:avLst>
          </a:prstGeom>
          <a:solidFill xmlns:a="http://schemas.openxmlformats.org/drawingml/2006/main">
            <a:srgbClr val="1B1D2E"/>
          </a:solidFill>
          <a:ln xmlns:a="http://schemas.openxmlformats.org/drawingml/2006/main" w="9525">
            <a:solidFill>
              <a:srgbClr val="5EC8F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D2A3F4E-E75E-4739-B7E4-CD12D3610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6671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EC8F2"/>
          </a:solidFill>
          <a:ln xmlns:a="http://schemas.openxmlformats.org/drawingml/2006/main" w="9525">
            <a:solidFill>
              <a:srgbClr val="5EC8F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48CBFD8-7D3A-489C-8D53-94ED0CCEA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667125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0E0F1A"/>
                </a:solidFill>
                <a:latin typeface="Calibri"/>
                <a:ea typeface="Calibri"/>
                <a:cs typeface="Calibri"/>
              </a:defRPr>
            </a:pPr>
            <a:r>
              <a:rPr sz="1350" b="1" i="0">
                <a:solidFill>
                  <a:srgbClr val="0E0F1A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BADE77F-DB0E-48EA-9134-77C248A0F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369570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F1F2F8"/>
                </a:solidFill>
                <a:latin typeface="Calibri"/>
                <a:ea typeface="Calibri"/>
                <a:cs typeface="Calibri"/>
              </a:defRPr>
            </a:pPr>
            <a:r>
              <a:rPr sz="1650" b="1" i="0">
                <a:solidFill>
                  <a:srgbClr val="F1F2F8"/>
                </a:solidFill>
                <a:latin typeface="Calibri"/>
                <a:ea typeface="Calibri"/>
                <a:cs typeface="Calibri"/>
              </a:rPr>
              <a:t>Attach proof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87C07E2-200D-4533-B8D7-7E5B47121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24350"/>
            <a:ext cx="4476750" cy="552450"/>
          </a:xfrm>
          <a:prstGeom xmlns:a="http://schemas.openxmlformats.org/drawingml/2006/main" prst="roundRect">
            <a:avLst>
              <a:gd name="adj" fmla="val 24138"/>
            </a:avLst>
          </a:prstGeom>
          <a:solidFill xmlns:a="http://schemas.openxmlformats.org/drawingml/2006/main">
            <a:srgbClr val="1B1D2E"/>
          </a:solidFill>
          <a:ln xmlns:a="http://schemas.openxmlformats.org/drawingml/2006/main" w="9525">
            <a:solidFill>
              <a:srgbClr val="F5B84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52489A0-3530-4690-9753-EAC7E9770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41007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B84B"/>
          </a:solidFill>
          <a:ln xmlns:a="http://schemas.openxmlformats.org/drawingml/2006/main" w="9525">
            <a:solidFill>
              <a:srgbClr val="F5B84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31479E8-4692-4585-A0A0-27C5A81F5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410075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0E0F1A"/>
                </a:solidFill>
                <a:latin typeface="Calibri"/>
                <a:ea typeface="Calibri"/>
                <a:cs typeface="Calibri"/>
              </a:defRPr>
            </a:pPr>
            <a:r>
              <a:rPr sz="1350" b="1" i="0">
                <a:solidFill>
                  <a:srgbClr val="0E0F1A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7E129AF-BB87-4415-9D4B-161208DB9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443865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F1F2F8"/>
                </a:solidFill>
                <a:latin typeface="Calibri"/>
                <a:ea typeface="Calibri"/>
                <a:cs typeface="Calibri"/>
              </a:defRPr>
            </a:pPr>
            <a:r>
              <a:rPr sz="1650" b="1" i="0">
                <a:solidFill>
                  <a:srgbClr val="F1F2F8"/>
                </a:solidFill>
                <a:latin typeface="Calibri"/>
                <a:ea typeface="Calibri"/>
                <a:cs typeface="Calibri"/>
              </a:rPr>
              <a:t>Share one request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58C9591-1CCC-4F26-B2A2-C53094D21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067300"/>
            <a:ext cx="4476750" cy="552450"/>
          </a:xfrm>
          <a:prstGeom xmlns:a="http://schemas.openxmlformats.org/drawingml/2006/main" prst="roundRect">
            <a:avLst>
              <a:gd name="adj" fmla="val 24138"/>
            </a:avLst>
          </a:prstGeom>
          <a:solidFill xmlns:a="http://schemas.openxmlformats.org/drawingml/2006/main">
            <a:srgbClr val="1B1D2E"/>
          </a:solidFill>
          <a:ln xmlns:a="http://schemas.openxmlformats.org/drawingml/2006/main" w="9525">
            <a:solidFill>
              <a:srgbClr val="FF6B8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2B93511-CC57-465D-8AE2-B03DF3DE7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51530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8A"/>
          </a:solidFill>
          <a:ln xmlns:a="http://schemas.openxmlformats.org/drawingml/2006/main" w="9525">
            <a:solidFill>
              <a:srgbClr val="FF6B8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4942F6D-7443-4B4C-98F9-80ACE7271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5153025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0E0F1A"/>
                </a:solidFill>
                <a:latin typeface="Calibri"/>
                <a:ea typeface="Calibri"/>
                <a:cs typeface="Calibri"/>
              </a:defRPr>
            </a:pPr>
            <a:r>
              <a:rPr sz="1350" b="1" i="0">
                <a:solidFill>
                  <a:srgbClr val="0E0F1A"/>
                </a:solidFill>
                <a:latin typeface="Calibri"/>
                <a:ea typeface="Calibri"/>
                <a:cs typeface="Calibri"/>
              </a:rPr>
              <a:t>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35A8B36-C581-44CD-9614-2614CC196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518160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F1F2F8"/>
                </a:solidFill>
                <a:latin typeface="Calibri"/>
                <a:ea typeface="Calibri"/>
                <a:cs typeface="Calibri"/>
              </a:defRPr>
            </a:pPr>
            <a:r>
              <a:rPr sz="1650" b="1" i="0">
                <a:solidFill>
                  <a:srgbClr val="F1F2F8"/>
                </a:solidFill>
                <a:latin typeface="Calibri"/>
                <a:ea typeface="Calibri"/>
                <a:cs typeface="Calibri"/>
              </a:rPr>
              <a:t>Close and preserve</a:t>
            </a:r>
          </a:p>
        </p:txBody>
      </p:sp>
    </p:spTree>
    <p:extLst>
      <p:ext uri="{BB962C8B-B14F-4D97-AF65-F5344CB8AC3E}">
        <p14:creationId xmlns:p14="http://schemas.microsoft.com/office/powerpoint/2010/main" val="204699030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E0F1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B045C65-731F-4CC2-A559-52535F862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4287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DD4A7">
              <a:alpha val="12549"/>
            </a:srgbClr>
          </a:solidFill>
          <a:ln xmlns:a="http://schemas.openxmlformats.org/drawingml/2006/main" w="9525">
            <a:solidFill>
              <a:srgbClr val="2DD4A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DEF7AE-E31F-44BB-84CA-A09CE035C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2DD4A7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2DD4A7"/>
                </a:solidFill>
                <a:latin typeface="Arial"/>
                <a:ea typeface="Arial"/>
                <a:cs typeface="Arial"/>
              </a:rPr>
              <a:t>EXPERIENCE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6FD6F8-111B-4925-B6D8-49D5FC162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F1F2F8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F1F2F8"/>
                </a:solidFill>
                <a:latin typeface="Arial"/>
                <a:ea typeface="Arial"/>
                <a:cs typeface="Arial"/>
              </a:rPr>
              <a:t>The owner workspace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59A90C-1C11-4CE0-953A-EC8E2E346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1">
                <a:solidFill>
                  <a:srgbClr val="A7ACC2"/>
                </a:solidFill>
                <a:latin typeface="Calibri"/>
                <a:ea typeface="Calibri"/>
                <a:cs typeface="Calibri"/>
              </a:defRPr>
            </a:pPr>
            <a:r>
              <a:rPr sz="1500" b="0" i="1">
                <a:solidFill>
                  <a:srgbClr val="A7ACC2"/>
                </a:solidFill>
                <a:latin typeface="Calibri"/>
                <a:ea typeface="Calibri"/>
                <a:cs typeface="Calibri"/>
              </a:rPr>
              <a:t>Each screen answers one maintenance question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92F1AF-CD94-4275-8FAE-7AA702CD8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38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737A99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737A99"/>
                </a:solidFill>
                <a:latin typeface="Arial"/>
                <a:ea typeface="Arial"/>
                <a:cs typeface="Arial"/>
              </a:rPr>
              <a:t>TURNFLOW HOME  •  SYSTEM GUIDE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4F17C0-84FF-4566-9913-E67C227D7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737A99"/>
                </a:solidFill>
                <a:latin typeface="Courier New"/>
                <a:ea typeface="Courier New"/>
                <a:cs typeface="Courier New"/>
              </a:defRPr>
            </a:pPr>
            <a:r>
              <a:rPr sz="900" b="0" i="0">
                <a:solidFill>
                  <a:srgbClr val="737A99"/>
                </a:solidFill>
                <a:latin typeface="Courier New"/>
                <a:ea typeface="Courier New"/>
                <a:cs typeface="Courier New"/>
              </a:rPr>
              <a:t>07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F558C3-E39E-4367-B279-DBA98A82B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38350"/>
            <a:ext cx="3352800" cy="2495550"/>
          </a:xfrm>
          <a:prstGeom xmlns:a="http://schemas.openxmlformats.org/drawingml/2006/main" prst="roundRect">
            <a:avLst>
              <a:gd name="adj" fmla="val 6107"/>
            </a:avLst>
          </a:prstGeom>
          <a:solidFill xmlns:a="http://schemas.openxmlformats.org/drawingml/2006/main">
            <a:srgbClr val="262A42"/>
          </a:solidFill>
          <a:ln xmlns:a="http://schemas.openxmlformats.org/drawingml/2006/main" w="14288">
            <a:solidFill>
              <a:srgbClr val="8B7CFF"/>
            </a:solidFill>
            <a:prstDash val="solid"/>
          </a:ln>
        </p:spPr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e91782ec1c4e7b"/>
          <a:stretch xmlns:a="http://schemas.openxmlformats.org/drawingml/2006/main"/>
        </p:blipFill>
        <p:spPr>
          <a:xfrm xmlns:a="http://schemas.openxmlformats.org/drawingml/2006/main">
            <a:off x="932863" y="2095500"/>
            <a:ext cx="2515774" cy="2381250"/>
          </a:xfrm>
          <a:prstGeom xmlns:a="http://schemas.openxmlformats.org/drawingml/2006/main" prst="roundRect">
            <a:avLst>
              <a:gd name="adj" fmla="val 4800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4C91A4C-B0B4-4179-AD40-529FFE54C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038350"/>
            <a:ext cx="3352800" cy="2495550"/>
          </a:xfrm>
          <a:prstGeom xmlns:a="http://schemas.openxmlformats.org/drawingml/2006/main" prst="roundRect">
            <a:avLst>
              <a:gd name="adj" fmla="val 6107"/>
            </a:avLst>
          </a:prstGeom>
          <a:solidFill xmlns:a="http://schemas.openxmlformats.org/drawingml/2006/main">
            <a:srgbClr val="262A42"/>
          </a:solidFill>
          <a:ln xmlns:a="http://schemas.openxmlformats.org/drawingml/2006/main" w="14288">
            <a:solidFill>
              <a:srgbClr val="2DD4A7"/>
            </a:solidFill>
            <a:prstDash val="solid"/>
          </a:ln>
        </p:spPr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7fc4f255bfc4d3d"/>
          <a:stretch xmlns:a="http://schemas.openxmlformats.org/drawingml/2006/main"/>
        </p:blipFill>
        <p:spPr>
          <a:xfrm xmlns:a="http://schemas.openxmlformats.org/drawingml/2006/main">
            <a:off x="5056279" y="2095500"/>
            <a:ext cx="2079442" cy="2381250"/>
          </a:xfrm>
          <a:prstGeom xmlns:a="http://schemas.openxmlformats.org/drawingml/2006/main" prst="roundRect">
            <a:avLst>
              <a:gd name="adj" fmla="val 4800"/>
            </a:avLst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43DD494-2447-4255-89BA-2932E5C4F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038350"/>
            <a:ext cx="3352800" cy="2495550"/>
          </a:xfrm>
          <a:prstGeom xmlns:a="http://schemas.openxmlformats.org/drawingml/2006/main" prst="roundRect">
            <a:avLst>
              <a:gd name="adj" fmla="val 6107"/>
            </a:avLst>
          </a:prstGeom>
          <a:solidFill xmlns:a="http://schemas.openxmlformats.org/drawingml/2006/main">
            <a:srgbClr val="262A42"/>
          </a:solidFill>
          <a:ln xmlns:a="http://schemas.openxmlformats.org/drawingml/2006/main" w="14288">
            <a:solidFill>
              <a:srgbClr val="FF6B8A"/>
            </a:solidFill>
            <a:prstDash val="solid"/>
          </a:ln>
        </p:spPr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15ed55ee8a4ba8"/>
          <a:stretch xmlns:a="http://schemas.openxmlformats.org/drawingml/2006/main"/>
        </p:blipFill>
        <p:spPr>
          <a:xfrm xmlns:a="http://schemas.openxmlformats.org/drawingml/2006/main">
            <a:off x="8382000" y="2274094"/>
            <a:ext cx="3238500" cy="2024063"/>
          </a:xfrm>
          <a:prstGeom xmlns:a="http://schemas.openxmlformats.org/drawingml/2006/main" prst="roundRect">
            <a:avLst>
              <a:gd name="adj" fmla="val 4800"/>
            </a:avLst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3BB9636-C5AE-4982-AA7C-651E2DECC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76250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8B7C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8B7CFF"/>
                </a:solidFill>
                <a:latin typeface="Arial"/>
                <a:ea typeface="Arial"/>
                <a:cs typeface="Arial"/>
              </a:rPr>
              <a:t>PROPERTIES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0DB75DB-6FD7-4F85-AD4B-0F4D693F2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124450"/>
            <a:ext cx="323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0" i="0">
                <a:solidFill>
                  <a:srgbClr val="A7ACC2"/>
                </a:solidFill>
                <a:latin typeface="Calibri"/>
                <a:ea typeface="Calibri"/>
                <a:cs typeface="Calibri"/>
              </a:defRPr>
            </a:pPr>
            <a:r>
              <a:rPr sz="1425" b="0" i="0">
                <a:solidFill>
                  <a:srgbClr val="A7ACC2"/>
                </a:solidFill>
                <a:latin typeface="Calibri"/>
                <a:ea typeface="Calibri"/>
                <a:cs typeface="Calibri"/>
              </a:rPr>
              <a:t>What does each home need?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BC76409-20E6-4D2A-9E1A-6CAC5AD36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76250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2DD4A7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2DD4A7"/>
                </a:solidFill>
                <a:latin typeface="Arial"/>
                <a:ea typeface="Arial"/>
                <a:cs typeface="Arial"/>
              </a:rPr>
              <a:t>REQUEST INTAKE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623E64A-33B5-4C5C-B4C1-5BD601FB5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124450"/>
            <a:ext cx="323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0" i="0">
                <a:solidFill>
                  <a:srgbClr val="A7ACC2"/>
                </a:solidFill>
                <a:latin typeface="Calibri"/>
                <a:ea typeface="Calibri"/>
                <a:cs typeface="Calibri"/>
              </a:defRPr>
            </a:pPr>
            <a:r>
              <a:rPr sz="1425" b="0" i="0">
                <a:solidFill>
                  <a:srgbClr val="A7ACC2"/>
                </a:solidFill>
                <a:latin typeface="Calibri"/>
                <a:ea typeface="Calibri"/>
                <a:cs typeface="Calibri"/>
              </a:rPr>
              <a:t>What happened and what context matters?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DABC21D-3286-4512-85DA-15F95DDD4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76250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FF6B8A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F6B8A"/>
                </a:solidFill>
                <a:latin typeface="Arial"/>
                <a:ea typeface="Arial"/>
                <a:cs typeface="Arial"/>
              </a:rPr>
              <a:t>REQUEST DETAIL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068F131-E7EF-477E-A683-2D3B316D3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5124450"/>
            <a:ext cx="323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0" i="0">
                <a:solidFill>
                  <a:srgbClr val="A7ACC2"/>
                </a:solidFill>
                <a:latin typeface="Calibri"/>
                <a:ea typeface="Calibri"/>
                <a:cs typeface="Calibri"/>
              </a:defRPr>
            </a:pPr>
            <a:r>
              <a:rPr sz="1425" b="0" i="0">
                <a:solidFill>
                  <a:srgbClr val="A7ACC2"/>
                </a:solidFill>
                <a:latin typeface="Calibri"/>
                <a:ea typeface="Calibri"/>
                <a:cs typeface="Calibri"/>
              </a:rPr>
              <a:t>What must happen next?</a:t>
            </a:r>
          </a:p>
        </p:txBody>
      </p:sp>
    </p:spTree>
    <p:extLst>
      <p:ext uri="{BB962C8B-B14F-4D97-AF65-F5344CB8AC3E}">
        <p14:creationId xmlns:p14="http://schemas.microsoft.com/office/powerpoint/2010/main" val="139410203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E0F1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4556C57-4F96-4F26-A4A5-2BA3B5E0D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4287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DD4A7">
              <a:alpha val="12549"/>
            </a:srgbClr>
          </a:solidFill>
          <a:ln xmlns:a="http://schemas.openxmlformats.org/drawingml/2006/main" w="9525">
            <a:solidFill>
              <a:srgbClr val="2DD4A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25ECEC-4025-4CF8-9FA6-017AC22C1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2DD4A7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2DD4A7"/>
                </a:solidFill>
                <a:latin typeface="Arial"/>
                <a:ea typeface="Arial"/>
                <a:cs typeface="Arial"/>
              </a:rPr>
              <a:t>EXPERIENCE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E9D057-98ED-4F13-9A5E-05E1FF853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F1F2F8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F1F2F8"/>
                </a:solidFill>
                <a:latin typeface="Arial"/>
                <a:ea typeface="Arial"/>
                <a:cs typeface="Arial"/>
              </a:rPr>
              <a:t>The request lifecycle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27F75E-D380-4591-BB51-CDAF62248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1">
                <a:solidFill>
                  <a:srgbClr val="A7ACC2"/>
                </a:solidFill>
                <a:latin typeface="Calibri"/>
                <a:ea typeface="Calibri"/>
                <a:cs typeface="Calibri"/>
              </a:defRPr>
            </a:pPr>
            <a:r>
              <a:rPr sz="1500" b="0" i="1">
                <a:solidFill>
                  <a:srgbClr val="A7ACC2"/>
                </a:solidFill>
                <a:latin typeface="Calibri"/>
                <a:ea typeface="Calibri"/>
                <a:cs typeface="Calibri"/>
              </a:rPr>
              <a:t>Statuses communicate progress while evidence and decisions preserve the real history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2E66A6-FF29-4151-8A6C-50A8768CE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38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737A99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737A99"/>
                </a:solidFill>
                <a:latin typeface="Arial"/>
                <a:ea typeface="Arial"/>
                <a:cs typeface="Arial"/>
              </a:rPr>
              <a:t>TURNFLOW HOME  •  SYSTEM GUIDE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4A1F1A-2D39-42A5-8905-9DAAD405F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737A99"/>
                </a:solidFill>
                <a:latin typeface="Courier New"/>
                <a:ea typeface="Courier New"/>
                <a:cs typeface="Courier New"/>
              </a:defRPr>
            </a:pPr>
            <a:r>
              <a:rPr sz="900" b="0" i="0">
                <a:solidFill>
                  <a:srgbClr val="737A99"/>
                </a:solidFill>
                <a:latin typeface="Courier New"/>
                <a:ea typeface="Courier New"/>
                <a:cs typeface="Courier New"/>
              </a:rPr>
              <a:t>08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4A93BE-AF8C-437E-A0A5-2C7A07C87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571750"/>
            <a:ext cx="1190625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1B1D2E"/>
          </a:solidFill>
          <a:ln xmlns:a="http://schemas.openxmlformats.org/drawingml/2006/main" w="19050">
            <a:solidFill>
              <a:srgbClr val="8B7C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5826B1-57C2-4EC8-BDF0-F67E60B7B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0"/>
            <a:ext cx="9620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8B7CFF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8B7CFF"/>
                </a:solidFill>
                <a:latin typeface="Arial"/>
                <a:ea typeface="Arial"/>
                <a:cs typeface="Arial"/>
              </a:rPr>
              <a:t>Draft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C37998B-65CC-45DE-9D0B-5C6D9E38E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2571750"/>
            <a:ext cx="1190625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1B1D2E"/>
          </a:solidFill>
          <a:ln xmlns:a="http://schemas.openxmlformats.org/drawingml/2006/main" w="19050">
            <a:solidFill>
              <a:srgbClr val="F5B84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812F550-CE65-4904-9CE2-835A3625A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2667000"/>
            <a:ext cx="9620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6003"/>
          </a:bodyPr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F5B84B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F5B84B"/>
                </a:solidFill>
                <a:latin typeface="Arial"/>
                <a:ea typeface="Arial"/>
                <a:cs typeface="Arial"/>
              </a:rPr>
              <a:t>Needs Quote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F038F55-BD3F-4C1F-9F45-2064EF779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571750"/>
            <a:ext cx="1190625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1B1D2E"/>
          </a:solidFill>
          <a:ln xmlns:a="http://schemas.openxmlformats.org/drawingml/2006/main" w="19050">
            <a:solidFill>
              <a:srgbClr val="5EC8F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81A2933-10E0-4D93-B150-CD9990C13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667000"/>
            <a:ext cx="9620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5EC8F2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5EC8F2"/>
                </a:solidFill>
                <a:latin typeface="Arial"/>
                <a:ea typeface="Arial"/>
                <a:cs typeface="Arial"/>
              </a:rPr>
              <a:t>Waiting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B97552E-F76C-4148-A411-6277F518D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571750"/>
            <a:ext cx="1190625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1B1D2E"/>
          </a:solidFill>
          <a:ln xmlns:a="http://schemas.openxmlformats.org/drawingml/2006/main" w="19050">
            <a:solidFill>
              <a:srgbClr val="8B7C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983AC85-6BB0-435D-BF3A-CBEF3D0C0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2667000"/>
            <a:ext cx="9620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8B7CFF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8B7CFF"/>
                </a:solidFill>
                <a:latin typeface="Arial"/>
                <a:ea typeface="Arial"/>
                <a:cs typeface="Arial"/>
              </a:rPr>
              <a:t>Scheduled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46E681F-CE0E-431C-BF48-6DDC63AA3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571750"/>
            <a:ext cx="1190625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1B1D2E"/>
          </a:solidFill>
          <a:ln xmlns:a="http://schemas.openxmlformats.org/drawingml/2006/main" w="19050">
            <a:solidFill>
              <a:srgbClr val="2DD4A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271930B-D20E-45D0-B65E-CE4A7E3CC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667000"/>
            <a:ext cx="9620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6650"/>
          </a:bodyPr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2DD4A7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2DD4A7"/>
                </a:solidFill>
                <a:latin typeface="Arial"/>
                <a:ea typeface="Arial"/>
                <a:cs typeface="Arial"/>
              </a:rPr>
              <a:t>In Progress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FF1FFC2-D45F-4071-9EBC-D42EFCEA3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571750"/>
            <a:ext cx="1190625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1B1D2E"/>
          </a:solidFill>
          <a:ln xmlns:a="http://schemas.openxmlformats.org/drawingml/2006/main" w="19050">
            <a:solidFill>
              <a:srgbClr val="FF6B8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10FB19F-2626-4F88-B2CE-DE0EDFA85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667000"/>
            <a:ext cx="9620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79566"/>
          </a:bodyPr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FF6B8A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FF6B8A"/>
                </a:solidFill>
                <a:latin typeface="Arial"/>
                <a:ea typeface="Arial"/>
                <a:cs typeface="Arial"/>
              </a:rPr>
              <a:t>Needs Review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F65FE6B-D0DF-4BF0-BFB5-1063AEAE8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571750"/>
            <a:ext cx="1190625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1B1D2E"/>
          </a:solidFill>
          <a:ln xmlns:a="http://schemas.openxmlformats.org/drawingml/2006/main" w="19050">
            <a:solidFill>
              <a:srgbClr val="2DD4A7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2056B00-5ECB-4630-8AE4-BBC8998C5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667000"/>
            <a:ext cx="9620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2DD4A7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2DD4A7"/>
                </a:solidFill>
                <a:latin typeface="Arial"/>
                <a:ea typeface="Arial"/>
                <a:cs typeface="Arial"/>
              </a:rPr>
              <a:t>Complete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EC3D930-9521-4F42-994B-8B2D70EBA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2571750"/>
            <a:ext cx="1190625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1B1D2E"/>
          </a:solidFill>
          <a:ln xmlns:a="http://schemas.openxmlformats.org/drawingml/2006/main" w="19050">
            <a:solidFill>
              <a:srgbClr val="737A99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A5B8CB8-9045-459A-B902-4A8A5B4E2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2667000"/>
            <a:ext cx="9620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737A99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737A99"/>
                </a:solidFill>
                <a:latin typeface="Arial"/>
                <a:ea typeface="Arial"/>
                <a:cs typeface="Arial"/>
              </a:rPr>
              <a:t>Archived</a:t>
            </a:r>
          </a:p>
        </p:txBody>
      </p:sp>
      <p:cxnSp>
        <p:nvCxnSpPr>
          <p:cNvPr id="67" name=""/>
          <p:cNvCxnSpPr>
            <a:stCxn xmlns:a="http://schemas.openxmlformats.org/drawingml/2006/main" id="7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1609725" y="2933700"/>
            <a:ext cx="2381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37A99"/>
            </a:solidFill>
            <a:prstDash val="solid"/>
            <a:tailEnd type="arrow" w="sm" len="sm"/>
          </a:ln>
        </p:spPr>
      </p:cxnSp>
      <p:cxnSp>
        <p:nvCxnSpPr>
          <p:cNvPr id="68" name=""/>
          <p:cNvCxnSpPr>
            <a:stCxn xmlns:a="http://schemas.openxmlformats.org/drawingml/2006/main" id="9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3038475" y="2933700"/>
            <a:ext cx="2381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37A99"/>
            </a:solidFill>
            <a:prstDash val="solid"/>
            <a:tailEnd type="arrow" w="sm" len="sm"/>
          </a:ln>
        </p:spPr>
      </p:cxnSp>
      <p:cxnSp>
        <p:nvCxnSpPr>
          <p:cNvPr id="69" name=""/>
          <p:cNvCxnSpPr>
            <a:stCxn xmlns:a="http://schemas.openxmlformats.org/drawingml/2006/main" id="11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4467225" y="2933700"/>
            <a:ext cx="2381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37A99"/>
            </a:solidFill>
            <a:prstDash val="solid"/>
            <a:tailEnd type="arrow" w="sm" len="sm"/>
          </a:ln>
        </p:spPr>
      </p:cxnSp>
      <p:cxnSp>
        <p:nvCxnSpPr>
          <p:cNvPr id="70" name=""/>
          <p:cNvCxnSpPr>
            <a:stCxn xmlns:a="http://schemas.openxmlformats.org/drawingml/2006/main" id="13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5895975" y="2933700"/>
            <a:ext cx="2381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37A99"/>
            </a:solidFill>
            <a:prstDash val="solid"/>
            <a:tailEnd type="arrow" w="sm" len="sm"/>
          </a:ln>
        </p:spPr>
      </p:cxnSp>
      <p:cxnSp>
        <p:nvCxnSpPr>
          <p:cNvPr id="71" name=""/>
          <p:cNvCxnSpPr>
            <a:stCxn xmlns:a="http://schemas.openxmlformats.org/drawingml/2006/main" id="15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7324725" y="2933700"/>
            <a:ext cx="2381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37A99"/>
            </a:solidFill>
            <a:prstDash val="solid"/>
            <a:tailEnd type="arrow" w="sm" len="sm"/>
          </a:ln>
        </p:spPr>
      </p:cxnSp>
      <p:cxnSp>
        <p:nvCxnSpPr>
          <p:cNvPr id="72" name=""/>
          <p:cNvCxnSpPr>
            <a:stCxn xmlns:a="http://schemas.openxmlformats.org/drawingml/2006/main" id="17" idx="3"/>
            <a:endCxn xmlns:a="http://schemas.openxmlformats.org/drawingml/2006/main" id="19" idx="1"/>
          </p:cNvCxnSpPr>
          <p:nvPr/>
        </p:nvCxnSpPr>
        <p:spPr>
          <a:xfrm xmlns:a="http://schemas.openxmlformats.org/drawingml/2006/main">
            <a:off x="8753475" y="2933700"/>
            <a:ext cx="2381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37A99"/>
            </a:solidFill>
            <a:prstDash val="solid"/>
            <a:tailEnd type="arrow" w="sm" len="sm"/>
          </a:ln>
        </p:spPr>
      </p:cxnSp>
      <p:cxnSp>
        <p:nvCxnSpPr>
          <p:cNvPr id="73" name=""/>
          <p:cNvCxnSpPr>
            <a:stCxn xmlns:a="http://schemas.openxmlformats.org/drawingml/2006/main" id="19" idx="3"/>
            <a:endCxn xmlns:a="http://schemas.openxmlformats.org/drawingml/2006/main" id="21" idx="1"/>
          </p:cNvCxnSpPr>
          <p:nvPr/>
        </p:nvCxnSpPr>
        <p:spPr>
          <a:xfrm xmlns:a="http://schemas.openxmlformats.org/drawingml/2006/main">
            <a:off x="10182225" y="2933700"/>
            <a:ext cx="2381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37A99"/>
            </a:solidFill>
            <a:prstDash val="solid"/>
            <a:tailEnd type="arrow" w="sm" len="sm"/>
          </a:ln>
        </p:spPr>
      </p:cxn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43E3FA1-3834-4AB1-9846-EDFBFC6BF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91000"/>
            <a:ext cx="13144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EC8F2">
              <a:alpha val="12549"/>
            </a:srgbClr>
          </a:solidFill>
          <a:ln xmlns:a="http://schemas.openxmlformats.org/drawingml/2006/main" w="9525">
            <a:solidFill>
              <a:srgbClr val="5EC8F2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2DAA528-98E7-45A2-83F3-22851BB30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00525"/>
            <a:ext cx="1314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5EC8F2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5EC8F2"/>
                </a:solidFill>
                <a:latin typeface="Arial"/>
                <a:ea typeface="Arial"/>
                <a:cs typeface="Arial"/>
              </a:rPr>
              <a:t>PHOTOS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AC54B9A-A54A-4DCD-A527-2A7F2AEDB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191000"/>
            <a:ext cx="13144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B84B">
              <a:alpha val="12549"/>
            </a:srgbClr>
          </a:solidFill>
          <a:ln xmlns:a="http://schemas.openxmlformats.org/drawingml/2006/main" w="9525">
            <a:solidFill>
              <a:srgbClr val="F5B84B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AAFD171-D613-4A85-9B6C-BCDD4B995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200525"/>
            <a:ext cx="1314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5B84B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F5B84B"/>
                </a:solidFill>
                <a:latin typeface="Arial"/>
                <a:ea typeface="Arial"/>
                <a:cs typeface="Arial"/>
              </a:rPr>
              <a:t>QUOTES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F868C79-6D62-41BE-AE7F-A6E7E91D0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191000"/>
            <a:ext cx="13144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B7CFF">
              <a:alpha val="12549"/>
            </a:srgbClr>
          </a:solidFill>
          <a:ln xmlns:a="http://schemas.openxmlformats.org/drawingml/2006/main" w="9525">
            <a:solidFill>
              <a:srgbClr val="8B7CFF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690FDD2-BAAD-4827-9707-F8F9C8CAE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200525"/>
            <a:ext cx="1314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8B7C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8B7CFF"/>
                </a:solidFill>
                <a:latin typeface="Arial"/>
                <a:ea typeface="Arial"/>
                <a:cs typeface="Arial"/>
              </a:rPr>
              <a:t>TASKS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21C1A4C-B359-40E3-AC57-3FA232681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191000"/>
            <a:ext cx="13144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DD4A7">
              <a:alpha val="12549"/>
            </a:srgbClr>
          </a:solidFill>
          <a:ln xmlns:a="http://schemas.openxmlformats.org/drawingml/2006/main" w="9525">
            <a:solidFill>
              <a:srgbClr val="2DD4A7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79B620F-E6B2-4CD0-BD03-EFA0EDB5B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200525"/>
            <a:ext cx="1314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2DD4A7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2DD4A7"/>
                </a:solidFill>
                <a:latin typeface="Arial"/>
                <a:ea typeface="Arial"/>
                <a:cs typeface="Arial"/>
              </a:rPr>
              <a:t>WORK EVENTS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B35021C-D0E5-4181-BBF7-01E1333D5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191000"/>
            <a:ext cx="13144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6B8A">
              <a:alpha val="12549"/>
            </a:srgbClr>
          </a:solidFill>
          <a:ln xmlns:a="http://schemas.openxmlformats.org/drawingml/2006/main" w="9525">
            <a:solidFill>
              <a:srgbClr val="FF6B8A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BD203D5-C62D-41A3-8E48-B800A438E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200525"/>
            <a:ext cx="1314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6B8A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FF6B8A"/>
                </a:solidFill>
                <a:latin typeface="Arial"/>
                <a:ea typeface="Arial"/>
                <a:cs typeface="Arial"/>
              </a:rPr>
              <a:t>CLOSEOUT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1E1F9A1-EF7E-4AE8-BDFA-21987380A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191000"/>
            <a:ext cx="13144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B84B">
              <a:alpha val="12549"/>
            </a:srgbClr>
          </a:solidFill>
          <a:ln xmlns:a="http://schemas.openxmlformats.org/drawingml/2006/main" w="9525">
            <a:solidFill>
              <a:srgbClr val="F5B84B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960B239-8743-466B-B7E1-FF17BB0F1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200525"/>
            <a:ext cx="1314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5B84B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F5B84B"/>
                </a:solidFill>
                <a:latin typeface="Arial"/>
                <a:ea typeface="Arial"/>
                <a:cs typeface="Arial"/>
              </a:rPr>
              <a:t>BILLING RECORD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10D204F-1243-4E35-A288-9532090A5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191000"/>
            <a:ext cx="13144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B7CFF">
              <a:alpha val="12549"/>
            </a:srgbClr>
          </a:solidFill>
          <a:ln xmlns:a="http://schemas.openxmlformats.org/drawingml/2006/main" w="9525">
            <a:solidFill>
              <a:srgbClr val="8B7CFF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22B1C15-F00C-485E-9DD7-47A7227AC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200525"/>
            <a:ext cx="1314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8B7C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8B7CFF"/>
                </a:solidFill>
                <a:latin typeface="Arial"/>
                <a:ea typeface="Arial"/>
                <a:cs typeface="Arial"/>
              </a:rPr>
              <a:t>DECISION LOG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F47512E-0648-4AA1-BE42-E13CAEA13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048250"/>
            <a:ext cx="8953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 i="0">
                <a:solidFill>
                  <a:srgbClr val="F1F2F8"/>
                </a:solidFill>
                <a:latin typeface="Calibri"/>
                <a:ea typeface="Calibri"/>
                <a:cs typeface="Calibri"/>
              </a:defRPr>
            </a:pPr>
            <a:r>
              <a:rPr sz="1725" b="1" i="0">
                <a:solidFill>
                  <a:srgbClr val="F1F2F8"/>
                </a:solidFill>
                <a:latin typeface="Calibri"/>
                <a:ea typeface="Calibri"/>
                <a:cs typeface="Calibri"/>
              </a:rPr>
              <a:t>Status is a summary. The durable record is the evidence and decisions attached to the request.</a:t>
            </a:r>
          </a:p>
        </p:txBody>
      </p:sp>
    </p:spTree>
    <p:extLst>
      <p:ext uri="{BB962C8B-B14F-4D97-AF65-F5344CB8AC3E}">
        <p14:creationId xmlns:p14="http://schemas.microsoft.com/office/powerpoint/2010/main" val="118116451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E0F1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281D8C0-DB76-4B99-A4DF-4E73B0C1C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4287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DD4A7">
              <a:alpha val="12549"/>
            </a:srgbClr>
          </a:solidFill>
          <a:ln xmlns:a="http://schemas.openxmlformats.org/drawingml/2006/main" w="9525">
            <a:solidFill>
              <a:srgbClr val="2DD4A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56F719-9FCF-4E7D-B7D8-CFD268ECF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2DD4A7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2DD4A7"/>
                </a:solidFill>
                <a:latin typeface="Arial"/>
                <a:ea typeface="Arial"/>
                <a:cs typeface="Arial"/>
              </a:rPr>
              <a:t>EXPERIENCE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F00284-BB5B-4905-AA5E-40EEC0CA7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F1F2F8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F1F2F8"/>
                </a:solidFill>
                <a:latin typeface="Arial"/>
                <a:ea typeface="Arial"/>
                <a:cs typeface="Arial"/>
              </a:rPr>
              <a:t>Vendor work lane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6C2E64-34B6-44AA-99BB-C197E0C4C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1">
                <a:solidFill>
                  <a:srgbClr val="A7ACC2"/>
                </a:solidFill>
                <a:latin typeface="Calibri"/>
                <a:ea typeface="Calibri"/>
                <a:cs typeface="Calibri"/>
              </a:defRPr>
            </a:pPr>
            <a:r>
              <a:rPr sz="1500" b="0" i="1">
                <a:solidFill>
                  <a:srgbClr val="A7ACC2"/>
                </a:solidFill>
                <a:latin typeface="Calibri"/>
                <a:ea typeface="Calibri"/>
                <a:cs typeface="Calibri"/>
              </a:rPr>
              <a:t>The portal selects the next useful action from bid, proof, work, closeout, and owner review state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07F23B-A1FB-4945-8D96-E6A4F7A65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38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737A99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737A99"/>
                </a:solidFill>
                <a:latin typeface="Arial"/>
                <a:ea typeface="Arial"/>
                <a:cs typeface="Arial"/>
              </a:rPr>
              <a:t>TURNFLOW HOME  •  SYSTEM GUIDE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BEE326-9802-4574-8101-B34EC0D36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737A99"/>
                </a:solidFill>
                <a:latin typeface="Courier New"/>
                <a:ea typeface="Courier New"/>
                <a:cs typeface="Courier New"/>
              </a:defRPr>
            </a:pPr>
            <a:r>
              <a:rPr sz="900" b="0" i="0">
                <a:solidFill>
                  <a:srgbClr val="737A99"/>
                </a:solidFill>
                <a:latin typeface="Courier New"/>
                <a:ea typeface="Courier New"/>
                <a:cs typeface="Courier New"/>
              </a:rPr>
              <a:t>09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752E67-AD7B-44DD-98EB-0021F0EDA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4591050" cy="3257550"/>
          </a:xfrm>
          <a:prstGeom xmlns:a="http://schemas.openxmlformats.org/drawingml/2006/main" prst="roundRect">
            <a:avLst>
              <a:gd name="adj" fmla="val 4678"/>
            </a:avLst>
          </a:prstGeom>
          <a:solidFill xmlns:a="http://schemas.openxmlformats.org/drawingml/2006/main">
            <a:srgbClr val="262A42"/>
          </a:solidFill>
          <a:ln xmlns:a="http://schemas.openxmlformats.org/drawingml/2006/main" w="14288">
            <a:solidFill>
              <a:srgbClr val="F5B84B"/>
            </a:solidFill>
            <a:prstDash val="solid"/>
          </a:ln>
        </p:spPr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f79afcf3103485f"/>
          <a:stretch xmlns:a="http://schemas.openxmlformats.org/drawingml/2006/main"/>
        </p:blipFill>
        <p:spPr>
          <a:xfrm xmlns:a="http://schemas.openxmlformats.org/drawingml/2006/main">
            <a:off x="666750" y="2553891"/>
            <a:ext cx="4476750" cy="2797969"/>
          </a:xfrm>
          <a:prstGeom xmlns:a="http://schemas.openxmlformats.org/drawingml/2006/main" prst="roundRect">
            <a:avLst>
              <a:gd name="adj" fmla="val 3636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E26700-A8D8-4013-A35F-121510506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962150"/>
            <a:ext cx="5429250" cy="666750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1B1D2E"/>
          </a:solidFill>
          <a:ln xmlns:a="http://schemas.openxmlformats.org/drawingml/2006/main" w="9525">
            <a:solidFill>
              <a:srgbClr val="3A3F5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F7EA76-A008-46F6-AC83-CFC17EF3D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105025"/>
            <a:ext cx="5086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8B7CFF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8B7CFF"/>
                </a:solidFill>
                <a:latin typeface="Arial"/>
                <a:ea typeface="Arial"/>
                <a:cs typeface="Arial"/>
              </a:rPr>
              <a:t>Assigned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818555E-AF13-40A5-A4A3-EADF19D36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476500"/>
            <a:ext cx="5086350" cy="38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20833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A7ACC2"/>
                </a:solidFill>
                <a:latin typeface="Calibri"/>
                <a:ea typeface="Calibri"/>
                <a:cs typeface="Calibri"/>
              </a:defRPr>
            </a:pPr>
            <a:r>
              <a:rPr sz="1200" b="0" i="0">
                <a:solidFill>
                  <a:srgbClr val="A7ACC2"/>
                </a:solidFill>
                <a:latin typeface="Calibri"/>
                <a:ea typeface="Calibri"/>
                <a:cs typeface="Calibri"/>
              </a:rPr>
              <a:t>Owner invite or assignment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0D494B5-BC71-46F5-9E66-CD5BE3461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762250"/>
            <a:ext cx="5429250" cy="666750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1B1D2E"/>
          </a:solidFill>
          <a:ln xmlns:a="http://schemas.openxmlformats.org/drawingml/2006/main" w="9525">
            <a:solidFill>
              <a:srgbClr val="3A3F5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8FD286E-599C-4912-88EC-2FFE85E1B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905125"/>
            <a:ext cx="5086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F5B84B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F5B84B"/>
                </a:solidFill>
                <a:latin typeface="Arial"/>
                <a:ea typeface="Arial"/>
                <a:cs typeface="Arial"/>
              </a:rPr>
              <a:t>Bid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D0507C3-6C64-4B02-8D03-1C25F622A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3276600"/>
            <a:ext cx="5086350" cy="38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20833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A7ACC2"/>
                </a:solidFill>
                <a:latin typeface="Calibri"/>
                <a:ea typeface="Calibri"/>
                <a:cs typeface="Calibri"/>
              </a:defRPr>
            </a:pPr>
            <a:r>
              <a:rPr sz="1200" b="0" i="0">
                <a:solidFill>
                  <a:srgbClr val="A7ACC2"/>
                </a:solidFill>
                <a:latin typeface="Calibri"/>
                <a:ea typeface="Calibri"/>
                <a:cs typeface="Calibri"/>
              </a:rPr>
              <a:t>Private price and availability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64F9F10-5944-4EFD-A569-5291EAFD9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562350"/>
            <a:ext cx="5429250" cy="666750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1B1D2E"/>
          </a:solidFill>
          <a:ln xmlns:a="http://schemas.openxmlformats.org/drawingml/2006/main" w="9525">
            <a:solidFill>
              <a:srgbClr val="3A3F5E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7FA0D2F-BD93-4A81-A6DF-8B5F23813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3705225"/>
            <a:ext cx="5086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2DD4A7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2DD4A7"/>
                </a:solidFill>
                <a:latin typeface="Arial"/>
                <a:ea typeface="Arial"/>
                <a:cs typeface="Arial"/>
              </a:rPr>
              <a:t>Work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8484FFB-E4BA-4371-84DE-5543F7F3D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4076700"/>
            <a:ext cx="5086350" cy="38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20833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A7ACC2"/>
                </a:solidFill>
                <a:latin typeface="Calibri"/>
                <a:ea typeface="Calibri"/>
                <a:cs typeface="Calibri"/>
              </a:defRPr>
            </a:pPr>
            <a:r>
              <a:rPr sz="1200" b="0" i="0">
                <a:solidFill>
                  <a:srgbClr val="A7ACC2"/>
                </a:solidFill>
                <a:latin typeface="Calibri"/>
                <a:ea typeface="Calibri"/>
                <a:cs typeface="Calibri"/>
              </a:rPr>
              <a:t>Before proof, then start/pause/resume/stop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726FF66-83FA-4875-B507-F45E9EE12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362450"/>
            <a:ext cx="5429250" cy="666750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1B1D2E"/>
          </a:solidFill>
          <a:ln xmlns:a="http://schemas.openxmlformats.org/drawingml/2006/main" w="9525">
            <a:solidFill>
              <a:srgbClr val="3A3F5E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612AD25-39B9-4DFA-909E-E52400034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4505325"/>
            <a:ext cx="5086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FF6B8A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FF6B8A"/>
                </a:solidFill>
                <a:latin typeface="Arial"/>
                <a:ea typeface="Arial"/>
                <a:cs typeface="Arial"/>
              </a:rPr>
              <a:t>Closeout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9021710-F413-4FB6-A5E4-4D0A0F598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4876800"/>
            <a:ext cx="5086350" cy="38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20833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A7ACC2"/>
                </a:solidFill>
                <a:latin typeface="Calibri"/>
                <a:ea typeface="Calibri"/>
                <a:cs typeface="Calibri"/>
              </a:defRPr>
            </a:pPr>
            <a:r>
              <a:rPr sz="1200" b="0" i="0">
                <a:solidFill>
                  <a:srgbClr val="A7ACC2"/>
                </a:solidFill>
                <a:latin typeface="Calibri"/>
                <a:ea typeface="Calibri"/>
                <a:cs typeface="Calibri"/>
              </a:rPr>
              <a:t>After proof, completed tasks, final amount, notes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BBC944E-6490-48BF-8BA7-9A5376DA4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5162550"/>
            <a:ext cx="5429250" cy="666750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1B1D2E"/>
          </a:solidFill>
          <a:ln xmlns:a="http://schemas.openxmlformats.org/drawingml/2006/main" w="9525">
            <a:solidFill>
              <a:srgbClr val="3A3F5E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7B6252B-E5B7-4849-9CC6-9A3178095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5305425"/>
            <a:ext cx="5086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5EC8F2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5EC8F2"/>
                </a:solidFill>
                <a:latin typeface="Arial"/>
                <a:ea typeface="Arial"/>
                <a:cs typeface="Arial"/>
              </a:rPr>
              <a:t>Owner review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5D80769-11FC-4678-B712-FC292A260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5676900"/>
            <a:ext cx="5086350" cy="38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20833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A7ACC2"/>
                </a:solidFill>
                <a:latin typeface="Calibri"/>
                <a:ea typeface="Calibri"/>
                <a:cs typeface="Calibri"/>
              </a:defRPr>
            </a:pPr>
            <a:r>
              <a:rPr sz="1200" b="0" i="0">
                <a:solidFill>
                  <a:srgbClr val="A7ACC2"/>
                </a:solidFill>
                <a:latin typeface="Calibri"/>
                <a:ea typeface="Calibri"/>
                <a:cs typeface="Calibri"/>
              </a:rPr>
              <a:t>Approve or request a documented revision</a:t>
            </a:r>
          </a:p>
        </p:txBody>
      </p:sp>
    </p:spTree>
    <p:extLst>
      <p:ext uri="{BB962C8B-B14F-4D97-AF65-F5344CB8AC3E}">
        <p14:creationId xmlns:p14="http://schemas.microsoft.com/office/powerpoint/2010/main" val="30631630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E0F1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0FC3FEA-33DF-4423-AFE6-28363B0A4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4287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DD4A7">
              <a:alpha val="12549"/>
            </a:srgbClr>
          </a:solidFill>
          <a:ln xmlns:a="http://schemas.openxmlformats.org/drawingml/2006/main" w="9525">
            <a:solidFill>
              <a:srgbClr val="2DD4A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8010FF-6C1D-4C22-92EB-E4C2EAB84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2DD4A7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2DD4A7"/>
                </a:solidFill>
                <a:latin typeface="Arial"/>
                <a:ea typeface="Arial"/>
                <a:cs typeface="Arial"/>
              </a:rPr>
              <a:t>EXPERIENCE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EF0B55-5350-40E4-9B87-ECDE63822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F1F2F8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F1F2F8"/>
                </a:solidFill>
                <a:latin typeface="Arial"/>
                <a:ea typeface="Arial"/>
                <a:cs typeface="Arial"/>
              </a:rPr>
              <a:t>Scoped collaboration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7F77A6-0D65-4E2C-B922-49AAF4D60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1">
                <a:solidFill>
                  <a:srgbClr val="A7ACC2"/>
                </a:solidFill>
                <a:latin typeface="Calibri"/>
                <a:ea typeface="Calibri"/>
                <a:cs typeface="Calibri"/>
              </a:defRPr>
            </a:pPr>
            <a:r>
              <a:rPr sz="1500" b="0" i="1">
                <a:solidFill>
                  <a:srgbClr val="A7ACC2"/>
                </a:solidFill>
                <a:latin typeface="Calibri"/>
                <a:ea typeface="Calibri"/>
                <a:cs typeface="Calibri"/>
              </a:rPr>
              <a:t>A collaborator can help with one shared request while the owner keeps account-wide control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CCC6C0-B16F-429B-9267-516609B27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38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737A99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737A99"/>
                </a:solidFill>
                <a:latin typeface="Arial"/>
                <a:ea typeface="Arial"/>
                <a:cs typeface="Arial"/>
              </a:rPr>
              <a:t>TURNFLOW HOME  •  SYSTEM GUIDE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4A1E7E-2A6C-468D-B7CB-6A5C7D32F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737A99"/>
                </a:solidFill>
                <a:latin typeface="Courier New"/>
                <a:ea typeface="Courier New"/>
                <a:cs typeface="Courier New"/>
              </a:defRPr>
            </a:pPr>
            <a:r>
              <a:rPr sz="900" b="0" i="0">
                <a:solidFill>
                  <a:srgbClr val="737A99"/>
                </a:solidFill>
                <a:latin typeface="Courier New"/>
                <a:ea typeface="Courier New"/>
                <a:cs typeface="Courier New"/>
              </a:rPr>
              <a:t>10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9BF145-2F0C-4157-BBD5-733A35128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4591050" cy="3733800"/>
          </a:xfrm>
          <a:prstGeom xmlns:a="http://schemas.openxmlformats.org/drawingml/2006/main" prst="roundRect">
            <a:avLst>
              <a:gd name="adj" fmla="val 4082"/>
            </a:avLst>
          </a:prstGeom>
          <a:solidFill xmlns:a="http://schemas.openxmlformats.org/drawingml/2006/main">
            <a:srgbClr val="262A42"/>
          </a:solidFill>
          <a:ln xmlns:a="http://schemas.openxmlformats.org/drawingml/2006/main" w="14288">
            <a:solidFill>
              <a:srgbClr val="5EC8F2"/>
            </a:solidFill>
            <a:prstDash val="solid"/>
          </a:ln>
        </p:spPr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8b8ce1272214fdb"/>
          <a:srcRect xmlns:a="http://schemas.openxmlformats.org/drawingml/2006/main" l="0" t="22772" r="0" b="2277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6750" y="2095500"/>
            <a:ext cx="4476750" cy="3619500"/>
          </a:xfrm>
          <a:prstGeom xmlns:a="http://schemas.openxmlformats.org/drawingml/2006/main" prst="roundRect">
            <a:avLst>
              <a:gd name="adj" fmla="val 3158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24E607-4884-424F-86FB-191954D37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428875"/>
            <a:ext cx="209550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1B1D2E"/>
          </a:solidFill>
          <a:ln xmlns:a="http://schemas.openxmlformats.org/drawingml/2006/main" w="19050">
            <a:solidFill>
              <a:srgbClr val="5EC8F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04BCD49-A861-4928-B22C-1541424B3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524125"/>
            <a:ext cx="1866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5EC8F2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5EC8F2"/>
                </a:solidFill>
                <a:latin typeface="Arial"/>
                <a:ea typeface="Arial"/>
                <a:cs typeface="Arial"/>
              </a:rPr>
              <a:t>Shared request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C74A7AB-9DB6-4C79-8F96-F4D42AB07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828925"/>
            <a:ext cx="1866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A7ACC2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A7ACC2"/>
                </a:solidFill>
                <a:latin typeface="Calibri"/>
                <a:ea typeface="Calibri"/>
                <a:cs typeface="Calibri"/>
              </a:rPr>
              <a:t>Context, readiness, updates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6B59B5D-9539-47DB-9FFD-3CF8A94ED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000250"/>
            <a:ext cx="1619250" cy="104775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1B1D2E"/>
          </a:solidFill>
          <a:ln xmlns:a="http://schemas.openxmlformats.org/drawingml/2006/main" w="19050">
            <a:solidFill>
              <a:srgbClr val="2DD4A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4BACCF2-A242-47F5-B887-CD21EFB67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095500"/>
            <a:ext cx="1390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2DD4A7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2DD4A7"/>
                </a:solidFill>
                <a:latin typeface="Arial"/>
                <a:ea typeface="Arial"/>
                <a:cs typeface="Arial"/>
              </a:rPr>
              <a:t>Visible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700A4E4-110D-4755-9E92-322306B65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400300"/>
            <a:ext cx="13906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A7ACC2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A7ACC2"/>
                </a:solidFill>
                <a:latin typeface="Calibri"/>
                <a:ea typeface="Calibri"/>
                <a:cs typeface="Calibri"/>
              </a:rPr>
              <a:t>One request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78E4013-BB04-4E8B-9BC0-B4325B90C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4000500"/>
            <a:ext cx="1619250" cy="104775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1B1D2E"/>
          </a:solidFill>
          <a:ln xmlns:a="http://schemas.openxmlformats.org/drawingml/2006/main" w="19050">
            <a:solidFill>
              <a:srgbClr val="FF6B8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CED6678-4027-4DD2-9FF6-223843C10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4095750"/>
            <a:ext cx="1390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FF6B8A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FF6B8A"/>
                </a:solidFill>
                <a:latin typeface="Arial"/>
                <a:ea typeface="Arial"/>
                <a:cs typeface="Arial"/>
              </a:rPr>
              <a:t>Not visible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9AB05AB-C971-4FA5-8B79-3A975B4F3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4400550"/>
            <a:ext cx="13906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A7ACC2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A7ACC2"/>
                </a:solidFill>
                <a:latin typeface="Calibri"/>
                <a:ea typeface="Calibri"/>
                <a:cs typeface="Calibri"/>
              </a:rPr>
              <a:t>Other homes, vault, billing controls</a:t>
            </a:r>
          </a:p>
        </p:txBody>
      </p:sp>
      <p:cxnSp>
        <p:nvCxnSpPr>
          <p:cNvPr id="38" name=""/>
          <p:cNvCxnSpPr>
            <a:stCxn xmlns:a="http://schemas.openxmlformats.org/drawingml/2006/main" id="9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 flipV="1">
            <a:off x="8667750" y="2524125"/>
            <a:ext cx="1047750" cy="4762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DD4A7"/>
            </a:solidFill>
            <a:prstDash val="solid"/>
            <a:tailEnd type="arrow" w="sm" len="sm"/>
          </a:ln>
        </p:spPr>
      </p:cxnSp>
      <p:cxnSp>
        <p:nvCxnSpPr>
          <p:cNvPr id="39" name=""/>
          <p:cNvCxnSpPr>
            <a:stCxn xmlns:a="http://schemas.openxmlformats.org/drawingml/2006/main" id="9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8667750" y="3000375"/>
            <a:ext cx="1047750" cy="15240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FF6B8A"/>
            </a:solidFill>
            <a:prstDash val="dash"/>
          </a:ln>
        </p:spPr>
      </p:cxn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773ED29-F292-4B48-ABB8-6945D06C3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5476875"/>
            <a:ext cx="5334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F5B84B"/>
                </a:solidFill>
                <a:latin typeface="Calibri"/>
                <a:ea typeface="Calibri"/>
                <a:cs typeface="Calibri"/>
              </a:defRPr>
            </a:pPr>
            <a:r>
              <a:rPr sz="1500" b="1" i="0">
                <a:solidFill>
                  <a:srgbClr val="F5B84B"/>
                </a:solidFill>
                <a:latin typeface="Calibri"/>
                <a:ea typeface="Calibri"/>
                <a:cs typeface="Calibri"/>
              </a:rPr>
              <a:t>Owner can remove accepted access and the decision log records the change</a:t>
            </a:r>
          </a:p>
        </p:txBody>
      </p:sp>
    </p:spTree>
    <p:extLst>
      <p:ext uri="{BB962C8B-B14F-4D97-AF65-F5344CB8AC3E}">
        <p14:creationId xmlns:p14="http://schemas.microsoft.com/office/powerpoint/2010/main" val="121333791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E0F1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C7CEF1D-1BEE-47FF-9342-FCD1DC79B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4287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EC8F2">
              <a:alpha val="12549"/>
            </a:srgbClr>
          </a:solidFill>
          <a:ln xmlns:a="http://schemas.openxmlformats.org/drawingml/2006/main" w="9525">
            <a:solidFill>
              <a:srgbClr val="5EC8F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F48DF0-5923-4C0E-82B0-E3439152A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5EC8F2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5EC8F2"/>
                </a:solidFill>
                <a:latin typeface="Arial"/>
                <a:ea typeface="Arial"/>
                <a:cs typeface="Arial"/>
              </a:rPr>
              <a:t>ARCHITECTURE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64283B-0EB5-45F5-A01D-FF4CB3C8D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F1F2F8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F1F2F8"/>
                </a:solidFill>
                <a:latin typeface="Arial"/>
                <a:ea typeface="Arial"/>
                <a:cs typeface="Arial"/>
              </a:rPr>
              <a:t>System architecture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496741-5F8C-47FA-A16D-BF22B84F0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1">
                <a:solidFill>
                  <a:srgbClr val="A7ACC2"/>
                </a:solidFill>
                <a:latin typeface="Calibri"/>
                <a:ea typeface="Calibri"/>
                <a:cs typeface="Calibri"/>
              </a:defRPr>
            </a:pPr>
            <a:r>
              <a:rPr sz="1500" b="0" i="1">
                <a:solidFill>
                  <a:srgbClr val="A7ACC2"/>
                </a:solidFill>
                <a:latin typeface="Calibri"/>
                <a:ea typeface="Calibri"/>
                <a:cs typeface="Calibri"/>
              </a:rPr>
              <a:t>The browser talks to one Next.js application that owns the server boundary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16E921-9371-44F2-811E-BC9202325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38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737A99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737A99"/>
                </a:solidFill>
                <a:latin typeface="Arial"/>
                <a:ea typeface="Arial"/>
                <a:cs typeface="Arial"/>
              </a:rPr>
              <a:t>TURNFLOW HOME  •  SYSTEM GUIDE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51EC22-17A9-47B7-B799-C57D0CB10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737A99"/>
                </a:solidFill>
                <a:latin typeface="Courier New"/>
                <a:ea typeface="Courier New"/>
                <a:cs typeface="Courier New"/>
              </a:defRPr>
            </a:pPr>
            <a:r>
              <a:rPr sz="900" b="0" i="0">
                <a:solidFill>
                  <a:srgbClr val="737A99"/>
                </a:solidFill>
                <a:latin typeface="Courier New"/>
                <a:ea typeface="Courier New"/>
                <a:cs typeface="Courier New"/>
              </a:rPr>
              <a:t>11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878496-AA7F-49F7-BCB5-E6A04E2B0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0"/>
            <a:ext cx="1809750" cy="104775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1B1D2E"/>
          </a:solidFill>
          <a:ln xmlns:a="http://schemas.openxmlformats.org/drawingml/2006/main" w="19050">
            <a:solidFill>
              <a:srgbClr val="5EC8F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AA4FAC-A184-41B2-A43E-0A5887D4C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52750"/>
            <a:ext cx="1581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5EC8F2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5EC8F2"/>
                </a:solidFill>
                <a:latin typeface="Arial"/>
                <a:ea typeface="Arial"/>
                <a:cs typeface="Arial"/>
              </a:rPr>
              <a:t>Browser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5756B9-C5B5-4B37-B6C0-6920088CA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57550"/>
            <a:ext cx="15811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A7ACC2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A7ACC2"/>
                </a:solidFill>
                <a:latin typeface="Calibri"/>
                <a:ea typeface="Calibri"/>
                <a:cs typeface="Calibri"/>
              </a:rPr>
              <a:t>Server-rendered pages and interactive components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7BBFE7C-2845-4A05-8ADD-39C6BBCDC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381250"/>
            <a:ext cx="2476500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1B1D2E"/>
          </a:solidFill>
          <a:ln xmlns:a="http://schemas.openxmlformats.org/drawingml/2006/main" w="19050">
            <a:solidFill>
              <a:srgbClr val="8B7C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97EB5D7-C4AA-4F30-8E3C-8F74E0DD6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476500"/>
            <a:ext cx="2247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8B7CFF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8B7CFF"/>
                </a:solidFill>
                <a:latin typeface="Arial"/>
                <a:ea typeface="Arial"/>
                <a:cs typeface="Arial"/>
              </a:rPr>
              <a:t>Next.js 16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1305D48-D54D-4C22-B7C2-40009A0A8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781300"/>
            <a:ext cx="22479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A7ACC2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A7ACC2"/>
                </a:solidFill>
                <a:latin typeface="Calibri"/>
                <a:ea typeface="Calibri"/>
                <a:cs typeface="Calibri"/>
              </a:rPr>
              <a:t>App Router</a:t>
            </a:r>
          </a:p>
          <a:p xmlns:a="http://schemas.openxmlformats.org/drawingml/2006/main">
            <a:pPr algn="ctr">
              <a:defRPr sz="1125" b="0" i="0">
                <a:solidFill>
                  <a:srgbClr val="A7ACC2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A7ACC2"/>
                </a:solidFill>
                <a:latin typeface="Calibri"/>
                <a:ea typeface="Calibri"/>
                <a:cs typeface="Calibri"/>
              </a:rPr>
              <a:t>Server Components</a:t>
            </a:r>
          </a:p>
          <a:p xmlns:a="http://schemas.openxmlformats.org/drawingml/2006/main">
            <a:pPr algn="ctr">
              <a:defRPr sz="1125" b="0" i="0">
                <a:solidFill>
                  <a:srgbClr val="A7ACC2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A7ACC2"/>
                </a:solidFill>
                <a:latin typeface="Calibri"/>
                <a:ea typeface="Calibri"/>
                <a:cs typeface="Calibri"/>
              </a:rPr>
              <a:t>Server Actions</a:t>
            </a:r>
          </a:p>
          <a:p xmlns:a="http://schemas.openxmlformats.org/drawingml/2006/main">
            <a:pPr algn="ctr">
              <a:defRPr sz="1125" b="0" i="0">
                <a:solidFill>
                  <a:srgbClr val="A7ACC2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A7ACC2"/>
                </a:solidFill>
                <a:latin typeface="Calibri"/>
                <a:ea typeface="Calibri"/>
                <a:cs typeface="Calibri"/>
              </a:rPr>
              <a:t>Route Handlers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B51EC5A-3C78-477C-91C9-E12E06975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1143000"/>
            <a:ext cx="190500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1B1D2E"/>
          </a:solidFill>
          <a:ln xmlns:a="http://schemas.openxmlformats.org/drawingml/2006/main" w="19050">
            <a:solidFill>
              <a:srgbClr val="FF6B8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28A40D4-CFBD-4659-A19B-F650A22A3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1238250"/>
            <a:ext cx="1676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FF6B8A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FF6B8A"/>
                </a:solidFill>
                <a:latin typeface="Arial"/>
                <a:ea typeface="Arial"/>
                <a:cs typeface="Arial"/>
              </a:rPr>
              <a:t>Auth.js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099D97B-A3C9-4508-9DA9-A7FB5F32B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1543050"/>
            <a:ext cx="1676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A7ACC2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A7ACC2"/>
                </a:solidFill>
                <a:latin typeface="Calibri"/>
                <a:ea typeface="Calibri"/>
                <a:cs typeface="Calibri"/>
              </a:rPr>
              <a:t>Credentials and JWT session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FADD69F-BD7C-44D6-B4CB-72CB7C960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2762250"/>
            <a:ext cx="190500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1B1D2E"/>
          </a:solidFill>
          <a:ln xmlns:a="http://schemas.openxmlformats.org/drawingml/2006/main" w="19050">
            <a:solidFill>
              <a:srgbClr val="2DD4A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564A4B9-4F9E-49CC-BCF9-6FBCC991B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2857500"/>
            <a:ext cx="1676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2DD4A7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2DD4A7"/>
                </a:solidFill>
                <a:latin typeface="Arial"/>
                <a:ea typeface="Arial"/>
                <a:cs typeface="Arial"/>
              </a:rPr>
              <a:t>Neon Postgres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B186AF1-AC9D-4684-A2E1-521F6E055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3162300"/>
            <a:ext cx="1676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A7ACC2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A7ACC2"/>
                </a:solidFill>
                <a:latin typeface="Calibri"/>
                <a:ea typeface="Calibri"/>
                <a:cs typeface="Calibri"/>
              </a:rPr>
              <a:t>Drizzle schema and queries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9AAC0C7-15EE-4502-88D6-33AFEB817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4381500"/>
            <a:ext cx="190500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1B1D2E"/>
          </a:solidFill>
          <a:ln xmlns:a="http://schemas.openxmlformats.org/drawingml/2006/main" w="19050">
            <a:solidFill>
              <a:srgbClr val="5EC8F2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98A69A1-4FE2-4E5A-AD19-6F25508AE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4476750"/>
            <a:ext cx="1676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5EC8F2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5EC8F2"/>
                </a:solidFill>
                <a:latin typeface="Arial"/>
                <a:ea typeface="Arial"/>
                <a:cs typeface="Arial"/>
              </a:rPr>
              <a:t>Vercel Blob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02F2E83-78CF-4A82-B477-88C794D11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4781550"/>
            <a:ext cx="1676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A7ACC2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A7ACC2"/>
                </a:solidFill>
                <a:latin typeface="Calibri"/>
                <a:ea typeface="Calibri"/>
                <a:cs typeface="Calibri"/>
              </a:rPr>
              <a:t>Private proof and vault files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B43EE8C-D429-466D-9273-E97D30B41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762250"/>
            <a:ext cx="16192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1B1D2E"/>
          </a:solidFill>
          <a:ln xmlns:a="http://schemas.openxmlformats.org/drawingml/2006/main" w="19050">
            <a:solidFill>
              <a:srgbClr val="F5B84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936E29F-137F-4D5B-BFEC-909A258BF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2857500"/>
            <a:ext cx="1390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F5B84B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F5B84B"/>
                </a:solidFill>
                <a:latin typeface="Arial"/>
                <a:ea typeface="Arial"/>
                <a:cs typeface="Arial"/>
              </a:rPr>
              <a:t>Resend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888FD2E-6FF3-48F6-B87E-8CDAB9312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3162300"/>
            <a:ext cx="13906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A7ACC2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A7ACC2"/>
                </a:solidFill>
                <a:latin typeface="Calibri"/>
                <a:ea typeface="Calibri"/>
                <a:cs typeface="Calibri"/>
              </a:rPr>
              <a:t>Optional delivery plus log</a:t>
            </a:r>
          </a:p>
        </p:txBody>
      </p:sp>
      <p:cxnSp>
        <p:nvCxnSpPr>
          <p:cNvPr id="55" name=""/>
          <p:cNvCxnSpPr>
            <a:stCxn xmlns:a="http://schemas.openxmlformats.org/drawingml/2006/main" id="7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2381250" y="3381375"/>
            <a:ext cx="1047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37A99"/>
            </a:solidFill>
            <a:prstDash val="solid"/>
            <a:tailEnd type="arrow" w="sm" len="sm"/>
          </a:ln>
        </p:spPr>
      </p:cxnSp>
      <p:cxnSp>
        <p:nvCxnSpPr>
          <p:cNvPr id="56" name=""/>
          <p:cNvCxnSpPr>
            <a:stCxn xmlns:a="http://schemas.openxmlformats.org/drawingml/2006/main" id="10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 flipV="1">
            <a:off x="5905500" y="1619250"/>
            <a:ext cx="1190625" cy="17621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FF6B8A"/>
            </a:solidFill>
            <a:prstDash val="solid"/>
            <a:tailEnd type="arrow" w="sm" len="sm"/>
          </a:ln>
        </p:spPr>
      </p:cxnSp>
      <p:cxnSp>
        <p:nvCxnSpPr>
          <p:cNvPr id="57" name=""/>
          <p:cNvCxnSpPr>
            <a:stCxn xmlns:a="http://schemas.openxmlformats.org/drawingml/2006/main" id="10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 flipV="1">
            <a:off x="5905500" y="3238500"/>
            <a:ext cx="1190625" cy="1428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DD4A7"/>
            </a:solidFill>
            <a:prstDash val="solid"/>
            <a:tailEnd type="arrow" w="sm" len="sm"/>
          </a:ln>
        </p:spPr>
      </p:cxnSp>
      <p:cxnSp>
        <p:nvCxnSpPr>
          <p:cNvPr id="58" name=""/>
          <p:cNvCxnSpPr>
            <a:stCxn xmlns:a="http://schemas.openxmlformats.org/drawingml/2006/main" id="10" idx="3"/>
            <a:endCxn xmlns:a="http://schemas.openxmlformats.org/drawingml/2006/main" id="19" idx="1"/>
          </p:cNvCxnSpPr>
          <p:nvPr/>
        </p:nvCxnSpPr>
        <p:spPr>
          <a:xfrm xmlns:a="http://schemas.openxmlformats.org/drawingml/2006/main">
            <a:off x="5905500" y="3381375"/>
            <a:ext cx="1190625" cy="14763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5EC8F2"/>
            </a:solidFill>
            <a:prstDash val="solid"/>
            <a:tailEnd type="arrow" w="sm" len="sm"/>
          </a:ln>
        </p:spPr>
      </p:cxnSp>
      <p:cxnSp>
        <p:nvCxnSpPr>
          <p:cNvPr id="59" name=""/>
          <p:cNvCxnSpPr>
            <a:stCxn xmlns:a="http://schemas.openxmlformats.org/drawingml/2006/main" id="10" idx="3"/>
            <a:endCxn xmlns:a="http://schemas.openxmlformats.org/drawingml/2006/main" id="22" idx="1"/>
          </p:cNvCxnSpPr>
          <p:nvPr/>
        </p:nvCxnSpPr>
        <p:spPr>
          <a:xfrm xmlns:a="http://schemas.openxmlformats.org/drawingml/2006/main" flipV="1">
            <a:off x="5905500" y="3238500"/>
            <a:ext cx="4000500" cy="590550"/>
          </a:xfrm>
          <a:prstGeom xmlns:a="http://schemas.openxmlformats.org/drawingml/2006/main" prst="bentConnector4">
            <a:avLst/>
          </a:prstGeom>
          <a:ln xmlns:a="http://schemas.openxmlformats.org/drawingml/2006/main" w="19050">
            <a:solidFill>
              <a:srgbClr val="F5B84B"/>
            </a:solidFill>
            <a:prstDash val="solid"/>
            <a:tailEnd type="arrow" w="sm" len="sm"/>
          </a:ln>
        </p:spPr>
      </p:cxn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9660E27-15BE-464D-A1D3-6E7238437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561975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 i="0">
                <a:solidFill>
                  <a:srgbClr val="A7ACC2"/>
                </a:solidFill>
                <a:latin typeface="Calibri"/>
                <a:ea typeface="Calibri"/>
                <a:cs typeface="Calibri"/>
              </a:defRPr>
            </a:pPr>
            <a:r>
              <a:rPr sz="1500" b="0" i="0">
                <a:solidFill>
                  <a:srgbClr val="A7ACC2"/>
                </a:solidFill>
                <a:latin typeface="Calibri"/>
                <a:ea typeface="Calibri"/>
                <a:cs typeface="Calibri"/>
              </a:rPr>
              <a:t>Vercel hosts the app and invokes the daily reminder cron</a:t>
            </a:r>
          </a:p>
        </p:txBody>
      </p:sp>
    </p:spTree>
    <p:extLst>
      <p:ext uri="{BB962C8B-B14F-4D97-AF65-F5344CB8AC3E}">
        <p14:creationId xmlns:p14="http://schemas.microsoft.com/office/powerpoint/2010/main" val="13321413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E0F1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9D16C92-10FE-4B17-970C-A9A49791F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4287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EC8F2">
              <a:alpha val="12549"/>
            </a:srgbClr>
          </a:solidFill>
          <a:ln xmlns:a="http://schemas.openxmlformats.org/drawingml/2006/main" w="9525">
            <a:solidFill>
              <a:srgbClr val="5EC8F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BAB418-CF2A-4545-9F4E-F3AED121E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5EC8F2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5EC8F2"/>
                </a:solidFill>
                <a:latin typeface="Arial"/>
                <a:ea typeface="Arial"/>
                <a:cs typeface="Arial"/>
              </a:rPr>
              <a:t>ARCHITECTURE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1793AE-0519-4FAF-819B-70AD49E1F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F1F2F8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F1F2F8"/>
                </a:solidFill>
                <a:latin typeface="Arial"/>
                <a:ea typeface="Arial"/>
                <a:cs typeface="Arial"/>
              </a:rPr>
              <a:t>One mutation from click to durable history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F13B3F-F0C1-4AC8-935A-83676A13E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1">
                <a:solidFill>
                  <a:srgbClr val="A7ACC2"/>
                </a:solidFill>
                <a:latin typeface="Calibri"/>
                <a:ea typeface="Calibri"/>
                <a:cs typeface="Calibri"/>
              </a:defRPr>
            </a:pPr>
            <a:r>
              <a:rPr sz="1500" b="0" i="1">
                <a:solidFill>
                  <a:srgbClr val="A7ACC2"/>
                </a:solidFill>
                <a:latin typeface="Calibri"/>
                <a:ea typeface="Calibri"/>
                <a:cs typeface="Calibri"/>
              </a:rPr>
              <a:t>Every important write repeats identity, record authorization, validation, and audit work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CFC646-3386-49D6-8759-B79102879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38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737A99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737A99"/>
                </a:solidFill>
                <a:latin typeface="Arial"/>
                <a:ea typeface="Arial"/>
                <a:cs typeface="Arial"/>
              </a:rPr>
              <a:t>TURNFLOW HOME  •  SYSTEM GUIDE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D218AD-E993-47CF-80C9-BE0601922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737A99"/>
                </a:solidFill>
                <a:latin typeface="Courier New"/>
                <a:ea typeface="Courier New"/>
                <a:cs typeface="Courier New"/>
              </a:defRPr>
            </a:pPr>
            <a:r>
              <a:rPr sz="900" b="0" i="0">
                <a:solidFill>
                  <a:srgbClr val="737A99"/>
                </a:solidFill>
                <a:latin typeface="Courier New"/>
                <a:ea typeface="Courier New"/>
                <a:cs typeface="Courier New"/>
              </a:rPr>
              <a:t>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4B42A1-29D6-4156-B319-921212235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095500"/>
            <a:ext cx="142875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1B1D2E"/>
          </a:solidFill>
          <a:ln xmlns:a="http://schemas.openxmlformats.org/drawingml/2006/main" w="19050">
            <a:solidFill>
              <a:srgbClr val="5EC8F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6C4D54-061A-4323-ACFC-FC33B5C88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90750"/>
            <a:ext cx="1200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5EC8F2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5EC8F2"/>
                </a:solidFill>
                <a:latin typeface="Arial"/>
                <a:ea typeface="Arial"/>
                <a:cs typeface="Arial"/>
              </a:rPr>
              <a:t>Component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0A11AD4-98AD-4042-8CD7-275D8F19E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095500"/>
            <a:ext cx="142875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1B1D2E"/>
          </a:solidFill>
          <a:ln xmlns:a="http://schemas.openxmlformats.org/drawingml/2006/main" w="19050">
            <a:solidFill>
              <a:srgbClr val="8B7C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EAEBA13-0844-4969-91FD-5683AED3F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190750"/>
            <a:ext cx="1200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8B7CFF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8B7CFF"/>
                </a:solidFill>
                <a:latin typeface="Arial"/>
                <a:ea typeface="Arial"/>
                <a:cs typeface="Arial"/>
              </a:rPr>
              <a:t>Server Action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B3036DB-9316-4109-8D9F-FE831D193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95500"/>
            <a:ext cx="142875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1B1D2E"/>
          </a:solidFill>
          <a:ln xmlns:a="http://schemas.openxmlformats.org/drawingml/2006/main" w="19050">
            <a:solidFill>
              <a:srgbClr val="FF6B8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DBDE08F-81D5-4C6B-89C2-102698FE8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190750"/>
            <a:ext cx="1200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1181"/>
          </a:bodyPr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FF6B8A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FF6B8A"/>
                </a:solidFill>
                <a:latin typeface="Arial"/>
                <a:ea typeface="Arial"/>
                <a:cs typeface="Arial"/>
              </a:rPr>
              <a:t>DAL and policy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FD81AEA-976D-45D9-ADD6-2E6D488FD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095500"/>
            <a:ext cx="142875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1B1D2E"/>
          </a:solidFill>
          <a:ln xmlns:a="http://schemas.openxmlformats.org/drawingml/2006/main" w="19050">
            <a:solidFill>
              <a:srgbClr val="2DD4A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2793C03-3224-4BE1-84DD-A6E4900EC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190750"/>
            <a:ext cx="1200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2DD4A7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2DD4A7"/>
                </a:solidFill>
                <a:latin typeface="Arial"/>
                <a:ea typeface="Arial"/>
                <a:cs typeface="Arial"/>
              </a:rPr>
              <a:t>Drizzle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44DB9E9-3873-4055-B47C-D66DF592F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095500"/>
            <a:ext cx="142875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1B1D2E"/>
          </a:solidFill>
          <a:ln xmlns:a="http://schemas.openxmlformats.org/drawingml/2006/main" w="19050">
            <a:solidFill>
              <a:srgbClr val="2DD4A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D5C377F-6B62-428D-8886-F04837F99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175" y="2190750"/>
            <a:ext cx="1200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2DD4A7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2DD4A7"/>
                </a:solidFill>
                <a:latin typeface="Arial"/>
                <a:ea typeface="Arial"/>
                <a:cs typeface="Arial"/>
              </a:rPr>
              <a:t>Postgres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3384C0D-00EB-4873-8332-929834DCE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095500"/>
            <a:ext cx="142875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1B1D2E"/>
          </a:solidFill>
          <a:ln xmlns:a="http://schemas.openxmlformats.org/drawingml/2006/main" w="19050">
            <a:solidFill>
              <a:srgbClr val="F5B84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983F779-20DA-4DCA-A3B9-E2731A43D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2190750"/>
            <a:ext cx="1200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F5B84B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F5B84B"/>
                </a:solidFill>
                <a:latin typeface="Arial"/>
                <a:ea typeface="Arial"/>
                <a:cs typeface="Arial"/>
              </a:rPr>
              <a:t>Side effects</a:t>
            </a:r>
          </a:p>
        </p:txBody>
      </p:sp>
      <p:cxnSp>
        <p:nvCxnSpPr>
          <p:cNvPr id="50" name=""/>
          <p:cNvCxnSpPr>
            <a:stCxn xmlns:a="http://schemas.openxmlformats.org/drawingml/2006/main" id="7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1905000" y="241935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8B7CFF"/>
            </a:solidFill>
            <a:prstDash val="solid"/>
            <a:tailEnd type="arrow" w="sm" len="sm"/>
          </a:ln>
        </p:spPr>
      </p:cxn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1F0AE89-593B-42ED-9918-3F0E7C0CE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000375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A7ACC2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A7ACC2"/>
                </a:solidFill>
                <a:latin typeface="Calibri"/>
                <a:ea typeface="Calibri"/>
                <a:cs typeface="Calibri"/>
              </a:rPr>
              <a:t>submit</a:t>
            </a:r>
          </a:p>
        </p:txBody>
      </p:sp>
      <p:cxnSp>
        <p:nvCxnSpPr>
          <p:cNvPr id="52" name=""/>
          <p:cNvCxnSpPr>
            <a:stCxn xmlns:a="http://schemas.openxmlformats.org/drawingml/2006/main" id="9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3810000" y="2419350"/>
            <a:ext cx="666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F6B8A"/>
            </a:solidFill>
            <a:prstDash val="solid"/>
            <a:tailEnd type="arrow" w="sm" len="sm"/>
          </a:ln>
        </p:spPr>
      </p:cxn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1064010-A746-4F20-890D-C3D7AABF7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476625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A7ACC2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A7ACC2"/>
                </a:solidFill>
                <a:latin typeface="Calibri"/>
                <a:ea typeface="Calibri"/>
                <a:cs typeface="Calibri"/>
              </a:rPr>
              <a:t>session + role</a:t>
            </a:r>
          </a:p>
        </p:txBody>
      </p:sp>
      <p:cxnSp>
        <p:nvCxnSpPr>
          <p:cNvPr id="54" name=""/>
          <p:cNvCxnSpPr>
            <a:stCxn xmlns:a="http://schemas.openxmlformats.org/drawingml/2006/main" id="11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5905500" y="2419350"/>
            <a:ext cx="666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DD4A7"/>
            </a:solidFill>
            <a:prstDash val="solid"/>
            <a:tailEnd type="arrow" w="sm" len="sm"/>
          </a:ln>
        </p:spPr>
      </p:cxn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921CC71-AEFD-407F-B1B0-A0BE8F564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000375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A7ACC2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A7ACC2"/>
                </a:solidFill>
                <a:latin typeface="Calibri"/>
                <a:ea typeface="Calibri"/>
                <a:cs typeface="Calibri"/>
              </a:rPr>
              <a:t>authorized input</a:t>
            </a:r>
          </a:p>
        </p:txBody>
      </p:sp>
      <p:cxnSp>
        <p:nvCxnSpPr>
          <p:cNvPr id="56" name=""/>
          <p:cNvCxnSpPr>
            <a:stCxn xmlns:a="http://schemas.openxmlformats.org/drawingml/2006/main" id="13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8001000" y="2419350"/>
            <a:ext cx="5238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DD4A7"/>
            </a:solidFill>
            <a:prstDash val="solid"/>
            <a:tailEnd type="arrow" w="sm" len="sm"/>
          </a:ln>
        </p:spPr>
      </p:cxn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E4042C1-7836-474D-84B4-CD0E6B11B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2813" y="3476625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A7ACC2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A7ACC2"/>
                </a:solidFill>
                <a:latin typeface="Calibri"/>
                <a:ea typeface="Calibri"/>
                <a:cs typeface="Calibri"/>
              </a:rPr>
              <a:t>database write</a:t>
            </a:r>
          </a:p>
        </p:txBody>
      </p:sp>
      <p:cxnSp>
        <p:nvCxnSpPr>
          <p:cNvPr id="58" name=""/>
          <p:cNvCxnSpPr>
            <a:stCxn xmlns:a="http://schemas.openxmlformats.org/drawingml/2006/main" id="15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9953625" y="2419350"/>
            <a:ext cx="3333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5B84B"/>
            </a:solidFill>
            <a:prstDash val="solid"/>
            <a:tailEnd type="arrow" w="sm" len="sm"/>
          </a:ln>
        </p:spPr>
      </p:cxn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4BB621B-F23B-4B34-8611-6A4BF001F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0188" y="3000375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A7ACC2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A7ACC2"/>
                </a:solidFill>
                <a:latin typeface="Calibri"/>
                <a:ea typeface="Calibri"/>
                <a:cs typeface="Calibri"/>
              </a:rPr>
              <a:t>log, email, revalidate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ABAE0A0-751F-4624-A7F8-F0446AE7E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572000"/>
            <a:ext cx="895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5367"/>
          </a:bodyPr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F1F2F8"/>
                </a:solidFill>
                <a:latin typeface="Calibri"/>
                <a:ea typeface="Calibri"/>
                <a:cs typeface="Calibri"/>
              </a:defRPr>
            </a:pPr>
            <a:r>
              <a:rPr sz="1950" b="1" i="0">
                <a:solidFill>
                  <a:srgbClr val="F1F2F8"/>
                </a:solidFill>
                <a:latin typeface="Calibri"/>
                <a:ea typeface="Calibri"/>
                <a:cs typeface="Calibri"/>
              </a:rPr>
              <a:t>The page-level role check improves UX. The action-level ownership check protects the data.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5C159DE-89C0-4C68-AB37-F085369F1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5429250"/>
            <a:ext cx="29527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6B8A">
              <a:alpha val="12549"/>
            </a:srgbClr>
          </a:solidFill>
          <a:ln xmlns:a="http://schemas.openxmlformats.org/drawingml/2006/main" w="9525">
            <a:solidFill>
              <a:srgbClr val="FF6B8A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B2E5B66-2EB3-4EA7-97CA-D9CA4C47A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5438775"/>
            <a:ext cx="2952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6B8A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FF6B8A"/>
                </a:solidFill>
                <a:latin typeface="Arial"/>
                <a:ea typeface="Arial"/>
                <a:cs typeface="Arial"/>
              </a:rPr>
              <a:t>NEXT.JS SECURITY RULE</a:t>
            </a:r>
          </a:p>
        </p:txBody>
      </p:sp>
    </p:spTree>
    <p:extLst>
      <p:ext uri="{BB962C8B-B14F-4D97-AF65-F5344CB8AC3E}">
        <p14:creationId xmlns:p14="http://schemas.microsoft.com/office/powerpoint/2010/main" val="152160336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E0F1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DC4344E-5B2E-4906-A06E-1A6495F24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4287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B84B">
              <a:alpha val="12549"/>
            </a:srgbClr>
          </a:solidFill>
          <a:ln xmlns:a="http://schemas.openxmlformats.org/drawingml/2006/main" w="9525">
            <a:solidFill>
              <a:srgbClr val="F5B84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84ED9D-FBEE-4778-9CEC-9A93FF0F3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5B84B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F5B84B"/>
                </a:solidFill>
                <a:latin typeface="Arial"/>
                <a:ea typeface="Arial"/>
                <a:cs typeface="Arial"/>
              </a:rPr>
              <a:t>CODE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0C872B-383B-4993-93BF-3E7D025D0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F1F2F8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F1F2F8"/>
                </a:solidFill>
                <a:latin typeface="Arial"/>
                <a:ea typeface="Arial"/>
                <a:cs typeface="Arial"/>
              </a:rPr>
              <a:t>Repository map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A10BA1-D869-4009-A034-38B75DAC6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1">
                <a:solidFill>
                  <a:srgbClr val="A7ACC2"/>
                </a:solidFill>
                <a:latin typeface="Calibri"/>
                <a:ea typeface="Calibri"/>
                <a:cs typeface="Calibri"/>
              </a:defRPr>
            </a:pPr>
            <a:r>
              <a:rPr sz="1500" b="0" i="1">
                <a:solidFill>
                  <a:srgbClr val="A7ACC2"/>
                </a:solidFill>
                <a:latin typeface="Calibri"/>
                <a:ea typeface="Calibri"/>
                <a:cs typeface="Calibri"/>
              </a:rPr>
              <a:t>The code is organized by delivery boundary, then by workflow helpers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9F414F-0D00-4494-BEB9-968AC862D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38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737A99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737A99"/>
                </a:solidFill>
                <a:latin typeface="Arial"/>
                <a:ea typeface="Arial"/>
                <a:cs typeface="Arial"/>
              </a:rPr>
              <a:t>TURNFLOW HOME  •  SYSTEM GUIDE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F7FA49-CF2A-4DE7-AB40-D4FFA6603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737A99"/>
                </a:solidFill>
                <a:latin typeface="Courier New"/>
                <a:ea typeface="Courier New"/>
                <a:cs typeface="Courier New"/>
              </a:defRPr>
            </a:pPr>
            <a:r>
              <a:rPr sz="900" b="0" i="0">
                <a:solidFill>
                  <a:srgbClr val="737A99"/>
                </a:solidFill>
                <a:latin typeface="Courier New"/>
                <a:ea typeface="Courier New"/>
                <a:cs typeface="Courier New"/>
              </a:rPr>
              <a:t>13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928806-DBCC-48C7-857E-760390193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2095500"/>
            <a:ext cx="238125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1B1D2E"/>
          </a:solidFill>
          <a:ln xmlns:a="http://schemas.openxmlformats.org/drawingml/2006/main" w="19050">
            <a:solidFill>
              <a:srgbClr val="F5B84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6CE050-7D97-4D03-8F84-24D619F99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2190750"/>
            <a:ext cx="2152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F5B84B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F5B84B"/>
                </a:solidFill>
                <a:latin typeface="Arial"/>
                <a:ea typeface="Arial"/>
                <a:cs typeface="Arial"/>
              </a:rPr>
              <a:t>turnflow-home-main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92652C-3699-48F5-B01D-4305D4416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2495550"/>
            <a:ext cx="2152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A7ACC2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A7ACC2"/>
                </a:solidFill>
                <a:latin typeface="Calibri"/>
                <a:ea typeface="Calibri"/>
                <a:cs typeface="Calibri"/>
              </a:rPr>
              <a:t>Next.js application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30300F5-1E59-4035-B534-EC8E0502E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10000"/>
            <a:ext cx="17145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1B1D2E"/>
          </a:solidFill>
          <a:ln xmlns:a="http://schemas.openxmlformats.org/drawingml/2006/main" w="19050">
            <a:solidFill>
              <a:srgbClr val="8B7C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47B77B7-7936-41D2-874A-1E2FE8B7C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905250"/>
            <a:ext cx="1485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8B7CFF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8B7CFF"/>
                </a:solidFill>
                <a:latin typeface="Arial"/>
                <a:ea typeface="Arial"/>
                <a:cs typeface="Arial"/>
              </a:rPr>
              <a:t>app/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6F3DD61-F1FD-4324-ADBD-17668BF75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210050"/>
            <a:ext cx="1485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A7ACC2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A7ACC2"/>
                </a:solidFill>
                <a:latin typeface="Calibri"/>
                <a:ea typeface="Calibri"/>
                <a:cs typeface="Calibri"/>
              </a:rPr>
              <a:t>Routes, pages, APIs</a:t>
            </a:r>
          </a:p>
        </p:txBody>
      </p:sp>
      <p:cxnSp>
        <p:nvCxnSpPr>
          <p:cNvPr id="43" name=""/>
          <p:cNvCxnSpPr>
            <a:stCxn xmlns:a="http://schemas.openxmlformats.org/drawingml/2006/main" id="7" idx="2"/>
            <a:endCxn xmlns:a="http://schemas.openxmlformats.org/drawingml/2006/main" id="10" idx="0"/>
          </p:cNvCxnSpPr>
          <p:nvPr/>
        </p:nvCxnSpPr>
        <p:spPr>
          <a:xfrm xmlns:a="http://schemas.openxmlformats.org/drawingml/2006/main" flipH="1">
            <a:off x="1714500" y="2914650"/>
            <a:ext cx="4381500" cy="8953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8B7CFF"/>
            </a:solidFill>
            <a:prstDash val="solid"/>
            <a:tailEnd type="arrow" w="sm" len="sm"/>
          </a:ln>
        </p:spPr>
      </p:cxn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8A6703B-0344-4A77-A823-722AE340A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810000"/>
            <a:ext cx="17145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1B1D2E"/>
          </a:solidFill>
          <a:ln xmlns:a="http://schemas.openxmlformats.org/drawingml/2006/main" w="19050">
            <a:solidFill>
              <a:srgbClr val="5EC8F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08DE1F6-AA89-4A0B-964B-91D89F739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905250"/>
            <a:ext cx="1485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5EC8F2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5EC8F2"/>
                </a:solidFill>
                <a:latin typeface="Arial"/>
                <a:ea typeface="Arial"/>
                <a:cs typeface="Arial"/>
              </a:rPr>
              <a:t>components/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4365E36-AAB1-41F9-8A93-B4BBBF95D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4210050"/>
            <a:ext cx="1485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A7ACC2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A7ACC2"/>
                </a:solidFill>
                <a:latin typeface="Calibri"/>
                <a:ea typeface="Calibri"/>
                <a:cs typeface="Calibri"/>
              </a:rPr>
              <a:t>Interactive workflow UI</a:t>
            </a:r>
          </a:p>
        </p:txBody>
      </p:sp>
      <p:cxnSp>
        <p:nvCxnSpPr>
          <p:cNvPr id="47" name=""/>
          <p:cNvCxnSpPr>
            <a:stCxn xmlns:a="http://schemas.openxmlformats.org/drawingml/2006/main" id="7" idx="2"/>
            <a:endCxn xmlns:a="http://schemas.openxmlformats.org/drawingml/2006/main" id="14" idx="0"/>
          </p:cNvCxnSpPr>
          <p:nvPr/>
        </p:nvCxnSpPr>
        <p:spPr>
          <a:xfrm xmlns:a="http://schemas.openxmlformats.org/drawingml/2006/main" flipH="1">
            <a:off x="3905250" y="2914650"/>
            <a:ext cx="2190750" cy="8953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5EC8F2"/>
            </a:solidFill>
            <a:prstDash val="solid"/>
            <a:tailEnd type="arrow" w="sm" len="sm"/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5BC6CBC-4F1A-4BBB-8495-61540FABE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810000"/>
            <a:ext cx="17145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1B1D2E"/>
          </a:solidFill>
          <a:ln xmlns:a="http://schemas.openxmlformats.org/drawingml/2006/main" w="19050">
            <a:solidFill>
              <a:srgbClr val="FF6B8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185EC8E-2611-43DC-A3A8-500F80DF3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3905250"/>
            <a:ext cx="1485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FF6B8A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FF6B8A"/>
                </a:solidFill>
                <a:latin typeface="Arial"/>
                <a:ea typeface="Arial"/>
                <a:cs typeface="Arial"/>
              </a:rPr>
              <a:t>lib/actions/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8E9D498-1512-48A3-BFE9-FBA270026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4210050"/>
            <a:ext cx="1485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A7ACC2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A7ACC2"/>
                </a:solidFill>
                <a:latin typeface="Calibri"/>
                <a:ea typeface="Calibri"/>
                <a:cs typeface="Calibri"/>
              </a:rPr>
              <a:t>Authorized mutations</a:t>
            </a:r>
          </a:p>
        </p:txBody>
      </p:sp>
      <p:cxnSp>
        <p:nvCxnSpPr>
          <p:cNvPr id="51" name=""/>
          <p:cNvCxnSpPr>
            <a:stCxn xmlns:a="http://schemas.openxmlformats.org/drawingml/2006/main" id="7" idx="2"/>
            <a:endCxn xmlns:a="http://schemas.openxmlformats.org/drawingml/2006/main" id="18" idx="0"/>
          </p:cNvCxnSpPr>
          <p:nvPr/>
        </p:nvCxnSpPr>
        <p:spPr>
          <a:xfrm xmlns:a="http://schemas.openxmlformats.org/drawingml/2006/main">
            <a:off x="6096000" y="2914650"/>
            <a:ext cx="0" cy="8953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F6B8A"/>
            </a:solidFill>
            <a:prstDash val="solid"/>
            <a:tailEnd type="arrow" w="sm" len="sm"/>
          </a:ln>
        </p:spPr>
      </p:cxn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C2AE826-45CA-412A-AC57-30046536F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810000"/>
            <a:ext cx="17145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1B1D2E"/>
          </a:solidFill>
          <a:ln xmlns:a="http://schemas.openxmlformats.org/drawingml/2006/main" w="19050">
            <a:solidFill>
              <a:srgbClr val="2DD4A7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98EFEFC-475E-4B15-9B06-547E78287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905250"/>
            <a:ext cx="1485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2DD4A7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2DD4A7"/>
                </a:solidFill>
                <a:latin typeface="Arial"/>
                <a:ea typeface="Arial"/>
                <a:cs typeface="Arial"/>
              </a:rPr>
              <a:t>lib/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6D2A3E0-9411-4671-BE72-4DDD9CCE5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4210050"/>
            <a:ext cx="1485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A7ACC2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A7ACC2"/>
                </a:solidFill>
                <a:latin typeface="Calibri"/>
                <a:ea typeface="Calibri"/>
                <a:cs typeface="Calibri"/>
              </a:rPr>
              <a:t>Policy and guidance</a:t>
            </a:r>
          </a:p>
        </p:txBody>
      </p:sp>
      <p:cxnSp>
        <p:nvCxnSpPr>
          <p:cNvPr id="55" name=""/>
          <p:cNvCxnSpPr>
            <a:stCxn xmlns:a="http://schemas.openxmlformats.org/drawingml/2006/main" id="7" idx="2"/>
            <a:endCxn xmlns:a="http://schemas.openxmlformats.org/drawingml/2006/main" id="22" idx="0"/>
          </p:cNvCxnSpPr>
          <p:nvPr/>
        </p:nvCxnSpPr>
        <p:spPr>
          <a:xfrm xmlns:a="http://schemas.openxmlformats.org/drawingml/2006/main">
            <a:off x="6096000" y="2914650"/>
            <a:ext cx="2190750" cy="8953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2DD4A7"/>
            </a:solidFill>
            <a:prstDash val="solid"/>
            <a:tailEnd type="arrow" w="sm" len="sm"/>
          </a:ln>
        </p:spPr>
      </p:cxn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5AF018F-B945-485F-AF15-7EC063AF9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810000"/>
            <a:ext cx="17145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1B1D2E"/>
          </a:solidFill>
          <a:ln xmlns:a="http://schemas.openxmlformats.org/drawingml/2006/main" w="19050">
            <a:solidFill>
              <a:srgbClr val="F5B84B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278E5AA-4403-4C3D-92F3-A81446CFE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3905250"/>
            <a:ext cx="1485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F5B84B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F5B84B"/>
                </a:solidFill>
                <a:latin typeface="Arial"/>
                <a:ea typeface="Arial"/>
                <a:cs typeface="Arial"/>
              </a:rPr>
              <a:t>drizzle/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967F26B-23A6-426F-9B6C-202631B30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4210050"/>
            <a:ext cx="1485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A7ACC2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A7ACC2"/>
                </a:solidFill>
                <a:latin typeface="Calibri"/>
                <a:ea typeface="Calibri"/>
                <a:cs typeface="Calibri"/>
              </a:rPr>
              <a:t>Schema migrations</a:t>
            </a:r>
          </a:p>
        </p:txBody>
      </p:sp>
      <p:cxnSp>
        <p:nvCxnSpPr>
          <p:cNvPr id="59" name=""/>
          <p:cNvCxnSpPr>
            <a:stCxn xmlns:a="http://schemas.openxmlformats.org/drawingml/2006/main" id="7" idx="2"/>
            <a:endCxn xmlns:a="http://schemas.openxmlformats.org/drawingml/2006/main" id="26" idx="0"/>
          </p:cNvCxnSpPr>
          <p:nvPr/>
        </p:nvCxnSpPr>
        <p:spPr>
          <a:xfrm xmlns:a="http://schemas.openxmlformats.org/drawingml/2006/main">
            <a:off x="6096000" y="2914650"/>
            <a:ext cx="4381500" cy="8953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F5B84B"/>
            </a:solidFill>
            <a:prstDash val="solid"/>
            <a:tailEnd type="arrow" w="sm" len="sm"/>
          </a:ln>
        </p:spPr>
      </p:cxn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48FFFCE-BBDD-4156-BCAA-5A730C224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476875"/>
            <a:ext cx="8191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0" i="0">
                <a:solidFill>
                  <a:srgbClr val="A7ACC2"/>
                </a:solidFill>
                <a:latin typeface="Calibri"/>
                <a:ea typeface="Calibri"/>
                <a:cs typeface="Calibri"/>
              </a:defRPr>
            </a:pPr>
            <a:r>
              <a:rPr sz="1650" b="0" i="0">
                <a:solidFill>
                  <a:srgbClr val="A7ACC2"/>
                </a:solidFill>
                <a:latin typeface="Calibri"/>
                <a:ea typeface="Calibri"/>
                <a:cs typeface="Calibri"/>
              </a:rPr>
              <a:t>Tests mirror the pure policy helpers. Scripts exercise real browser and deployment flows.</a:t>
            </a:r>
          </a:p>
        </p:txBody>
      </p:sp>
    </p:spTree>
    <p:extLst>
      <p:ext uri="{BB962C8B-B14F-4D97-AF65-F5344CB8AC3E}">
        <p14:creationId xmlns:p14="http://schemas.microsoft.com/office/powerpoint/2010/main" val="200041992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E0F1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EB28BE68-9DCE-439C-8BB8-D95830E80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4287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B84B">
              <a:alpha val="12549"/>
            </a:srgbClr>
          </a:solidFill>
          <a:ln xmlns:a="http://schemas.openxmlformats.org/drawingml/2006/main" w="9525">
            <a:solidFill>
              <a:srgbClr val="F5B84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C7FB93-0249-41E7-9D64-0F34FF909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5B84B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F5B84B"/>
                </a:solidFill>
                <a:latin typeface="Arial"/>
                <a:ea typeface="Arial"/>
                <a:cs typeface="Arial"/>
              </a:rPr>
              <a:t>CODE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ACE1EC-9136-4D74-A7BA-94A3A7964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F1F2F8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F1F2F8"/>
                </a:solidFill>
                <a:latin typeface="Arial"/>
                <a:ea typeface="Arial"/>
                <a:cs typeface="Arial"/>
              </a:rPr>
              <a:t>Frontend to backend mapping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2FB1A2-3904-4C58-A009-FF6A025D4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1">
                <a:solidFill>
                  <a:srgbClr val="A7ACC2"/>
                </a:solidFill>
                <a:latin typeface="Calibri"/>
                <a:ea typeface="Calibri"/>
                <a:cs typeface="Calibri"/>
              </a:defRPr>
            </a:pPr>
            <a:r>
              <a:rPr sz="1500" b="0" i="1">
                <a:solidFill>
                  <a:srgbClr val="A7ACC2"/>
                </a:solidFill>
                <a:latin typeface="Calibri"/>
                <a:ea typeface="Calibri"/>
                <a:cs typeface="Calibri"/>
              </a:rPr>
              <a:t>Routes compose workflow components. Components call narrowly scoped actions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3EE6FD-0047-44D9-B6BE-C32DFFFC1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38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737A99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737A99"/>
                </a:solidFill>
                <a:latin typeface="Arial"/>
                <a:ea typeface="Arial"/>
                <a:cs typeface="Arial"/>
              </a:rPr>
              <a:t>TURNFLOW HOME  •  SYSTEM GUIDE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89EE89-48B1-4C2E-8EC7-F4A150697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737A99"/>
                </a:solidFill>
                <a:latin typeface="Courier New"/>
                <a:ea typeface="Courier New"/>
                <a:cs typeface="Courier New"/>
              </a:defRPr>
            </a:pPr>
            <a:r>
              <a:rPr sz="900" b="0" i="0">
                <a:solidFill>
                  <a:srgbClr val="737A99"/>
                </a:solidFill>
                <a:latin typeface="Courier New"/>
                <a:ea typeface="Courier New"/>
                <a:cs typeface="Courier New"/>
              </a:rPr>
              <a:t>14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5AB3F5-30E2-4BA1-B8F7-688C75FE0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00250"/>
            <a:ext cx="2714625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1B1D2E"/>
          </a:solidFill>
          <a:ln xmlns:a="http://schemas.openxmlformats.org/drawingml/2006/main" w="19050">
            <a:solidFill>
              <a:srgbClr val="2DD4A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30176B-BB3C-40A3-A44C-204DEF7C9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24860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2DD4A7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2DD4A7"/>
                </a:solidFill>
                <a:latin typeface="Arial"/>
                <a:ea typeface="Arial"/>
                <a:cs typeface="Arial"/>
              </a:rPr>
              <a:t>/owner/requests/new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E12599-3EB7-4208-95F9-DC1EF0F2A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00250"/>
            <a:ext cx="285750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1B1D2E"/>
          </a:solidFill>
          <a:ln xmlns:a="http://schemas.openxmlformats.org/drawingml/2006/main" w="19050">
            <a:solidFill>
              <a:srgbClr val="F1F2F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BEBE1D7-3719-4C95-9140-193D20110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095500"/>
            <a:ext cx="2628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F1F2F8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F1F2F8"/>
                </a:solidFill>
                <a:latin typeface="Arial"/>
                <a:ea typeface="Arial"/>
                <a:cs typeface="Arial"/>
              </a:rPr>
              <a:t>NewRequestForm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C1FFD4E-5106-4EB1-A957-EFABD20AF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000250"/>
            <a:ext cx="295275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1B1D2E"/>
          </a:solidFill>
          <a:ln xmlns:a="http://schemas.openxmlformats.org/drawingml/2006/main" w="19050">
            <a:solidFill>
              <a:srgbClr val="2DD4A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B0D5719-9B69-466B-85DC-B64245C81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095500"/>
            <a:ext cx="2724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9718"/>
          </a:bodyPr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2DD4A7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2DD4A7"/>
                </a:solidFill>
                <a:latin typeface="Arial"/>
                <a:ea typeface="Arial"/>
                <a:cs typeface="Arial"/>
              </a:rPr>
              <a:t>createRequestAction + blob upload</a:t>
            </a:r>
          </a:p>
        </p:txBody>
      </p:sp>
      <p:cxnSp>
        <p:nvCxnSpPr>
          <p:cNvPr id="59" name=""/>
          <p:cNvCxnSpPr>
            <a:stCxn xmlns:a="http://schemas.openxmlformats.org/drawingml/2006/main" id="7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3286125" y="2276475"/>
            <a:ext cx="11906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37A99"/>
            </a:solidFill>
            <a:prstDash val="solid"/>
            <a:tailEnd type="arrow" w="sm" len="sm"/>
          </a:ln>
        </p:spPr>
      </p:cxnSp>
      <p:cxnSp>
        <p:nvCxnSpPr>
          <p:cNvPr id="60" name=""/>
          <p:cNvCxnSpPr>
            <a:stCxn xmlns:a="http://schemas.openxmlformats.org/drawingml/2006/main" id="9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7334250" y="2276475"/>
            <a:ext cx="1238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DD4A7"/>
            </a:solidFill>
            <a:prstDash val="solid"/>
            <a:tailEnd type="arrow" w="sm" len="sm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779EB84-E507-4E78-8B17-2E2F1DA18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00350"/>
            <a:ext cx="2714625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1B1D2E"/>
          </a:solidFill>
          <a:ln xmlns:a="http://schemas.openxmlformats.org/drawingml/2006/main" w="19050">
            <a:solidFill>
              <a:srgbClr val="FF6B8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0897D12-9807-4B56-95C3-12FA26487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95600"/>
            <a:ext cx="24860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FF6B8A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FF6B8A"/>
                </a:solidFill>
                <a:latin typeface="Arial"/>
                <a:ea typeface="Arial"/>
                <a:cs typeface="Arial"/>
              </a:rPr>
              <a:t>/owner/requests/[id]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6BD6F99-443A-4EE5-B9BC-D42DE1B40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800350"/>
            <a:ext cx="285750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1B1D2E"/>
          </a:solidFill>
          <a:ln xmlns:a="http://schemas.openxmlformats.org/drawingml/2006/main" w="19050">
            <a:solidFill>
              <a:srgbClr val="F1F2F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C38B009-0089-463E-B1F2-4D6EFADBB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895600"/>
            <a:ext cx="2628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F1F2F8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F1F2F8"/>
                </a:solidFill>
                <a:latin typeface="Arial"/>
                <a:ea typeface="Arial"/>
                <a:cs typeface="Arial"/>
              </a:rPr>
              <a:t>RequestDetailView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7E70EE5-6F3E-4A14-B1BC-566813E7D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800350"/>
            <a:ext cx="295275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1B1D2E"/>
          </a:solidFill>
          <a:ln xmlns:a="http://schemas.openxmlformats.org/drawingml/2006/main" w="19050">
            <a:solidFill>
              <a:srgbClr val="FF6B8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521B087-C9D4-4B0A-9E8A-409BCF605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895600"/>
            <a:ext cx="2724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65376"/>
          </a:bodyPr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FF6B8A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FF6B8A"/>
                </a:solidFill>
                <a:latin typeface="Arial"/>
                <a:ea typeface="Arial"/>
                <a:cs typeface="Arial"/>
              </a:rPr>
              <a:t>requests, quotes, tasks, invites, closeout, billing</a:t>
            </a:r>
          </a:p>
        </p:txBody>
      </p:sp>
      <p:cxnSp>
        <p:nvCxnSpPr>
          <p:cNvPr id="67" name=""/>
          <p:cNvCxnSpPr>
            <a:stCxn xmlns:a="http://schemas.openxmlformats.org/drawingml/2006/main" id="15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3286125" y="3076575"/>
            <a:ext cx="11906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37A99"/>
            </a:solidFill>
            <a:prstDash val="solid"/>
            <a:tailEnd type="arrow" w="sm" len="sm"/>
          </a:ln>
        </p:spPr>
      </p:cxnSp>
      <p:cxnSp>
        <p:nvCxnSpPr>
          <p:cNvPr id="68" name=""/>
          <p:cNvCxnSpPr>
            <a:stCxn xmlns:a="http://schemas.openxmlformats.org/drawingml/2006/main" id="17" idx="3"/>
            <a:endCxn xmlns:a="http://schemas.openxmlformats.org/drawingml/2006/main" id="19" idx="1"/>
          </p:cNvCxnSpPr>
          <p:nvPr/>
        </p:nvCxnSpPr>
        <p:spPr>
          <a:xfrm xmlns:a="http://schemas.openxmlformats.org/drawingml/2006/main">
            <a:off x="7334250" y="3076575"/>
            <a:ext cx="1238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F6B8A"/>
            </a:solidFill>
            <a:prstDash val="solid"/>
            <a:tailEnd type="arrow" w="sm" len="sm"/>
          </a:ln>
        </p:spPr>
      </p:cxn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9BC646E-F191-4CD0-8FC8-2DFA13EBE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00450"/>
            <a:ext cx="2714625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1B1D2E"/>
          </a:solidFill>
          <a:ln xmlns:a="http://schemas.openxmlformats.org/drawingml/2006/main" w="19050">
            <a:solidFill>
              <a:srgbClr val="F5B84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DFE7979-B3D2-4667-AD6E-46914A890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95700"/>
            <a:ext cx="24860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F5B84B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F5B84B"/>
                </a:solidFill>
                <a:latin typeface="Arial"/>
                <a:ea typeface="Arial"/>
                <a:cs typeface="Arial"/>
              </a:rPr>
              <a:t>/vendor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BB145B2-C9CA-4478-911D-D08065741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600450"/>
            <a:ext cx="285750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1B1D2E"/>
          </a:solidFill>
          <a:ln xmlns:a="http://schemas.openxmlformats.org/drawingml/2006/main" w="19050">
            <a:solidFill>
              <a:srgbClr val="F1F2F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E34B774-0C5D-409A-91D3-7A5A70824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695700"/>
            <a:ext cx="2628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F1F2F8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F1F2F8"/>
                </a:solidFill>
                <a:latin typeface="Arial"/>
                <a:ea typeface="Arial"/>
                <a:cs typeface="Arial"/>
              </a:rPr>
              <a:t>VendorPortal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999DBD5-2672-4329-93F7-610197AEF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600450"/>
            <a:ext cx="295275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1B1D2E"/>
          </a:solidFill>
          <a:ln xmlns:a="http://schemas.openxmlformats.org/drawingml/2006/main" w="19050">
            <a:solidFill>
              <a:srgbClr val="F5B84B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8DC4E63-CDCD-4BC2-A6D1-95F1F9160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695700"/>
            <a:ext cx="2724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75329"/>
          </a:bodyPr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F5B84B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F5B84B"/>
                </a:solidFill>
                <a:latin typeface="Arial"/>
                <a:ea typeface="Arial"/>
                <a:cs typeface="Arial"/>
              </a:rPr>
              <a:t>bids, work sessions, task status, closeout</a:t>
            </a:r>
          </a:p>
        </p:txBody>
      </p:sp>
      <p:cxnSp>
        <p:nvCxnSpPr>
          <p:cNvPr id="75" name=""/>
          <p:cNvCxnSpPr>
            <a:stCxn xmlns:a="http://schemas.openxmlformats.org/drawingml/2006/main" id="23" idx="3"/>
            <a:endCxn xmlns:a="http://schemas.openxmlformats.org/drawingml/2006/main" id="25" idx="1"/>
          </p:cNvCxnSpPr>
          <p:nvPr/>
        </p:nvCxnSpPr>
        <p:spPr>
          <a:xfrm xmlns:a="http://schemas.openxmlformats.org/drawingml/2006/main">
            <a:off x="3286125" y="3876675"/>
            <a:ext cx="11906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37A99"/>
            </a:solidFill>
            <a:prstDash val="solid"/>
            <a:tailEnd type="arrow" w="sm" len="sm"/>
          </a:ln>
        </p:spPr>
      </p:cxnSp>
      <p:cxnSp>
        <p:nvCxnSpPr>
          <p:cNvPr id="76" name=""/>
          <p:cNvCxnSpPr>
            <a:stCxn xmlns:a="http://schemas.openxmlformats.org/drawingml/2006/main" id="25" idx="3"/>
            <a:endCxn xmlns:a="http://schemas.openxmlformats.org/drawingml/2006/main" id="27" idx="1"/>
          </p:cNvCxnSpPr>
          <p:nvPr/>
        </p:nvCxnSpPr>
        <p:spPr>
          <a:xfrm xmlns:a="http://schemas.openxmlformats.org/drawingml/2006/main">
            <a:off x="7334250" y="3876675"/>
            <a:ext cx="1238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5B84B"/>
            </a:solidFill>
            <a:prstDash val="solid"/>
            <a:tailEnd type="arrow" w="sm" len="sm"/>
          </a:ln>
        </p:spPr>
      </p:cxn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76434BB-CE45-4F44-89AA-213041830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400550"/>
            <a:ext cx="2714625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1B1D2E"/>
          </a:solidFill>
          <a:ln xmlns:a="http://schemas.openxmlformats.org/drawingml/2006/main" w="19050">
            <a:solidFill>
              <a:srgbClr val="5EC8F2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46ACB5D-8538-41F5-A95B-B46B31037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95800"/>
            <a:ext cx="24860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5EC8F2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5EC8F2"/>
                </a:solidFill>
                <a:latin typeface="Arial"/>
                <a:ea typeface="Arial"/>
                <a:cs typeface="Arial"/>
              </a:rPr>
              <a:t>/collaborator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689159B-9AF3-4329-BD78-AE63380BB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400550"/>
            <a:ext cx="285750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1B1D2E"/>
          </a:solidFill>
          <a:ln xmlns:a="http://schemas.openxmlformats.org/drawingml/2006/main" w="19050">
            <a:solidFill>
              <a:srgbClr val="F1F2F8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A848084-7382-4D54-9A0C-C4C3DE1DB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495800"/>
            <a:ext cx="2628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F1F2F8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F1F2F8"/>
                </a:solidFill>
                <a:latin typeface="Arial"/>
                <a:ea typeface="Arial"/>
                <a:cs typeface="Arial"/>
              </a:rPr>
              <a:t>Helper portal components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4977A28-1FEC-427A-9E03-FEA2906FB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400550"/>
            <a:ext cx="295275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1B1D2E"/>
          </a:solidFill>
          <a:ln xmlns:a="http://schemas.openxmlformats.org/drawingml/2006/main" w="19050">
            <a:solidFill>
              <a:srgbClr val="5EC8F2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E25296E-7799-4781-8CB8-E659167A8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495800"/>
            <a:ext cx="2724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5EC8F2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5EC8F2"/>
                </a:solidFill>
                <a:latin typeface="Arial"/>
                <a:ea typeface="Arial"/>
                <a:cs typeface="Arial"/>
              </a:rPr>
              <a:t>comments on shared requests</a:t>
            </a:r>
          </a:p>
        </p:txBody>
      </p:sp>
      <p:cxnSp>
        <p:nvCxnSpPr>
          <p:cNvPr id="83" name=""/>
          <p:cNvCxnSpPr>
            <a:stCxn xmlns:a="http://schemas.openxmlformats.org/drawingml/2006/main" id="31" idx="3"/>
            <a:endCxn xmlns:a="http://schemas.openxmlformats.org/drawingml/2006/main" id="33" idx="1"/>
          </p:cNvCxnSpPr>
          <p:nvPr/>
        </p:nvCxnSpPr>
        <p:spPr>
          <a:xfrm xmlns:a="http://schemas.openxmlformats.org/drawingml/2006/main">
            <a:off x="3286125" y="4676775"/>
            <a:ext cx="11906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37A99"/>
            </a:solidFill>
            <a:prstDash val="solid"/>
            <a:tailEnd type="arrow" w="sm" len="sm"/>
          </a:ln>
        </p:spPr>
      </p:cxnSp>
      <p:cxnSp>
        <p:nvCxnSpPr>
          <p:cNvPr id="84" name=""/>
          <p:cNvCxnSpPr>
            <a:stCxn xmlns:a="http://schemas.openxmlformats.org/drawingml/2006/main" id="33" idx="3"/>
            <a:endCxn xmlns:a="http://schemas.openxmlformats.org/drawingml/2006/main" id="35" idx="1"/>
          </p:cNvCxnSpPr>
          <p:nvPr/>
        </p:nvCxnSpPr>
        <p:spPr>
          <a:xfrm xmlns:a="http://schemas.openxmlformats.org/drawingml/2006/main">
            <a:off x="7334250" y="4676775"/>
            <a:ext cx="1238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EC8F2"/>
            </a:solidFill>
            <a:prstDash val="solid"/>
            <a:tailEnd type="arrow" w="sm" len="sm"/>
          </a:ln>
        </p:spPr>
      </p:cxn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39579AA-FC3F-41E3-A651-49FD51051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200650"/>
            <a:ext cx="2714625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1B1D2E"/>
          </a:solidFill>
          <a:ln xmlns:a="http://schemas.openxmlformats.org/drawingml/2006/main" w="19050">
            <a:solidFill>
              <a:srgbClr val="8B7CFF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5B4C3AF-3320-4F6A-8C6A-A8C1D780F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95900"/>
            <a:ext cx="24860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8B7CFF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8B7CFF"/>
                </a:solidFill>
                <a:latin typeface="Arial"/>
                <a:ea typeface="Arial"/>
                <a:cs typeface="Arial"/>
              </a:rPr>
              <a:t>/owner/account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E032A69-D11C-4C86-8612-260D3ABA2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200650"/>
            <a:ext cx="285750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1B1D2E"/>
          </a:solidFill>
          <a:ln xmlns:a="http://schemas.openxmlformats.org/drawingml/2006/main" w="19050">
            <a:solidFill>
              <a:srgbClr val="F1F2F8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45C7102-3DFE-4663-A110-00A163700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5295900"/>
            <a:ext cx="2628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F1F2F8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F1F2F8"/>
                </a:solidFill>
                <a:latin typeface="Arial"/>
                <a:ea typeface="Arial"/>
                <a:cs typeface="Arial"/>
              </a:rPr>
              <a:t>sharing and profile controls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392AF1C-F7E4-4D11-8F4C-B3FE433BA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200650"/>
            <a:ext cx="295275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1B1D2E"/>
          </a:solidFill>
          <a:ln xmlns:a="http://schemas.openxmlformats.org/drawingml/2006/main" w="19050">
            <a:solidFill>
              <a:srgbClr val="8B7CFF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CC42712-AABE-494E-9C92-1C3AA5952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5295900"/>
            <a:ext cx="2724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6976"/>
          </a:bodyPr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8B7CFF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8B7CFF"/>
                </a:solidFill>
                <a:latin typeface="Arial"/>
                <a:ea typeface="Arial"/>
                <a:cs typeface="Arial"/>
              </a:rPr>
              <a:t>invite lifecycle + access removal</a:t>
            </a:r>
          </a:p>
        </p:txBody>
      </p:sp>
      <p:cxnSp>
        <p:nvCxnSpPr>
          <p:cNvPr id="91" name=""/>
          <p:cNvCxnSpPr>
            <a:stCxn xmlns:a="http://schemas.openxmlformats.org/drawingml/2006/main" id="39" idx="3"/>
            <a:endCxn xmlns:a="http://schemas.openxmlformats.org/drawingml/2006/main" id="41" idx="1"/>
          </p:cNvCxnSpPr>
          <p:nvPr/>
        </p:nvCxnSpPr>
        <p:spPr>
          <a:xfrm xmlns:a="http://schemas.openxmlformats.org/drawingml/2006/main">
            <a:off x="3286125" y="5476875"/>
            <a:ext cx="11906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37A99"/>
            </a:solidFill>
            <a:prstDash val="solid"/>
            <a:tailEnd type="arrow" w="sm" len="sm"/>
          </a:ln>
        </p:spPr>
      </p:cxnSp>
      <p:cxnSp>
        <p:nvCxnSpPr>
          <p:cNvPr id="92" name=""/>
          <p:cNvCxnSpPr>
            <a:stCxn xmlns:a="http://schemas.openxmlformats.org/drawingml/2006/main" id="41" idx="3"/>
            <a:endCxn xmlns:a="http://schemas.openxmlformats.org/drawingml/2006/main" id="43" idx="1"/>
          </p:cNvCxnSpPr>
          <p:nvPr/>
        </p:nvCxnSpPr>
        <p:spPr>
          <a:xfrm xmlns:a="http://schemas.openxmlformats.org/drawingml/2006/main">
            <a:off x="7334250" y="5476875"/>
            <a:ext cx="1238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8B7CFF"/>
            </a:solidFill>
            <a:prstDash val="solid"/>
            <a:tailEnd type="arrow" w="sm" len="sm"/>
          </a:ln>
        </p:spPr>
      </p:cxnSp>
    </p:spTree>
    <p:extLst>
      <p:ext uri="{BB962C8B-B14F-4D97-AF65-F5344CB8AC3E}">
        <p14:creationId xmlns:p14="http://schemas.microsoft.com/office/powerpoint/2010/main" val="2125351845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E0F1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0F0F8D4-D5AF-4397-BDEF-6750A3EC0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4287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B84B">
              <a:alpha val="12549"/>
            </a:srgbClr>
          </a:solidFill>
          <a:ln xmlns:a="http://schemas.openxmlformats.org/drawingml/2006/main" w="9525">
            <a:solidFill>
              <a:srgbClr val="F5B84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CB0F59-903C-4787-B0D1-91526C53B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5B84B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F5B84B"/>
                </a:solidFill>
                <a:latin typeface="Arial"/>
                <a:ea typeface="Arial"/>
                <a:cs typeface="Arial"/>
              </a:rPr>
              <a:t>CODE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CD0E65-2084-404A-82D6-037B60C6F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F1F2F8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F1F2F8"/>
                </a:solidFill>
                <a:latin typeface="Arial"/>
                <a:ea typeface="Arial"/>
                <a:cs typeface="Arial"/>
              </a:rPr>
              <a:t>Business rules live in two layers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F02454-AC9B-496B-9932-89ABF566D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1">
                <a:solidFill>
                  <a:srgbClr val="A7ACC2"/>
                </a:solidFill>
                <a:latin typeface="Calibri"/>
                <a:ea typeface="Calibri"/>
                <a:cs typeface="Calibri"/>
              </a:defRPr>
            </a:pPr>
            <a:r>
              <a:rPr sz="1500" b="0" i="1">
                <a:solidFill>
                  <a:srgbClr val="A7ACC2"/>
                </a:solidFill>
                <a:latin typeface="Calibri"/>
                <a:ea typeface="Calibri"/>
                <a:cs typeface="Calibri"/>
              </a:rPr>
              <a:t>Pure helpers explain the state. Server entry points enforce it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6FA7F7-C628-4391-943F-56AAACF6D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38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737A99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737A99"/>
                </a:solidFill>
                <a:latin typeface="Arial"/>
                <a:ea typeface="Arial"/>
                <a:cs typeface="Arial"/>
              </a:rPr>
              <a:t>TURNFLOW HOME  •  SYSTEM GUIDE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1064E9-0E04-4557-A720-DAABF4BF4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737A99"/>
                </a:solidFill>
                <a:latin typeface="Courier New"/>
                <a:ea typeface="Courier New"/>
                <a:cs typeface="Courier New"/>
              </a:defRPr>
            </a:pPr>
            <a:r>
              <a:rPr sz="900" b="0" i="0">
                <a:solidFill>
                  <a:srgbClr val="737A99"/>
                </a:solidFill>
                <a:latin typeface="Courier New"/>
                <a:ea typeface="Courier New"/>
                <a:cs typeface="Courier New"/>
              </a:rPr>
              <a:t>15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973CCE-59CB-47EE-A108-5D3CA9248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524125"/>
            <a:ext cx="333375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1B1D2E"/>
          </a:solidFill>
          <a:ln xmlns:a="http://schemas.openxmlformats.org/drawingml/2006/main" w="19050">
            <a:solidFill>
              <a:srgbClr val="2DD4A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ECDD62-AC19-455C-A8F4-83E4FF4EC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619375"/>
            <a:ext cx="3105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2DD4A7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2DD4A7"/>
                </a:solidFill>
                <a:latin typeface="Arial"/>
                <a:ea typeface="Arial"/>
                <a:cs typeface="Arial"/>
              </a:rPr>
              <a:t>Guidance helpers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50B29DA-F819-43AC-B9DF-6E85FAAE7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924175"/>
            <a:ext cx="31051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A7ACC2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A7ACC2"/>
                </a:solidFill>
                <a:latin typeface="Calibri"/>
                <a:ea typeface="Calibri"/>
                <a:cs typeface="Calibri"/>
              </a:rPr>
              <a:t>requestGuidance</a:t>
            </a:r>
          </a:p>
          <a:p xmlns:a="http://schemas.openxmlformats.org/drawingml/2006/main">
            <a:pPr algn="ctr">
              <a:defRPr sz="1125" b="0" i="0">
                <a:solidFill>
                  <a:srgbClr val="A7ACC2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A7ACC2"/>
                </a:solidFill>
                <a:latin typeface="Calibri"/>
                <a:ea typeface="Calibri"/>
                <a:cs typeface="Calibri"/>
              </a:rPr>
              <a:t>requestWorkflowSteps</a:t>
            </a:r>
          </a:p>
          <a:p xmlns:a="http://schemas.openxmlformats.org/drawingml/2006/main">
            <a:pPr algn="ctr">
              <a:defRPr sz="1125" b="0" i="0">
                <a:solidFill>
                  <a:srgbClr val="A7ACC2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A7ACC2"/>
                </a:solidFill>
                <a:latin typeface="Calibri"/>
                <a:ea typeface="Calibri"/>
                <a:cs typeface="Calibri"/>
              </a:rPr>
              <a:t>vendorNextAction</a:t>
            </a:r>
          </a:p>
          <a:p xmlns:a="http://schemas.openxmlformats.org/drawingml/2006/main">
            <a:pPr algn="ctr">
              <a:defRPr sz="1125" b="0" i="0">
                <a:solidFill>
                  <a:srgbClr val="A7ACC2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A7ACC2"/>
                </a:solidFill>
                <a:latin typeface="Calibri"/>
                <a:ea typeface="Calibri"/>
                <a:cs typeface="Calibri"/>
              </a:rPr>
              <a:t>closeoutReadiness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3B044E4-5711-42B4-8C4F-54EA94CA4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524125"/>
            <a:ext cx="333375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1B1D2E"/>
          </a:solidFill>
          <a:ln xmlns:a="http://schemas.openxmlformats.org/drawingml/2006/main" w="19050">
            <a:solidFill>
              <a:srgbClr val="FF6B8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1E9B725-E28B-41E7-A802-CD4EA6363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619375"/>
            <a:ext cx="3105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FF6B8A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FF6B8A"/>
                </a:solidFill>
                <a:latin typeface="Arial"/>
                <a:ea typeface="Arial"/>
                <a:cs typeface="Arial"/>
              </a:rPr>
              <a:t>Server enforcement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AAF6C37-193B-44CF-B6CC-207B8736B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924175"/>
            <a:ext cx="31051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A7ACC2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A7ACC2"/>
                </a:solidFill>
                <a:latin typeface="Calibri"/>
                <a:ea typeface="Calibri"/>
                <a:cs typeface="Calibri"/>
              </a:rPr>
              <a:t>requireRole</a:t>
            </a:r>
          </a:p>
          <a:p xmlns:a="http://schemas.openxmlformats.org/drawingml/2006/main">
            <a:pPr algn="ctr">
              <a:defRPr sz="1125" b="0" i="0">
                <a:solidFill>
                  <a:srgbClr val="A7ACC2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A7ACC2"/>
                </a:solidFill>
                <a:latin typeface="Calibri"/>
                <a:ea typeface="Calibri"/>
                <a:cs typeface="Calibri"/>
              </a:rPr>
              <a:t>ownership check</a:t>
            </a:r>
          </a:p>
          <a:p xmlns:a="http://schemas.openxmlformats.org/drawingml/2006/main">
            <a:pPr algn="ctr">
              <a:defRPr sz="1125" b="0" i="0">
                <a:solidFill>
                  <a:srgbClr val="A7ACC2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A7ACC2"/>
                </a:solidFill>
                <a:latin typeface="Calibri"/>
                <a:ea typeface="Calibri"/>
                <a:cs typeface="Calibri"/>
              </a:rPr>
              <a:t>validation</a:t>
            </a:r>
          </a:p>
          <a:p xmlns:a="http://schemas.openxmlformats.org/drawingml/2006/main">
            <a:pPr algn="ctr">
              <a:defRPr sz="1125" b="0" i="0">
                <a:solidFill>
                  <a:srgbClr val="A7ACC2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A7ACC2"/>
                </a:solidFill>
                <a:latin typeface="Calibri"/>
                <a:ea typeface="Calibri"/>
                <a:cs typeface="Calibri"/>
              </a:rPr>
              <a:t>database write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F544D2D-BAFA-4861-819E-3ABA62AC0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2905125"/>
            <a:ext cx="2000250" cy="8572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1B1D2E"/>
          </a:solidFill>
          <a:ln xmlns:a="http://schemas.openxmlformats.org/drawingml/2006/main" w="19050">
            <a:solidFill>
              <a:srgbClr val="F5B84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5E166D6-B69D-4204-A614-3F0CCDE1C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0175" y="3000375"/>
            <a:ext cx="1771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F5B84B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F5B84B"/>
                </a:solidFill>
                <a:latin typeface="Arial"/>
                <a:ea typeface="Arial"/>
                <a:cs typeface="Arial"/>
              </a:rPr>
              <a:t>Shared policy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8D3FFDF-AA54-4E08-95A9-5050F8EC7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0175" y="3305175"/>
            <a:ext cx="1771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A7ACC2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A7ACC2"/>
                </a:solidFill>
                <a:latin typeface="Calibri"/>
                <a:ea typeface="Calibri"/>
                <a:cs typeface="Calibri"/>
              </a:rPr>
              <a:t>statuses, proof rules, normalized inputs</a:t>
            </a:r>
          </a:p>
        </p:txBody>
      </p:sp>
      <p:cxnSp>
        <p:nvCxnSpPr>
          <p:cNvPr id="35" name=""/>
          <p:cNvCxnSpPr>
            <a:stCxn xmlns:a="http://schemas.openxmlformats.org/drawingml/2006/main" id="13" idx="1"/>
            <a:endCxn xmlns:a="http://schemas.openxmlformats.org/drawingml/2006/main" id="7" idx="3"/>
          </p:cNvCxnSpPr>
          <p:nvPr/>
        </p:nvCxnSpPr>
        <p:spPr>
          <a:xfrm xmlns:a="http://schemas.openxmlformats.org/drawingml/2006/main" flipH="1">
            <a:off x="4476750" y="3333750"/>
            <a:ext cx="6191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DD4A7"/>
            </a:solidFill>
            <a:prstDash val="solid"/>
            <a:tailEnd type="arrow" w="sm" len="sm"/>
          </a:ln>
        </p:spPr>
      </p:cxnSp>
      <p:cxnSp>
        <p:nvCxnSpPr>
          <p:cNvPr id="36" name=""/>
          <p:cNvCxnSpPr>
            <a:stCxn xmlns:a="http://schemas.openxmlformats.org/drawingml/2006/main" id="13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7096125" y="3333750"/>
            <a:ext cx="6191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F6B8A"/>
            </a:solidFill>
            <a:prstDash val="solid"/>
            <a:tailEnd type="arrow" w="sm" len="sm"/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D7F3786-A6DB-40B2-9CD0-BF7C3A60E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4857750"/>
            <a:ext cx="8667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 i="0">
                <a:solidFill>
                  <a:srgbClr val="F1F2F8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F1F2F8"/>
                </a:solidFill>
                <a:latin typeface="Calibri"/>
                <a:ea typeface="Calibri"/>
                <a:cs typeface="Calibri"/>
              </a:rPr>
              <a:t>UI copy helps the user act. The action remains safe when the UI is bypassed.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8181A19-D63C-4779-B283-E7066222A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5638800"/>
            <a:ext cx="790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0" i="0">
                <a:solidFill>
                  <a:srgbClr val="A7ACC2"/>
                </a:solidFill>
                <a:latin typeface="Calibri"/>
                <a:ea typeface="Calibri"/>
                <a:cs typeface="Calibri"/>
              </a:defRPr>
            </a:pPr>
            <a:r>
              <a:rPr sz="1425" b="0" i="0">
                <a:solidFill>
                  <a:srgbClr val="A7ACC2"/>
                </a:solidFill>
                <a:latin typeface="Calibri"/>
                <a:ea typeface="Calibri"/>
                <a:cs typeface="Calibri"/>
              </a:rPr>
              <a:t>318 unit tests cover deterministic rules for status, files, auth limits, cron, and guidance</a:t>
            </a:r>
          </a:p>
        </p:txBody>
      </p:sp>
    </p:spTree>
    <p:extLst>
      <p:ext uri="{BB962C8B-B14F-4D97-AF65-F5344CB8AC3E}">
        <p14:creationId xmlns:p14="http://schemas.microsoft.com/office/powerpoint/2010/main" val="1615761362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0E0F1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A51A861-0439-4C15-B692-23E236F57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4287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B7CFF">
              <a:alpha val="12549"/>
            </a:srgbClr>
          </a:solidFill>
          <a:ln xmlns:a="http://schemas.openxmlformats.org/drawingml/2006/main" w="9525">
            <a:solidFill>
              <a:srgbClr val="8B7C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5681D0-747C-4A16-A2AB-B5101DCE9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8B7C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8B7CFF"/>
                </a:solidFill>
                <a:latin typeface="Arial"/>
                <a:ea typeface="Arial"/>
                <a:cs typeface="Arial"/>
              </a:rPr>
              <a:t>DATA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0FE1C1-0F8B-4894-974E-3EAF1D761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F1F2F8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F1F2F8"/>
                </a:solidFill>
                <a:latin typeface="Arial"/>
                <a:ea typeface="Arial"/>
                <a:cs typeface="Arial"/>
              </a:rPr>
              <a:t>The request-centered data model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50F515-1886-4182-A54E-E9A7E4399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1">
                <a:solidFill>
                  <a:srgbClr val="A7ACC2"/>
                </a:solidFill>
                <a:latin typeface="Calibri"/>
                <a:ea typeface="Calibri"/>
                <a:cs typeface="Calibri"/>
              </a:defRPr>
            </a:pPr>
            <a:r>
              <a:rPr sz="1500" b="0" i="1">
                <a:solidFill>
                  <a:srgbClr val="A7ACC2"/>
                </a:solidFill>
                <a:latin typeface="Calibri"/>
                <a:ea typeface="Calibri"/>
                <a:cs typeface="Calibri"/>
              </a:rPr>
              <a:t>Nineteen primary tables support ownership, repair coordination, history, and future workspace billing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F1BF07-F2BF-4C85-A61F-A1E1D5A7D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38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737A99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737A99"/>
                </a:solidFill>
                <a:latin typeface="Arial"/>
                <a:ea typeface="Arial"/>
                <a:cs typeface="Arial"/>
              </a:rPr>
              <a:t>TURNFLOW HOME  •  SYSTEM GUIDE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0F7D2C-D57E-4AA6-9DE9-E3DC54C8D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737A99"/>
                </a:solidFill>
                <a:latin typeface="Courier New"/>
                <a:ea typeface="Courier New"/>
                <a:cs typeface="Courier New"/>
              </a:defRPr>
            </a:pPr>
            <a:r>
              <a:rPr sz="900" b="0" i="0">
                <a:solidFill>
                  <a:srgbClr val="737A99"/>
                </a:solidFill>
                <a:latin typeface="Courier New"/>
                <a:ea typeface="Courier New"/>
                <a:cs typeface="Courier New"/>
              </a:rPr>
              <a:t>16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91072C-B902-4AEC-B2E3-04D6A0DD5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762250"/>
            <a:ext cx="247650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1B1D2E"/>
          </a:solidFill>
          <a:ln xmlns:a="http://schemas.openxmlformats.org/drawingml/2006/main" w="19050">
            <a:solidFill>
              <a:srgbClr val="2DD4A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B958D5-1486-483B-8425-86DBC48B1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857500"/>
            <a:ext cx="2247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2DD4A7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2DD4A7"/>
                </a:solidFill>
                <a:latin typeface="Arial"/>
                <a:ea typeface="Arial"/>
                <a:cs typeface="Arial"/>
              </a:rPr>
              <a:t>requests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3529883-4B72-4C7C-AD4B-3560CF926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162300"/>
            <a:ext cx="2247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A7ACC2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A7ACC2"/>
                </a:solidFill>
                <a:latin typeface="Calibri"/>
                <a:ea typeface="Calibri"/>
                <a:cs typeface="Calibri"/>
              </a:rPr>
              <a:t>property, owner, workspace, status, costs, access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07B56BF-5772-4B02-B50D-200A17C85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52625"/>
            <a:ext cx="25717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1B1D2E"/>
          </a:solidFill>
          <a:ln xmlns:a="http://schemas.openxmlformats.org/drawingml/2006/main" w="19050">
            <a:solidFill>
              <a:srgbClr val="8B7C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D3E0159-991F-4CAF-A3F6-02E15BDAA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47875"/>
            <a:ext cx="2343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8B7CFF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8B7CFF"/>
                </a:solidFill>
                <a:latin typeface="Arial"/>
                <a:ea typeface="Arial"/>
                <a:cs typeface="Arial"/>
              </a:rPr>
              <a:t>Ownership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BCF2BDC-632C-4A37-BD5D-BDCBBA6D8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52675"/>
            <a:ext cx="23431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A7ACC2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A7ACC2"/>
                </a:solidFill>
                <a:latin typeface="Calibri"/>
                <a:ea typeface="Calibri"/>
                <a:cs typeface="Calibri"/>
              </a:rPr>
              <a:t>users</a:t>
            </a:r>
          </a:p>
          <a:p xmlns:a="http://schemas.openxmlformats.org/drawingml/2006/main">
            <a:pPr algn="ctr">
              <a:defRPr sz="1125" b="0" i="0">
                <a:solidFill>
                  <a:srgbClr val="A7ACC2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A7ACC2"/>
                </a:solidFill>
                <a:latin typeface="Calibri"/>
                <a:ea typeface="Calibri"/>
                <a:cs typeface="Calibri"/>
              </a:rPr>
              <a:t>workspaces</a:t>
            </a:r>
          </a:p>
          <a:p xmlns:a="http://schemas.openxmlformats.org/drawingml/2006/main">
            <a:pPr algn="ctr">
              <a:defRPr sz="1125" b="0" i="0">
                <a:solidFill>
                  <a:srgbClr val="A7ACC2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A7ACC2"/>
                </a:solidFill>
                <a:latin typeface="Calibri"/>
                <a:ea typeface="Calibri"/>
                <a:cs typeface="Calibri"/>
              </a:rPr>
              <a:t>memberships</a:t>
            </a:r>
          </a:p>
          <a:p xmlns:a="http://schemas.openxmlformats.org/drawingml/2006/main">
            <a:pPr algn="ctr">
              <a:defRPr sz="1125" b="0" i="0">
                <a:solidFill>
                  <a:srgbClr val="A7ACC2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A7ACC2"/>
                </a:solidFill>
                <a:latin typeface="Calibri"/>
                <a:ea typeface="Calibri"/>
                <a:cs typeface="Calibri"/>
              </a:rPr>
              <a:t>billing_accounts</a:t>
            </a:r>
          </a:p>
        </p:txBody>
      </p:sp>
      <p:cxnSp>
        <p:nvCxnSpPr>
          <p:cNvPr id="41" name=""/>
          <p:cNvCxnSpPr>
            <a:stCxn xmlns:a="http://schemas.openxmlformats.org/drawingml/2006/main" id="7" idx="1"/>
            <a:endCxn xmlns:a="http://schemas.openxmlformats.org/drawingml/2006/main" id="10" idx="3"/>
          </p:cNvCxnSpPr>
          <p:nvPr/>
        </p:nvCxnSpPr>
        <p:spPr>
          <a:xfrm xmlns:a="http://schemas.openxmlformats.org/drawingml/2006/main" flipH="1" flipV="1">
            <a:off x="3238500" y="2667000"/>
            <a:ext cx="1619250" cy="6667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8B7CFF"/>
            </a:solidFill>
            <a:prstDash val="solid"/>
            <a:tailEnd type="arrow" w="sm" len="sm"/>
          </a:ln>
        </p:spPr>
      </p:cxn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2FD0D2D-E646-4E21-8B02-8A418EF0F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38625"/>
            <a:ext cx="25717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1B1D2E"/>
          </a:solidFill>
          <a:ln xmlns:a="http://schemas.openxmlformats.org/drawingml/2006/main" w="19050">
            <a:solidFill>
              <a:srgbClr val="5EC8F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536CE80-3598-4E69-8323-4CAADDD75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33875"/>
            <a:ext cx="2343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5EC8F2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5EC8F2"/>
                </a:solidFill>
                <a:latin typeface="Arial"/>
                <a:ea typeface="Arial"/>
                <a:cs typeface="Arial"/>
              </a:rPr>
              <a:t>Property memory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1785913-BFB5-4946-9A49-2D66FA35E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38675"/>
            <a:ext cx="23431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A7ACC2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A7ACC2"/>
                </a:solidFill>
                <a:latin typeface="Calibri"/>
                <a:ea typeface="Calibri"/>
                <a:cs typeface="Calibri"/>
              </a:rPr>
              <a:t>properties</a:t>
            </a:r>
          </a:p>
          <a:p xmlns:a="http://schemas.openxmlformats.org/drawingml/2006/main">
            <a:pPr algn="ctr">
              <a:defRPr sz="1125" b="0" i="0">
                <a:solidFill>
                  <a:srgbClr val="A7ACC2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A7ACC2"/>
                </a:solidFill>
                <a:latin typeface="Calibri"/>
                <a:ea typeface="Calibri"/>
                <a:cs typeface="Calibri"/>
              </a:rPr>
              <a:t>vault_documents</a:t>
            </a:r>
          </a:p>
          <a:p xmlns:a="http://schemas.openxmlformats.org/drawingml/2006/main">
            <a:pPr algn="ctr">
              <a:defRPr sz="1125" b="0" i="0">
                <a:solidFill>
                  <a:srgbClr val="A7ACC2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A7ACC2"/>
                </a:solidFill>
                <a:latin typeface="Calibri"/>
                <a:ea typeface="Calibri"/>
                <a:cs typeface="Calibri"/>
              </a:rPr>
              <a:t>reminders</a:t>
            </a:r>
          </a:p>
          <a:p xmlns:a="http://schemas.openxmlformats.org/drawingml/2006/main">
            <a:pPr algn="ctr">
              <a:defRPr sz="1125" b="0" i="0">
                <a:solidFill>
                  <a:srgbClr val="A7ACC2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A7ACC2"/>
                </a:solidFill>
                <a:latin typeface="Calibri"/>
                <a:ea typeface="Calibri"/>
                <a:cs typeface="Calibri"/>
              </a:rPr>
              <a:t>contacts</a:t>
            </a:r>
          </a:p>
        </p:txBody>
      </p:sp>
      <p:cxnSp>
        <p:nvCxnSpPr>
          <p:cNvPr id="45" name=""/>
          <p:cNvCxnSpPr>
            <a:stCxn xmlns:a="http://schemas.openxmlformats.org/drawingml/2006/main" id="7" idx="1"/>
            <a:endCxn xmlns:a="http://schemas.openxmlformats.org/drawingml/2006/main" id="14" idx="3"/>
          </p:cNvCxnSpPr>
          <p:nvPr/>
        </p:nvCxnSpPr>
        <p:spPr>
          <a:xfrm xmlns:a="http://schemas.openxmlformats.org/drawingml/2006/main" flipH="1">
            <a:off x="3238500" y="3333750"/>
            <a:ext cx="1619250" cy="16192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5EC8F2"/>
            </a:solidFill>
            <a:prstDash val="solid"/>
            <a:tailEnd type="arrow" w="sm" len="sm"/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1DB9966-7BB4-47FA-9EE6-7559A77A6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666875"/>
            <a:ext cx="25717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1B1D2E"/>
          </a:solidFill>
          <a:ln xmlns:a="http://schemas.openxmlformats.org/drawingml/2006/main" w="19050">
            <a:solidFill>
              <a:srgbClr val="F5B84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85E44F3-7FD5-4631-848C-9AE3A7991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762125"/>
            <a:ext cx="2343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F5B84B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F5B84B"/>
                </a:solidFill>
                <a:latin typeface="Arial"/>
                <a:ea typeface="Arial"/>
                <a:cs typeface="Arial"/>
              </a:rPr>
              <a:t>Repair work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FA4A0AB-6558-46E2-84BA-5DE68DEF2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66925"/>
            <a:ext cx="23431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A7ACC2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A7ACC2"/>
                </a:solidFill>
                <a:latin typeface="Calibri"/>
                <a:ea typeface="Calibri"/>
                <a:cs typeface="Calibri"/>
              </a:rPr>
              <a:t>photos</a:t>
            </a:r>
          </a:p>
          <a:p xmlns:a="http://schemas.openxmlformats.org/drawingml/2006/main">
            <a:pPr algn="ctr">
              <a:defRPr sz="1125" b="0" i="0">
                <a:solidFill>
                  <a:srgbClr val="A7ACC2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A7ACC2"/>
                </a:solidFill>
                <a:latin typeface="Calibri"/>
                <a:ea typeface="Calibri"/>
                <a:cs typeface="Calibri"/>
              </a:rPr>
              <a:t>quotes</a:t>
            </a:r>
          </a:p>
          <a:p xmlns:a="http://schemas.openxmlformats.org/drawingml/2006/main">
            <a:pPr algn="ctr">
              <a:defRPr sz="1125" b="0" i="0">
                <a:solidFill>
                  <a:srgbClr val="A7ACC2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A7ACC2"/>
                </a:solidFill>
                <a:latin typeface="Calibri"/>
                <a:ea typeface="Calibri"/>
                <a:cs typeface="Calibri"/>
              </a:rPr>
              <a:t>tasks</a:t>
            </a:r>
          </a:p>
          <a:p xmlns:a="http://schemas.openxmlformats.org/drawingml/2006/main">
            <a:pPr algn="ctr">
              <a:defRPr sz="1125" b="0" i="0">
                <a:solidFill>
                  <a:srgbClr val="A7ACC2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A7ACC2"/>
                </a:solidFill>
                <a:latin typeface="Calibri"/>
                <a:ea typeface="Calibri"/>
                <a:cs typeface="Calibri"/>
              </a:rPr>
              <a:t>work_sessions</a:t>
            </a:r>
          </a:p>
        </p:txBody>
      </p:sp>
      <p:cxnSp>
        <p:nvCxnSpPr>
          <p:cNvPr id="49" name=""/>
          <p:cNvCxnSpPr>
            <a:stCxn xmlns:a="http://schemas.openxmlformats.org/drawingml/2006/main" id="7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 flipV="1">
            <a:off x="7334250" y="2381250"/>
            <a:ext cx="1619250" cy="9525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F5B84B"/>
            </a:solidFill>
            <a:prstDash val="solid"/>
            <a:tailEnd type="arrow" w="sm" len="sm"/>
          </a:ln>
        </p:spPr>
      </p:cxn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AF71F8E-E33E-40CE-8A52-D8BFD5F87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095750"/>
            <a:ext cx="25717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1B1D2E"/>
          </a:solidFill>
          <a:ln xmlns:a="http://schemas.openxmlformats.org/drawingml/2006/main" w="19050">
            <a:solidFill>
              <a:srgbClr val="FF6B8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2D6A418-7202-4EE6-B72A-D4FE113D4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4191000"/>
            <a:ext cx="2343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FF6B8A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FF6B8A"/>
                </a:solidFill>
                <a:latin typeface="Arial"/>
                <a:ea typeface="Arial"/>
                <a:cs typeface="Arial"/>
              </a:rPr>
              <a:t>History and closeout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53E42AA-D332-4732-A0BC-7B6F98D04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4495800"/>
            <a:ext cx="23431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A7ACC2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A7ACC2"/>
                </a:solidFill>
                <a:latin typeface="Calibri"/>
                <a:ea typeface="Calibri"/>
                <a:cs typeface="Calibri"/>
              </a:rPr>
              <a:t>comments</a:t>
            </a:r>
          </a:p>
          <a:p xmlns:a="http://schemas.openxmlformats.org/drawingml/2006/main">
            <a:pPr algn="ctr">
              <a:defRPr sz="1125" b="0" i="0">
                <a:solidFill>
                  <a:srgbClr val="A7ACC2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A7ACC2"/>
                </a:solidFill>
                <a:latin typeface="Calibri"/>
                <a:ea typeface="Calibri"/>
                <a:cs typeface="Calibri"/>
              </a:rPr>
              <a:t>decision_log</a:t>
            </a:r>
          </a:p>
          <a:p xmlns:a="http://schemas.openxmlformats.org/drawingml/2006/main">
            <a:pPr algn="ctr">
              <a:defRPr sz="1125" b="0" i="0">
                <a:solidFill>
                  <a:srgbClr val="A7ACC2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A7ACC2"/>
                </a:solidFill>
                <a:latin typeface="Calibri"/>
                <a:ea typeface="Calibri"/>
                <a:cs typeface="Calibri"/>
              </a:rPr>
              <a:t>closeout_submissions</a:t>
            </a:r>
          </a:p>
          <a:p xmlns:a="http://schemas.openxmlformats.org/drawingml/2006/main">
            <a:pPr algn="ctr">
              <a:defRPr sz="1125" b="0" i="0">
                <a:solidFill>
                  <a:srgbClr val="A7ACC2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A7ACC2"/>
                </a:solidFill>
                <a:latin typeface="Calibri"/>
                <a:ea typeface="Calibri"/>
                <a:cs typeface="Calibri"/>
              </a:rPr>
              <a:t>billing_records</a:t>
            </a:r>
          </a:p>
          <a:p xmlns:a="http://schemas.openxmlformats.org/drawingml/2006/main">
            <a:pPr algn="ctr">
              <a:defRPr sz="1125" b="0" i="0">
                <a:solidFill>
                  <a:srgbClr val="A7ACC2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A7ACC2"/>
                </a:solidFill>
                <a:latin typeface="Calibri"/>
                <a:ea typeface="Calibri"/>
                <a:cs typeface="Calibri"/>
              </a:rPr>
              <a:t>notification_log</a:t>
            </a:r>
          </a:p>
        </p:txBody>
      </p:sp>
      <p:cxnSp>
        <p:nvCxnSpPr>
          <p:cNvPr id="53" name=""/>
          <p:cNvCxnSpPr>
            <a:stCxn xmlns:a="http://schemas.openxmlformats.org/drawingml/2006/main" id="7" idx="3"/>
            <a:endCxn xmlns:a="http://schemas.openxmlformats.org/drawingml/2006/main" id="22" idx="1"/>
          </p:cNvCxnSpPr>
          <p:nvPr/>
        </p:nvCxnSpPr>
        <p:spPr>
          <a:xfrm xmlns:a="http://schemas.openxmlformats.org/drawingml/2006/main">
            <a:off x="7334250" y="3333750"/>
            <a:ext cx="1619250" cy="14763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FF6B8A"/>
            </a:solidFill>
            <a:prstDash val="solid"/>
            <a:tailEnd type="arrow" w="sm" len="sm"/>
          </a:ln>
        </p:spPr>
      </p:cxn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2C7EE30-8F56-4ACC-9E7D-D449ACFE1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619625"/>
            <a:ext cx="23812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B84B">
              <a:alpha val="12549"/>
            </a:srgbClr>
          </a:solidFill>
          <a:ln xmlns:a="http://schemas.openxmlformats.org/drawingml/2006/main" w="9525">
            <a:solidFill>
              <a:srgbClr val="F5B84B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E607A35-1A5D-49FA-9074-5E256607B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62915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5B84B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F5B84B"/>
                </a:solidFill>
                <a:latin typeface="Arial"/>
                <a:ea typeface="Arial"/>
                <a:cs typeface="Arial"/>
              </a:rPr>
              <a:t>VENDOR PROFILE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86086F3-EC08-4B8F-85F8-769DD6A73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619750"/>
            <a:ext cx="723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 i="0">
                <a:solidFill>
                  <a:srgbClr val="A7ACC2"/>
                </a:solidFill>
                <a:latin typeface="Calibri"/>
                <a:ea typeface="Calibri"/>
                <a:cs typeface="Calibri"/>
              </a:defRPr>
            </a:pPr>
            <a:r>
              <a:rPr sz="1500" b="0" i="0">
                <a:solidFill>
                  <a:srgbClr val="A7ACC2"/>
                </a:solidFill>
                <a:latin typeface="Calibri"/>
                <a:ea typeface="Calibri"/>
                <a:cs typeface="Calibri"/>
              </a:rPr>
              <a:t>Foreign keys preserve structure. Owner/request IDs remain the active authorization anchors.</a:t>
            </a:r>
          </a:p>
        </p:txBody>
      </p:sp>
    </p:spTree>
    <p:extLst>
      <p:ext uri="{BB962C8B-B14F-4D97-AF65-F5344CB8AC3E}">
        <p14:creationId xmlns:p14="http://schemas.microsoft.com/office/powerpoint/2010/main" val="1922859031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0E0F1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BA70D03-FF15-4963-BF2E-BFBF27688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4287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6B8A">
              <a:alpha val="12549"/>
            </a:srgbClr>
          </a:solidFill>
          <a:ln xmlns:a="http://schemas.openxmlformats.org/drawingml/2006/main" w="9525">
            <a:solidFill>
              <a:srgbClr val="FF6B8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0EAD8E-30BC-4591-A99A-4592572AD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6B8A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FF6B8A"/>
                </a:solidFill>
                <a:latin typeface="Arial"/>
                <a:ea typeface="Arial"/>
                <a:cs typeface="Arial"/>
              </a:rPr>
              <a:t>TRUST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F28A2A-B8E5-46A0-9DE0-4F01D46E3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F1F2F8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F1F2F8"/>
                </a:solidFill>
                <a:latin typeface="Arial"/>
                <a:ea typeface="Arial"/>
                <a:cs typeface="Arial"/>
              </a:rPr>
              <a:t>Authentication and authorization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44B491-A506-457A-9BDC-BE9044CD8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1">
                <a:solidFill>
                  <a:srgbClr val="A7ACC2"/>
                </a:solidFill>
                <a:latin typeface="Calibri"/>
                <a:ea typeface="Calibri"/>
                <a:cs typeface="Calibri"/>
              </a:defRPr>
            </a:pPr>
            <a:r>
              <a:rPr sz="1500" b="0" i="1">
                <a:solidFill>
                  <a:srgbClr val="A7ACC2"/>
                </a:solidFill>
                <a:latin typeface="Calibri"/>
                <a:ea typeface="Calibri"/>
                <a:cs typeface="Calibri"/>
              </a:rPr>
              <a:t>Defense in depth keeps navigation friendly and mutations authoritative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B8CDE4-27BC-45E9-8709-6E6AB8F3E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38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737A99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737A99"/>
                </a:solidFill>
                <a:latin typeface="Arial"/>
                <a:ea typeface="Arial"/>
                <a:cs typeface="Arial"/>
              </a:rPr>
              <a:t>TURNFLOW HOME  •  SYSTEM GUIDE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9A5DFE-2406-421A-BF0D-97061C2D3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737A99"/>
                </a:solidFill>
                <a:latin typeface="Courier New"/>
                <a:ea typeface="Courier New"/>
                <a:cs typeface="Courier New"/>
              </a:defRPr>
            </a:pPr>
            <a:r>
              <a:rPr sz="900" b="0" i="0">
                <a:solidFill>
                  <a:srgbClr val="737A99"/>
                </a:solidFill>
                <a:latin typeface="Courier New"/>
                <a:ea typeface="Courier New"/>
                <a:cs typeface="Courier New"/>
              </a:rPr>
              <a:t>17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0B6AB0-EBAC-4FC2-8B64-F1D65A09D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90750"/>
            <a:ext cx="1905000" cy="314325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1B1D2E"/>
          </a:solidFill>
          <a:ln xmlns:a="http://schemas.openxmlformats.org/drawingml/2006/main" w="19050">
            <a:solidFill>
              <a:srgbClr val="8B7C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E6AD93-7CDC-4EAF-BCF5-774AB9B9C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476500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7CFF"/>
          </a:solidFill>
          <a:ln xmlns:a="http://schemas.openxmlformats.org/drawingml/2006/main" w="9525">
            <a:solidFill>
              <a:srgbClr val="8B7C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5F1A227-E0BE-4BC6-9A8E-BC71DD300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476500"/>
            <a:ext cx="57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0E0F1A"/>
                </a:solidFill>
                <a:latin typeface="Calibri"/>
                <a:ea typeface="Calibri"/>
                <a:cs typeface="Calibri"/>
              </a:defRPr>
            </a:pPr>
            <a:r>
              <a:rPr sz="1800" b="1" i="0">
                <a:solidFill>
                  <a:srgbClr val="0E0F1A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104923E-71BF-4542-A78C-5A7051B14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381375"/>
            <a:ext cx="1562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8B7CFF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8B7CFF"/>
                </a:solidFill>
                <a:latin typeface="Arial"/>
                <a:ea typeface="Arial"/>
                <a:cs typeface="Arial"/>
              </a:rPr>
              <a:t>Credentials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D34DE32-FE8F-4C53-B2B9-16238BC77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905250"/>
            <a:ext cx="15621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 i="0">
                <a:solidFill>
                  <a:srgbClr val="A7ACC2"/>
                </a:solidFill>
                <a:latin typeface="Calibri"/>
                <a:ea typeface="Calibri"/>
                <a:cs typeface="Calibri"/>
              </a:defRPr>
            </a:pPr>
            <a:r>
              <a:rPr sz="1275" b="0" i="0">
                <a:solidFill>
                  <a:srgbClr val="A7ACC2"/>
                </a:solidFill>
                <a:latin typeface="Calibri"/>
                <a:ea typeface="Calibri"/>
                <a:cs typeface="Calibri"/>
              </a:rPr>
              <a:t>Zod parses input. Rate limits and bcrypt protect login.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33CCC8B-6FA8-4950-9EA5-299D5D0A9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2190750"/>
            <a:ext cx="1905000" cy="314325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1B1D2E"/>
          </a:solidFill>
          <a:ln xmlns:a="http://schemas.openxmlformats.org/drawingml/2006/main" w="19050">
            <a:solidFill>
              <a:srgbClr val="5EC8F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2D902EB-36EE-4585-A796-A1E776D75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476500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EC8F2"/>
          </a:solidFill>
          <a:ln xmlns:a="http://schemas.openxmlformats.org/drawingml/2006/main" w="9525">
            <a:solidFill>
              <a:srgbClr val="5EC8F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55A9E95-AFAE-4A98-A79A-A1B5D902E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476500"/>
            <a:ext cx="57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0E0F1A"/>
                </a:solidFill>
                <a:latin typeface="Calibri"/>
                <a:ea typeface="Calibri"/>
                <a:cs typeface="Calibri"/>
              </a:defRPr>
            </a:pPr>
            <a:r>
              <a:rPr sz="1800" b="1" i="0">
                <a:solidFill>
                  <a:srgbClr val="0E0F1A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590EA22-45F6-4AAB-9E27-92DE7260F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1825" y="3381375"/>
            <a:ext cx="1562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5EC8F2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5EC8F2"/>
                </a:solidFill>
                <a:latin typeface="Arial"/>
                <a:ea typeface="Arial"/>
                <a:cs typeface="Arial"/>
              </a:rPr>
              <a:t>Session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097FA57-925B-4656-B3E5-BD6854004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1825" y="3905250"/>
            <a:ext cx="15621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 i="0">
                <a:solidFill>
                  <a:srgbClr val="A7ACC2"/>
                </a:solidFill>
                <a:latin typeface="Calibri"/>
                <a:ea typeface="Calibri"/>
                <a:cs typeface="Calibri"/>
              </a:defRPr>
            </a:pPr>
            <a:r>
              <a:rPr sz="1275" b="0" i="0">
                <a:solidFill>
                  <a:srgbClr val="A7ACC2"/>
                </a:solidFill>
                <a:latin typeface="Calibri"/>
                <a:ea typeface="Calibri"/>
                <a:cs typeface="Calibri"/>
              </a:rPr>
              <a:t>Auth.js stores user ID and role in a JWT session.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6CEDECE-06E2-479D-B696-10C9185EA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190750"/>
            <a:ext cx="1905000" cy="314325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1B1D2E"/>
          </a:solidFill>
          <a:ln xmlns:a="http://schemas.openxmlformats.org/drawingml/2006/main" w="19050">
            <a:solidFill>
              <a:srgbClr val="F5B84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BFE1BA9-B427-499D-87D7-677E9D57B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476500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B84B"/>
          </a:solidFill>
          <a:ln xmlns:a="http://schemas.openxmlformats.org/drawingml/2006/main" w="9525">
            <a:solidFill>
              <a:srgbClr val="F5B84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1566A2E-A1F3-428A-B2B6-526323809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476500"/>
            <a:ext cx="57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0E0F1A"/>
                </a:solidFill>
                <a:latin typeface="Calibri"/>
                <a:ea typeface="Calibri"/>
                <a:cs typeface="Calibri"/>
              </a:defRPr>
            </a:pPr>
            <a:r>
              <a:rPr sz="1800" b="1" i="0">
                <a:solidFill>
                  <a:srgbClr val="0E0F1A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3F43478-30A6-4B2F-8F7A-34E852068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3381375"/>
            <a:ext cx="1562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F5B84B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F5B84B"/>
                </a:solidFill>
                <a:latin typeface="Arial"/>
                <a:ea typeface="Arial"/>
                <a:cs typeface="Arial"/>
              </a:rPr>
              <a:t>Routing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FFC2E5A-FDDB-4DC9-BCEB-75D8A627D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3905250"/>
            <a:ext cx="15621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 i="0">
                <a:solidFill>
                  <a:srgbClr val="A7ACC2"/>
                </a:solidFill>
                <a:latin typeface="Calibri"/>
                <a:ea typeface="Calibri"/>
                <a:cs typeface="Calibri"/>
              </a:defRPr>
            </a:pPr>
            <a:r>
              <a:rPr sz="1275" b="0" i="0">
                <a:solidFill>
                  <a:srgbClr val="A7ACC2"/>
                </a:solidFill>
                <a:latin typeface="Calibri"/>
                <a:ea typeface="Calibri"/>
                <a:cs typeface="Calibri"/>
              </a:rPr>
              <a:t>proxy.ts redirects signed-out and cross-role page visits.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D648C29-0EB7-4789-90A5-DFC54EF28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2190750"/>
            <a:ext cx="1905000" cy="314325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1B1D2E"/>
          </a:solidFill>
          <a:ln xmlns:a="http://schemas.openxmlformats.org/drawingml/2006/main" w="19050">
            <a:solidFill>
              <a:srgbClr val="FF6B8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6EB8FCE-54F5-4F99-95CE-2779C266E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476500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8A"/>
          </a:solidFill>
          <a:ln xmlns:a="http://schemas.openxmlformats.org/drawingml/2006/main" w="9525">
            <a:solidFill>
              <a:srgbClr val="FF6B8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54D45E9-DC11-43C8-BF9B-41A5CEFD9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476500"/>
            <a:ext cx="57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0E0F1A"/>
                </a:solidFill>
                <a:latin typeface="Calibri"/>
                <a:ea typeface="Calibri"/>
                <a:cs typeface="Calibri"/>
              </a:defRPr>
            </a:pPr>
            <a:r>
              <a:rPr sz="1800" b="1" i="0">
                <a:solidFill>
                  <a:srgbClr val="0E0F1A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21F110F-1EDC-44DE-9B70-C1AC4A5B9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8575" y="3381375"/>
            <a:ext cx="1562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FF6B8A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FF6B8A"/>
                </a:solidFill>
                <a:latin typeface="Arial"/>
                <a:ea typeface="Arial"/>
                <a:cs typeface="Arial"/>
              </a:rPr>
              <a:t>Server policy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D5C42A0-4B6C-4BBE-AB68-42AD1A35B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8575" y="3905250"/>
            <a:ext cx="15621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 i="0">
                <a:solidFill>
                  <a:srgbClr val="A7ACC2"/>
                </a:solidFill>
                <a:latin typeface="Calibri"/>
                <a:ea typeface="Calibri"/>
                <a:cs typeface="Calibri"/>
              </a:defRPr>
            </a:pPr>
            <a:r>
              <a:rPr sz="1275" b="0" i="0">
                <a:solidFill>
                  <a:srgbClr val="A7ACC2"/>
                </a:solidFill>
                <a:latin typeface="Calibri"/>
                <a:ea typeface="Calibri"/>
                <a:cs typeface="Calibri"/>
              </a:rPr>
              <a:t>DAL and actions re-check role plus resource ownership.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3F7523E-B3EA-4878-8DD5-481FCDFAD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190750"/>
            <a:ext cx="1905000" cy="314325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1B1D2E"/>
          </a:solidFill>
          <a:ln xmlns:a="http://schemas.openxmlformats.org/drawingml/2006/main" w="19050">
            <a:solidFill>
              <a:srgbClr val="2DD4A7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7FBD952-7D9E-43A4-8C56-7A746252A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476500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D4A7"/>
          </a:solidFill>
          <a:ln xmlns:a="http://schemas.openxmlformats.org/drawingml/2006/main" w="9525">
            <a:solidFill>
              <a:srgbClr val="2DD4A7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395FB72-4294-4CEE-B146-A5540A3E0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476500"/>
            <a:ext cx="57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0E0F1A"/>
                </a:solidFill>
                <a:latin typeface="Calibri"/>
                <a:ea typeface="Calibri"/>
                <a:cs typeface="Calibri"/>
              </a:defRPr>
            </a:pPr>
            <a:r>
              <a:rPr sz="1800" b="1" i="0">
                <a:solidFill>
                  <a:srgbClr val="0E0F1A"/>
                </a:solidFill>
                <a:latin typeface="Calibri"/>
                <a:ea typeface="Calibri"/>
                <a:cs typeface="Calibri"/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8B01A3A-CA4D-4F9E-A108-600BA6523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3381375"/>
            <a:ext cx="1562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2DD4A7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2DD4A7"/>
                </a:solidFill>
                <a:latin typeface="Arial"/>
                <a:ea typeface="Arial"/>
                <a:cs typeface="Arial"/>
              </a:rPr>
              <a:t>Data boundary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F2C5692-CA9C-4938-BC07-F464B428D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3905250"/>
            <a:ext cx="15621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 i="0">
                <a:solidFill>
                  <a:srgbClr val="A7ACC2"/>
                </a:solidFill>
                <a:latin typeface="Calibri"/>
                <a:ea typeface="Calibri"/>
                <a:cs typeface="Calibri"/>
              </a:defRPr>
            </a:pPr>
            <a:r>
              <a:rPr sz="1275" b="0" i="0">
                <a:solidFill>
                  <a:srgbClr val="A7ACC2"/>
                </a:solidFill>
                <a:latin typeface="Calibri"/>
                <a:ea typeface="Calibri"/>
                <a:cs typeface="Calibri"/>
              </a:rPr>
              <a:t>Foreign keys and scoped queries limit related records.</a:t>
            </a:r>
          </a:p>
        </p:txBody>
      </p:sp>
    </p:spTree>
    <p:extLst>
      <p:ext uri="{BB962C8B-B14F-4D97-AF65-F5344CB8AC3E}">
        <p14:creationId xmlns:p14="http://schemas.microsoft.com/office/powerpoint/2010/main" val="747788716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0E0F1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4A2E0F1D-6BD9-4D6E-BE37-EF593DE07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4287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6B8A">
              <a:alpha val="12549"/>
            </a:srgbClr>
          </a:solidFill>
          <a:ln xmlns:a="http://schemas.openxmlformats.org/drawingml/2006/main" w="9525">
            <a:solidFill>
              <a:srgbClr val="FF6B8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ED7B6F-39FA-44B0-B475-A682B2362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6B8A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FF6B8A"/>
                </a:solidFill>
                <a:latin typeface="Arial"/>
                <a:ea typeface="Arial"/>
                <a:cs typeface="Arial"/>
              </a:rPr>
              <a:t>TRUST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4890EB-E38A-40DD-B1C7-A7563C27C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F1F2F8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F1F2F8"/>
                </a:solidFill>
                <a:latin typeface="Arial"/>
                <a:ea typeface="Arial"/>
                <a:cs typeface="Arial"/>
              </a:rPr>
              <a:t>Permission matrix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F87033-E16D-42BE-8B52-E8A71274C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1">
                <a:solidFill>
                  <a:srgbClr val="A7ACC2"/>
                </a:solidFill>
                <a:latin typeface="Calibri"/>
                <a:ea typeface="Calibri"/>
                <a:cs typeface="Calibri"/>
              </a:defRPr>
            </a:pPr>
            <a:r>
              <a:rPr sz="1500" b="0" i="1">
                <a:solidFill>
                  <a:srgbClr val="A7ACC2"/>
                </a:solidFill>
                <a:latin typeface="Calibri"/>
                <a:ea typeface="Calibri"/>
                <a:cs typeface="Calibri"/>
              </a:rPr>
              <a:t>Capabilities follow the durable owner record and request assignment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82CA42-DB44-4E7E-8E0D-FE53D0DCF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38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737A99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737A99"/>
                </a:solidFill>
                <a:latin typeface="Arial"/>
                <a:ea typeface="Arial"/>
                <a:cs typeface="Arial"/>
              </a:rPr>
              <a:t>TURNFLOW HOME  •  SYSTEM GUIDE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E5B2F3-3554-4F71-8125-A721B46A3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737A99"/>
                </a:solidFill>
                <a:latin typeface="Courier New"/>
                <a:ea typeface="Courier New"/>
                <a:cs typeface="Courier New"/>
              </a:defRPr>
            </a:pPr>
            <a:r>
              <a:rPr sz="900" b="0" i="0">
                <a:solidFill>
                  <a:srgbClr val="737A99"/>
                </a:solidFill>
                <a:latin typeface="Courier New"/>
                <a:ea typeface="Courier New"/>
                <a:cs typeface="Courier New"/>
              </a:rPr>
              <a:t>18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25C14E-9031-4ACB-BECC-588186184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47875"/>
            <a:ext cx="4095750" cy="4572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262A42"/>
          </a:solidFill>
          <a:ln xmlns:a="http://schemas.openxmlformats.org/drawingml/2006/main" w="9525">
            <a:solidFill>
              <a:srgbClr val="3A3F5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14B11D-B63F-44D2-9EBC-777B49802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47875"/>
            <a:ext cx="3905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F1F2F8"/>
                </a:solidFill>
                <a:latin typeface="Calibri"/>
                <a:ea typeface="Calibri"/>
                <a:cs typeface="Calibri"/>
              </a:defRPr>
            </a:pPr>
            <a:r>
              <a:rPr sz="1350" b="1" i="0">
                <a:solidFill>
                  <a:srgbClr val="F1F2F8"/>
                </a:solidFill>
                <a:latin typeface="Calibri"/>
                <a:ea typeface="Calibri"/>
                <a:cs typeface="Calibri"/>
              </a:rPr>
              <a:t>Capability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D94A5A-D4FE-414B-93F6-C1066652A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047875"/>
            <a:ext cx="2000250" cy="4572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8B7CFF"/>
          </a:solidFill>
          <a:ln xmlns:a="http://schemas.openxmlformats.org/drawingml/2006/main" w="9525">
            <a:solidFill>
              <a:srgbClr val="3A3F5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83E5936-A5C4-4723-AF06-AB7F58E16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047875"/>
            <a:ext cx="1809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0E0F1A"/>
                </a:solidFill>
                <a:latin typeface="Calibri"/>
                <a:ea typeface="Calibri"/>
                <a:cs typeface="Calibri"/>
              </a:defRPr>
            </a:pPr>
            <a:r>
              <a:rPr sz="1350" b="1" i="0">
                <a:solidFill>
                  <a:srgbClr val="0E0F1A"/>
                </a:solidFill>
                <a:latin typeface="Calibri"/>
                <a:ea typeface="Calibri"/>
                <a:cs typeface="Calibri"/>
              </a:rPr>
              <a:t>Owner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6A492AF-DDF2-4045-974C-554E287E4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047875"/>
            <a:ext cx="2476500" cy="4572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8B7CFF"/>
          </a:solidFill>
          <a:ln xmlns:a="http://schemas.openxmlformats.org/drawingml/2006/main" w="9525">
            <a:solidFill>
              <a:srgbClr val="3A3F5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E4413C8-8457-4221-AF0D-0639D6F14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047875"/>
            <a:ext cx="228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0E0F1A"/>
                </a:solidFill>
                <a:latin typeface="Calibri"/>
                <a:ea typeface="Calibri"/>
                <a:cs typeface="Calibri"/>
              </a:defRPr>
            </a:pPr>
            <a:r>
              <a:rPr sz="1350" b="1" i="0">
                <a:solidFill>
                  <a:srgbClr val="0E0F1A"/>
                </a:solidFill>
                <a:latin typeface="Calibri"/>
                <a:ea typeface="Calibri"/>
                <a:cs typeface="Calibri"/>
              </a:rPr>
              <a:t>Assigned vendor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F0AA443-A8ED-45B3-9427-6A1A8BEDF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047875"/>
            <a:ext cx="2190750" cy="4572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8B7CFF"/>
          </a:solidFill>
          <a:ln xmlns:a="http://schemas.openxmlformats.org/drawingml/2006/main" w="9525">
            <a:solidFill>
              <a:srgbClr val="3A3F5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6600C0B-D642-4593-9484-EB13E2ED1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047875"/>
            <a:ext cx="200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0E0F1A"/>
                </a:solidFill>
                <a:latin typeface="Calibri"/>
                <a:ea typeface="Calibri"/>
                <a:cs typeface="Calibri"/>
              </a:defRPr>
            </a:pPr>
            <a:r>
              <a:rPr sz="1350" b="1" i="0">
                <a:solidFill>
                  <a:srgbClr val="0E0F1A"/>
                </a:solidFill>
                <a:latin typeface="Calibri"/>
                <a:ea typeface="Calibri"/>
                <a:cs typeface="Calibri"/>
              </a:rPr>
              <a:t>Collaborator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DA30B09-A8B5-4EBD-AB75-0DBDE2B97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05075"/>
            <a:ext cx="4095750" cy="4572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B1D2E"/>
          </a:solidFill>
          <a:ln xmlns:a="http://schemas.openxmlformats.org/drawingml/2006/main" w="9525">
            <a:solidFill>
              <a:srgbClr val="3A3F5E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7D47A9E-B3DD-46A5-864D-BFAA9E12E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05075"/>
            <a:ext cx="3905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F1F2F8"/>
                </a:solidFill>
                <a:latin typeface="Calibri"/>
                <a:ea typeface="Calibri"/>
                <a:cs typeface="Calibri"/>
              </a:defRPr>
            </a:pPr>
            <a:r>
              <a:rPr sz="1275" b="0" i="0">
                <a:solidFill>
                  <a:srgbClr val="F1F2F8"/>
                </a:solidFill>
                <a:latin typeface="Calibri"/>
                <a:ea typeface="Calibri"/>
                <a:cs typeface="Calibri"/>
              </a:rPr>
              <a:t>View owned property records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284D3BD-9530-4437-9FA7-2F505C7CA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505075"/>
            <a:ext cx="2000250" cy="4572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B1D2E"/>
          </a:solidFill>
          <a:ln xmlns:a="http://schemas.openxmlformats.org/drawingml/2006/main" w="9525">
            <a:solidFill>
              <a:srgbClr val="3A3F5E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E931F86-18BF-44C8-88C5-DD8FFE2B2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505075"/>
            <a:ext cx="1809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2DD4A7"/>
                </a:solidFill>
                <a:latin typeface="Calibri"/>
                <a:ea typeface="Calibri"/>
                <a:cs typeface="Calibri"/>
              </a:defRPr>
            </a:pPr>
            <a:r>
              <a:rPr sz="1275" b="1" i="0">
                <a:solidFill>
                  <a:srgbClr val="2DD4A7"/>
                </a:solidFill>
                <a:latin typeface="Calibri"/>
                <a:ea typeface="Calibri"/>
                <a:cs typeface="Calibri"/>
              </a:rPr>
              <a:t>Yes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E207336-F235-4721-8B90-824BB01B8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505075"/>
            <a:ext cx="2476500" cy="4572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B1D2E"/>
          </a:solidFill>
          <a:ln xmlns:a="http://schemas.openxmlformats.org/drawingml/2006/main" w="9525">
            <a:solidFill>
              <a:srgbClr val="3A3F5E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E705F2D-F227-4DB3-ACA4-D8E1C1AA7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505075"/>
            <a:ext cx="228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737A99"/>
                </a:solidFill>
                <a:latin typeface="Calibri"/>
                <a:ea typeface="Calibri"/>
                <a:cs typeface="Calibri"/>
              </a:defRPr>
            </a:pPr>
            <a:r>
              <a:rPr sz="1275" b="1" i="0">
                <a:solidFill>
                  <a:srgbClr val="737A99"/>
                </a:solidFill>
                <a:latin typeface="Calibri"/>
                <a:ea typeface="Calibri"/>
                <a:cs typeface="Calibri"/>
              </a:rPr>
              <a:t>No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F32EE10-DE28-441E-996D-07ECA3649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505075"/>
            <a:ext cx="2190750" cy="4572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B1D2E"/>
          </a:solidFill>
          <a:ln xmlns:a="http://schemas.openxmlformats.org/drawingml/2006/main" w="9525">
            <a:solidFill>
              <a:srgbClr val="3A3F5E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529D787-A829-4700-AD5E-F7F0AD2AB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505075"/>
            <a:ext cx="200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737A99"/>
                </a:solidFill>
                <a:latin typeface="Calibri"/>
                <a:ea typeface="Calibri"/>
                <a:cs typeface="Calibri"/>
              </a:defRPr>
            </a:pPr>
            <a:r>
              <a:rPr sz="1275" b="1" i="0">
                <a:solidFill>
                  <a:srgbClr val="737A99"/>
                </a:solidFill>
                <a:latin typeface="Calibri"/>
                <a:ea typeface="Calibri"/>
                <a:cs typeface="Calibri"/>
              </a:rPr>
              <a:t>No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1F5157E-8D87-46E6-8278-CDAAD0C44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62275"/>
            <a:ext cx="4095750" cy="4572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262A42"/>
          </a:solidFill>
          <a:ln xmlns:a="http://schemas.openxmlformats.org/drawingml/2006/main" w="9525">
            <a:solidFill>
              <a:srgbClr val="3A3F5E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8E430AB-28EE-4CCE-A92A-E57F8C097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62275"/>
            <a:ext cx="3905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F1F2F8"/>
                </a:solidFill>
                <a:latin typeface="Calibri"/>
                <a:ea typeface="Calibri"/>
                <a:cs typeface="Calibri"/>
              </a:defRPr>
            </a:pPr>
            <a:r>
              <a:rPr sz="1275" b="0" i="0">
                <a:solidFill>
                  <a:srgbClr val="F1F2F8"/>
                </a:solidFill>
                <a:latin typeface="Calibri"/>
                <a:ea typeface="Calibri"/>
                <a:cs typeface="Calibri"/>
              </a:rPr>
              <a:t>View one shared request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04D0FFC-68FA-4EE4-8F81-5F4BCDDEA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962275"/>
            <a:ext cx="2000250" cy="4572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262A42"/>
          </a:solidFill>
          <a:ln xmlns:a="http://schemas.openxmlformats.org/drawingml/2006/main" w="9525">
            <a:solidFill>
              <a:srgbClr val="3A3F5E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7AB55EF-7A09-4234-97D2-F0F97290B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962275"/>
            <a:ext cx="1809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2DD4A7"/>
                </a:solidFill>
                <a:latin typeface="Calibri"/>
                <a:ea typeface="Calibri"/>
                <a:cs typeface="Calibri"/>
              </a:defRPr>
            </a:pPr>
            <a:r>
              <a:rPr sz="1275" b="1" i="0">
                <a:solidFill>
                  <a:srgbClr val="2DD4A7"/>
                </a:solidFill>
                <a:latin typeface="Calibri"/>
                <a:ea typeface="Calibri"/>
                <a:cs typeface="Calibri"/>
              </a:rPr>
              <a:t>Yes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ADEAF01-9AD8-4910-8E36-44C82D195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962275"/>
            <a:ext cx="2476500" cy="4572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262A42"/>
          </a:solidFill>
          <a:ln xmlns:a="http://schemas.openxmlformats.org/drawingml/2006/main" w="9525">
            <a:solidFill>
              <a:srgbClr val="3A3F5E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1DF59AA-65A2-494D-AB2F-226C273D7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962275"/>
            <a:ext cx="228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2DD4A7"/>
                </a:solidFill>
                <a:latin typeface="Calibri"/>
                <a:ea typeface="Calibri"/>
                <a:cs typeface="Calibri"/>
              </a:defRPr>
            </a:pPr>
            <a:r>
              <a:rPr sz="1275" b="1" i="0">
                <a:solidFill>
                  <a:srgbClr val="2DD4A7"/>
                </a:solidFill>
                <a:latin typeface="Calibri"/>
                <a:ea typeface="Calibri"/>
                <a:cs typeface="Calibri"/>
              </a:rPr>
              <a:t>Yes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AF9AF23-2A30-4593-9702-8BDF93FF6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962275"/>
            <a:ext cx="2190750" cy="4572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262A42"/>
          </a:solidFill>
          <a:ln xmlns:a="http://schemas.openxmlformats.org/drawingml/2006/main" w="9525">
            <a:solidFill>
              <a:srgbClr val="3A3F5E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3304DB1-B1D4-45B1-BC39-E3D10DDFD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962275"/>
            <a:ext cx="200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2DD4A7"/>
                </a:solidFill>
                <a:latin typeface="Calibri"/>
                <a:ea typeface="Calibri"/>
                <a:cs typeface="Calibri"/>
              </a:defRPr>
            </a:pPr>
            <a:r>
              <a:rPr sz="1275" b="1" i="0">
                <a:solidFill>
                  <a:srgbClr val="2DD4A7"/>
                </a:solidFill>
                <a:latin typeface="Calibri"/>
                <a:ea typeface="Calibri"/>
                <a:cs typeface="Calibri"/>
              </a:rPr>
              <a:t>Yes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B79711A-3C42-4CD5-B3CF-15D9A83EE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19475"/>
            <a:ext cx="4095750" cy="4572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B1D2E"/>
          </a:solidFill>
          <a:ln xmlns:a="http://schemas.openxmlformats.org/drawingml/2006/main" w="9525">
            <a:solidFill>
              <a:srgbClr val="3A3F5E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8A4441F-FA60-4503-B4F4-3187C5D83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19475"/>
            <a:ext cx="3905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F1F2F8"/>
                </a:solidFill>
                <a:latin typeface="Calibri"/>
                <a:ea typeface="Calibri"/>
                <a:cs typeface="Calibri"/>
              </a:defRPr>
            </a:pPr>
            <a:r>
              <a:rPr sz="1275" b="0" i="0">
                <a:solidFill>
                  <a:srgbClr val="F1F2F8"/>
                </a:solidFill>
                <a:latin typeface="Calibri"/>
                <a:ea typeface="Calibri"/>
                <a:cs typeface="Calibri"/>
              </a:rPr>
              <a:t>Change request status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7CD6778-B653-43A5-B09D-5B4676E22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419475"/>
            <a:ext cx="2000250" cy="4572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B1D2E"/>
          </a:solidFill>
          <a:ln xmlns:a="http://schemas.openxmlformats.org/drawingml/2006/main" w="9525">
            <a:solidFill>
              <a:srgbClr val="3A3F5E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BC64AE2-8A5B-49C2-872E-DF7B03939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419475"/>
            <a:ext cx="1809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2DD4A7"/>
                </a:solidFill>
                <a:latin typeface="Calibri"/>
                <a:ea typeface="Calibri"/>
                <a:cs typeface="Calibri"/>
              </a:defRPr>
            </a:pPr>
            <a:r>
              <a:rPr sz="1275" b="1" i="0">
                <a:solidFill>
                  <a:srgbClr val="2DD4A7"/>
                </a:solidFill>
                <a:latin typeface="Calibri"/>
                <a:ea typeface="Calibri"/>
                <a:cs typeface="Calibri"/>
              </a:rPr>
              <a:t>Yes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83D075F-8910-4D08-980C-8137371D9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419475"/>
            <a:ext cx="2476500" cy="4572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B1D2E"/>
          </a:solidFill>
          <a:ln xmlns:a="http://schemas.openxmlformats.org/drawingml/2006/main" w="9525">
            <a:solidFill>
              <a:srgbClr val="3A3F5E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906B91F-6113-4C10-A00D-828EF0695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419475"/>
            <a:ext cx="228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F5B84B"/>
                </a:solidFill>
                <a:latin typeface="Calibri"/>
                <a:ea typeface="Calibri"/>
                <a:cs typeface="Calibri"/>
              </a:defRPr>
            </a:pPr>
            <a:r>
              <a:rPr sz="1275" b="1" i="0">
                <a:solidFill>
                  <a:srgbClr val="F5B84B"/>
                </a:solidFill>
                <a:latin typeface="Calibri"/>
                <a:ea typeface="Calibri"/>
                <a:cs typeface="Calibri"/>
              </a:rPr>
              <a:t>Working states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C966103-F3D1-40F5-B041-D1A2BE6C1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419475"/>
            <a:ext cx="2190750" cy="4572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B1D2E"/>
          </a:solidFill>
          <a:ln xmlns:a="http://schemas.openxmlformats.org/drawingml/2006/main" w="9525">
            <a:solidFill>
              <a:srgbClr val="3A3F5E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D9E7DE8-60EA-487C-BE97-A2A40F09B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419475"/>
            <a:ext cx="200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737A99"/>
                </a:solidFill>
                <a:latin typeface="Calibri"/>
                <a:ea typeface="Calibri"/>
                <a:cs typeface="Calibri"/>
              </a:defRPr>
            </a:pPr>
            <a:r>
              <a:rPr sz="1275" b="1" i="0">
                <a:solidFill>
                  <a:srgbClr val="737A99"/>
                </a:solidFill>
                <a:latin typeface="Calibri"/>
                <a:ea typeface="Calibri"/>
                <a:cs typeface="Calibri"/>
              </a:rPr>
              <a:t>No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7CC757D-C107-4FF8-859D-458C9A47A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76675"/>
            <a:ext cx="4095750" cy="4572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262A42"/>
          </a:solidFill>
          <a:ln xmlns:a="http://schemas.openxmlformats.org/drawingml/2006/main" w="9525">
            <a:solidFill>
              <a:srgbClr val="3A3F5E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E4D5F34-1CC8-4832-B9A0-1D087F0C5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76675"/>
            <a:ext cx="3905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F1F2F8"/>
                </a:solidFill>
                <a:latin typeface="Calibri"/>
                <a:ea typeface="Calibri"/>
                <a:cs typeface="Calibri"/>
              </a:defRPr>
            </a:pPr>
            <a:r>
              <a:rPr sz="1275" b="0" i="0">
                <a:solidFill>
                  <a:srgbClr val="F1F2F8"/>
                </a:solidFill>
                <a:latin typeface="Calibri"/>
                <a:ea typeface="Calibri"/>
                <a:cs typeface="Calibri"/>
              </a:rPr>
              <a:t>Add request evidence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7C54199-1F7A-468B-ABB3-BFEC5CDCC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876675"/>
            <a:ext cx="2000250" cy="4572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262A42"/>
          </a:solidFill>
          <a:ln xmlns:a="http://schemas.openxmlformats.org/drawingml/2006/main" w="9525">
            <a:solidFill>
              <a:srgbClr val="3A3F5E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B785A63-1E6E-4A82-AC0B-D6B6FA888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876675"/>
            <a:ext cx="1809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2DD4A7"/>
                </a:solidFill>
                <a:latin typeface="Calibri"/>
                <a:ea typeface="Calibri"/>
                <a:cs typeface="Calibri"/>
              </a:defRPr>
            </a:pPr>
            <a:r>
              <a:rPr sz="1275" b="1" i="0">
                <a:solidFill>
                  <a:srgbClr val="2DD4A7"/>
                </a:solidFill>
                <a:latin typeface="Calibri"/>
                <a:ea typeface="Calibri"/>
                <a:cs typeface="Calibri"/>
              </a:rPr>
              <a:t>Yes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C28BA05-07E2-4217-8E4F-665BD15B6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876675"/>
            <a:ext cx="2476500" cy="4572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262A42"/>
          </a:solidFill>
          <a:ln xmlns:a="http://schemas.openxmlformats.org/drawingml/2006/main" w="9525">
            <a:solidFill>
              <a:srgbClr val="3A3F5E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41A5371-35D0-4DE6-97CB-572582B6F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876675"/>
            <a:ext cx="228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2DD4A7"/>
                </a:solidFill>
                <a:latin typeface="Calibri"/>
                <a:ea typeface="Calibri"/>
                <a:cs typeface="Calibri"/>
              </a:defRPr>
            </a:pPr>
            <a:r>
              <a:rPr sz="1275" b="1" i="0">
                <a:solidFill>
                  <a:srgbClr val="2DD4A7"/>
                </a:solidFill>
                <a:latin typeface="Calibri"/>
                <a:ea typeface="Calibri"/>
                <a:cs typeface="Calibri"/>
              </a:rPr>
              <a:t>Yes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F18C127-F03D-4711-A462-E5B96D947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876675"/>
            <a:ext cx="2190750" cy="4572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262A42"/>
          </a:solidFill>
          <a:ln xmlns:a="http://schemas.openxmlformats.org/drawingml/2006/main" w="9525">
            <a:solidFill>
              <a:srgbClr val="3A3F5E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64C582A0-0C36-4DB4-B552-7255FA42C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876675"/>
            <a:ext cx="200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737A99"/>
                </a:solidFill>
                <a:latin typeface="Calibri"/>
                <a:ea typeface="Calibri"/>
                <a:cs typeface="Calibri"/>
              </a:defRPr>
            </a:pPr>
            <a:r>
              <a:rPr sz="1275" b="1" i="0">
                <a:solidFill>
                  <a:srgbClr val="737A99"/>
                </a:solidFill>
                <a:latin typeface="Calibri"/>
                <a:ea typeface="Calibri"/>
                <a:cs typeface="Calibri"/>
              </a:rPr>
              <a:t>No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B7ACC336-4C79-41D3-8013-CDC6CC373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33875"/>
            <a:ext cx="4095750" cy="4572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B1D2E"/>
          </a:solidFill>
          <a:ln xmlns:a="http://schemas.openxmlformats.org/drawingml/2006/main" w="9525">
            <a:solidFill>
              <a:srgbClr val="3A3F5E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98BE1B64-25C3-4F46-8D1E-37221E82F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33875"/>
            <a:ext cx="3905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F1F2F8"/>
                </a:solidFill>
                <a:latin typeface="Calibri"/>
                <a:ea typeface="Calibri"/>
                <a:cs typeface="Calibri"/>
              </a:defRPr>
            </a:pPr>
            <a:r>
              <a:rPr sz="1275" b="0" i="0">
                <a:solidFill>
                  <a:srgbClr val="F1F2F8"/>
                </a:solidFill>
                <a:latin typeface="Calibri"/>
                <a:ea typeface="Calibri"/>
                <a:cs typeface="Calibri"/>
              </a:rPr>
              <a:t>Manage quotes and final cost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9EEA7FAE-56C4-46FB-815E-FC15ADFBC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333875"/>
            <a:ext cx="2000250" cy="4572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B1D2E"/>
          </a:solidFill>
          <a:ln xmlns:a="http://schemas.openxmlformats.org/drawingml/2006/main" w="9525">
            <a:solidFill>
              <a:srgbClr val="3A3F5E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B52159ED-3F56-4976-A224-ECA4EB3D9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333875"/>
            <a:ext cx="1809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2DD4A7"/>
                </a:solidFill>
                <a:latin typeface="Calibri"/>
                <a:ea typeface="Calibri"/>
                <a:cs typeface="Calibri"/>
              </a:defRPr>
            </a:pPr>
            <a:r>
              <a:rPr sz="1275" b="1" i="0">
                <a:solidFill>
                  <a:srgbClr val="2DD4A7"/>
                </a:solidFill>
                <a:latin typeface="Calibri"/>
                <a:ea typeface="Calibri"/>
                <a:cs typeface="Calibri"/>
              </a:rPr>
              <a:t>Yes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49666F79-1D2B-4D5E-83C4-C89837DA7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333875"/>
            <a:ext cx="2476500" cy="4572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B1D2E"/>
          </a:solidFill>
          <a:ln xmlns:a="http://schemas.openxmlformats.org/drawingml/2006/main" w="9525">
            <a:solidFill>
              <a:srgbClr val="3A3F5E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5F49B5A0-CC95-4040-AF56-D3972333A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333875"/>
            <a:ext cx="228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F5B84B"/>
                </a:solidFill>
                <a:latin typeface="Calibri"/>
                <a:ea typeface="Calibri"/>
                <a:cs typeface="Calibri"/>
              </a:defRPr>
            </a:pPr>
            <a:r>
              <a:rPr sz="1275" b="1" i="0">
                <a:solidFill>
                  <a:srgbClr val="F5B84B"/>
                </a:solidFill>
                <a:latin typeface="Calibri"/>
                <a:ea typeface="Calibri"/>
                <a:cs typeface="Calibri"/>
              </a:rPr>
              <a:t>Vendor bid only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81A2010F-BF66-4AAE-882B-9A7A2354C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333875"/>
            <a:ext cx="2190750" cy="4572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B1D2E"/>
          </a:solidFill>
          <a:ln xmlns:a="http://schemas.openxmlformats.org/drawingml/2006/main" w="9525">
            <a:solidFill>
              <a:srgbClr val="3A3F5E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19CD34D1-D915-41C7-8088-089B8AE25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333875"/>
            <a:ext cx="200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737A99"/>
                </a:solidFill>
                <a:latin typeface="Calibri"/>
                <a:ea typeface="Calibri"/>
                <a:cs typeface="Calibri"/>
              </a:defRPr>
            </a:pPr>
            <a:r>
              <a:rPr sz="1275" b="1" i="0">
                <a:solidFill>
                  <a:srgbClr val="737A99"/>
                </a:solidFill>
                <a:latin typeface="Calibri"/>
                <a:ea typeface="Calibri"/>
                <a:cs typeface="Calibri"/>
              </a:rPr>
              <a:t>No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81E704E8-B73B-4281-B3FB-99F19EB71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91075"/>
            <a:ext cx="4095750" cy="4572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262A42"/>
          </a:solidFill>
          <a:ln xmlns:a="http://schemas.openxmlformats.org/drawingml/2006/main" w="9525">
            <a:solidFill>
              <a:srgbClr val="3A3F5E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8C66F950-7E7F-4D5D-BD83-8E33604CE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91075"/>
            <a:ext cx="3905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F1F2F8"/>
                </a:solidFill>
                <a:latin typeface="Calibri"/>
                <a:ea typeface="Calibri"/>
                <a:cs typeface="Calibri"/>
              </a:defRPr>
            </a:pPr>
            <a:r>
              <a:rPr sz="1275" b="0" i="0">
                <a:solidFill>
                  <a:srgbClr val="F1F2F8"/>
                </a:solidFill>
                <a:latin typeface="Calibri"/>
                <a:ea typeface="Calibri"/>
                <a:cs typeface="Calibri"/>
              </a:rPr>
              <a:t>Submit closeout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988C371A-0AE0-40EC-B331-F212DDE74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791075"/>
            <a:ext cx="2000250" cy="4572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262A42"/>
          </a:solidFill>
          <a:ln xmlns:a="http://schemas.openxmlformats.org/drawingml/2006/main" w="9525">
            <a:solidFill>
              <a:srgbClr val="3A3F5E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03C868B4-1A14-4DBC-A6E6-E88C26FDC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791075"/>
            <a:ext cx="1809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F5B84B"/>
                </a:solidFill>
                <a:latin typeface="Calibri"/>
                <a:ea typeface="Calibri"/>
                <a:cs typeface="Calibri"/>
              </a:defRPr>
            </a:pPr>
            <a:r>
              <a:rPr sz="1275" b="1" i="0">
                <a:solidFill>
                  <a:srgbClr val="F5B84B"/>
                </a:solidFill>
                <a:latin typeface="Calibri"/>
                <a:ea typeface="Calibri"/>
                <a:cs typeface="Calibri"/>
              </a:rPr>
              <a:t>Review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C2F8E6B8-E514-42A6-8F78-DAC298286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791075"/>
            <a:ext cx="2476500" cy="4572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262A42"/>
          </a:solidFill>
          <a:ln xmlns:a="http://schemas.openxmlformats.org/drawingml/2006/main" w="9525">
            <a:solidFill>
              <a:srgbClr val="3A3F5E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9A305E87-F10C-4550-8EC8-3BFB832E4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791075"/>
            <a:ext cx="228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2DD4A7"/>
                </a:solidFill>
                <a:latin typeface="Calibri"/>
                <a:ea typeface="Calibri"/>
                <a:cs typeface="Calibri"/>
              </a:defRPr>
            </a:pPr>
            <a:r>
              <a:rPr sz="1275" b="1" i="0">
                <a:solidFill>
                  <a:srgbClr val="2DD4A7"/>
                </a:solidFill>
                <a:latin typeface="Calibri"/>
                <a:ea typeface="Calibri"/>
                <a:cs typeface="Calibri"/>
              </a:rPr>
              <a:t>Yes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A954D66C-B0FA-49B7-8AEF-0B1AE0417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791075"/>
            <a:ext cx="2190750" cy="4572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262A42"/>
          </a:solidFill>
          <a:ln xmlns:a="http://schemas.openxmlformats.org/drawingml/2006/main" w="9525">
            <a:solidFill>
              <a:srgbClr val="3A3F5E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F741AD67-4FBE-4B86-B2AA-22D25636F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791075"/>
            <a:ext cx="200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737A99"/>
                </a:solidFill>
                <a:latin typeface="Calibri"/>
                <a:ea typeface="Calibri"/>
                <a:cs typeface="Calibri"/>
              </a:defRPr>
            </a:pPr>
            <a:r>
              <a:rPr sz="1275" b="1" i="0">
                <a:solidFill>
                  <a:srgbClr val="737A99"/>
                </a:solidFill>
                <a:latin typeface="Calibri"/>
                <a:ea typeface="Calibri"/>
                <a:cs typeface="Calibri"/>
              </a:rPr>
              <a:t>No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63F54FFF-24B0-42D0-B3AA-E4256F888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48275"/>
            <a:ext cx="4095750" cy="4572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B1D2E"/>
          </a:solidFill>
          <a:ln xmlns:a="http://schemas.openxmlformats.org/drawingml/2006/main" w="9525">
            <a:solidFill>
              <a:srgbClr val="3A3F5E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E3365CD2-6342-416B-9187-138795EA9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48275"/>
            <a:ext cx="3905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F1F2F8"/>
                </a:solidFill>
                <a:latin typeface="Calibri"/>
                <a:ea typeface="Calibri"/>
                <a:cs typeface="Calibri"/>
              </a:defRPr>
            </a:pPr>
            <a:r>
              <a:rPr sz="1275" b="0" i="0">
                <a:solidFill>
                  <a:srgbClr val="F1F2F8"/>
                </a:solidFill>
                <a:latin typeface="Calibri"/>
                <a:ea typeface="Calibri"/>
                <a:cs typeface="Calibri"/>
              </a:rPr>
              <a:t>Manage vault, backup, reminders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C021551E-683A-4AD8-B1DF-69D974DB2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5248275"/>
            <a:ext cx="2000250" cy="4572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B1D2E"/>
          </a:solidFill>
          <a:ln xmlns:a="http://schemas.openxmlformats.org/drawingml/2006/main" w="9525">
            <a:solidFill>
              <a:srgbClr val="3A3F5E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88E30678-87A8-41F5-8F76-A34159890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5248275"/>
            <a:ext cx="1809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2DD4A7"/>
                </a:solidFill>
                <a:latin typeface="Calibri"/>
                <a:ea typeface="Calibri"/>
                <a:cs typeface="Calibri"/>
              </a:defRPr>
            </a:pPr>
            <a:r>
              <a:rPr sz="1275" b="1" i="0">
                <a:solidFill>
                  <a:srgbClr val="2DD4A7"/>
                </a:solidFill>
                <a:latin typeface="Calibri"/>
                <a:ea typeface="Calibri"/>
                <a:cs typeface="Calibri"/>
              </a:rPr>
              <a:t>Yes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6DB65478-D4AE-47C0-B460-9701B2CFD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5248275"/>
            <a:ext cx="2476500" cy="4572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B1D2E"/>
          </a:solidFill>
          <a:ln xmlns:a="http://schemas.openxmlformats.org/drawingml/2006/main" w="9525">
            <a:solidFill>
              <a:srgbClr val="3A3F5E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C1AA4613-981D-48D4-A502-C1C564851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248275"/>
            <a:ext cx="228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737A99"/>
                </a:solidFill>
                <a:latin typeface="Calibri"/>
                <a:ea typeface="Calibri"/>
                <a:cs typeface="Calibri"/>
              </a:defRPr>
            </a:pPr>
            <a:r>
              <a:rPr sz="1275" b="1" i="0">
                <a:solidFill>
                  <a:srgbClr val="737A99"/>
                </a:solidFill>
                <a:latin typeface="Calibri"/>
                <a:ea typeface="Calibri"/>
                <a:cs typeface="Calibri"/>
              </a:rPr>
              <a:t>No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F48129FF-C8DA-44E8-A65C-BC56A0FE3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5248275"/>
            <a:ext cx="2190750" cy="4572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B1D2E"/>
          </a:solidFill>
          <a:ln xmlns:a="http://schemas.openxmlformats.org/drawingml/2006/main" w="9525">
            <a:solidFill>
              <a:srgbClr val="3A3F5E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FB3B99C5-7995-42D0-AD17-F0F846570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5248275"/>
            <a:ext cx="200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737A99"/>
                </a:solidFill>
                <a:latin typeface="Calibri"/>
                <a:ea typeface="Calibri"/>
                <a:cs typeface="Calibri"/>
              </a:defRPr>
            </a:pPr>
            <a:r>
              <a:rPr sz="1275" b="1" i="0">
                <a:solidFill>
                  <a:srgbClr val="737A99"/>
                </a:solidFill>
                <a:latin typeface="Calibri"/>
                <a:ea typeface="Calibri"/>
                <a:cs typeface="Calibri"/>
              </a:rPr>
              <a:t>No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F0F77577-EFC2-42B8-8713-3D189DE9A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05475"/>
            <a:ext cx="4095750" cy="4572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262A42"/>
          </a:solidFill>
          <a:ln xmlns:a="http://schemas.openxmlformats.org/drawingml/2006/main" w="9525">
            <a:solidFill>
              <a:srgbClr val="3A3F5E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FA825B66-6124-4CD7-9052-39E174583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05475"/>
            <a:ext cx="3905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F1F2F8"/>
                </a:solidFill>
                <a:latin typeface="Calibri"/>
                <a:ea typeface="Calibri"/>
                <a:cs typeface="Calibri"/>
              </a:defRPr>
            </a:pPr>
            <a:r>
              <a:rPr sz="1275" b="0" i="0">
                <a:solidFill>
                  <a:srgbClr val="F1F2F8"/>
                </a:solidFill>
                <a:latin typeface="Calibri"/>
                <a:ea typeface="Calibri"/>
                <a:cs typeface="Calibri"/>
              </a:rPr>
              <a:t>Remove shared access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97772149-6C29-4FDB-B439-B8337B2D4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5705475"/>
            <a:ext cx="2000250" cy="4572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262A42"/>
          </a:solidFill>
          <a:ln xmlns:a="http://schemas.openxmlformats.org/drawingml/2006/main" w="9525">
            <a:solidFill>
              <a:srgbClr val="3A3F5E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61587961-1278-4553-8C55-560596CDE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5705475"/>
            <a:ext cx="1809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2DD4A7"/>
                </a:solidFill>
                <a:latin typeface="Calibri"/>
                <a:ea typeface="Calibri"/>
                <a:cs typeface="Calibri"/>
              </a:defRPr>
            </a:pPr>
            <a:r>
              <a:rPr sz="1275" b="1" i="0">
                <a:solidFill>
                  <a:srgbClr val="2DD4A7"/>
                </a:solidFill>
                <a:latin typeface="Calibri"/>
                <a:ea typeface="Calibri"/>
                <a:cs typeface="Calibri"/>
              </a:rPr>
              <a:t>Yes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43DE1646-840A-4541-A5C5-45265A397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5705475"/>
            <a:ext cx="2476500" cy="4572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262A42"/>
          </a:solidFill>
          <a:ln xmlns:a="http://schemas.openxmlformats.org/drawingml/2006/main" w="9525">
            <a:solidFill>
              <a:srgbClr val="3A3F5E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1A52EB86-BBDA-4B56-B54D-74555B9B5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705475"/>
            <a:ext cx="228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737A99"/>
                </a:solidFill>
                <a:latin typeface="Calibri"/>
                <a:ea typeface="Calibri"/>
                <a:cs typeface="Calibri"/>
              </a:defRPr>
            </a:pPr>
            <a:r>
              <a:rPr sz="1275" b="1" i="0">
                <a:solidFill>
                  <a:srgbClr val="737A99"/>
                </a:solidFill>
                <a:latin typeface="Calibri"/>
                <a:ea typeface="Calibri"/>
                <a:cs typeface="Calibri"/>
              </a:rPr>
              <a:t>No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8697D699-6C1D-4143-904F-12C18BA3B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5705475"/>
            <a:ext cx="2190750" cy="4572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262A42"/>
          </a:solidFill>
          <a:ln xmlns:a="http://schemas.openxmlformats.org/drawingml/2006/main" w="9525">
            <a:solidFill>
              <a:srgbClr val="3A3F5E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7D74F732-E437-4064-B2FD-83567A658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5705475"/>
            <a:ext cx="200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737A99"/>
                </a:solidFill>
                <a:latin typeface="Calibri"/>
                <a:ea typeface="Calibri"/>
                <a:cs typeface="Calibri"/>
              </a:defRPr>
            </a:pPr>
            <a:r>
              <a:rPr sz="1275" b="1" i="0">
                <a:solidFill>
                  <a:srgbClr val="737A99"/>
                </a:solidFill>
                <a:latin typeface="Calibri"/>
                <a:ea typeface="Calibri"/>
                <a:cs typeface="Calibri"/>
              </a:rPr>
              <a:t>No</a:t>
            </a:r>
          </a:p>
        </p:txBody>
      </p:sp>
    </p:spTree>
    <p:extLst>
      <p:ext uri="{BB962C8B-B14F-4D97-AF65-F5344CB8AC3E}">
        <p14:creationId xmlns:p14="http://schemas.microsoft.com/office/powerpoint/2010/main" val="1722217072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0E0F1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B9998D7-5A34-41CE-B274-B3AC73454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4287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6B8A">
              <a:alpha val="12549"/>
            </a:srgbClr>
          </a:solidFill>
          <a:ln xmlns:a="http://schemas.openxmlformats.org/drawingml/2006/main" w="9525">
            <a:solidFill>
              <a:srgbClr val="FF6B8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B5F406-5D7C-4E17-9AD5-35BB4C696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6B8A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FF6B8A"/>
                </a:solidFill>
                <a:latin typeface="Arial"/>
                <a:ea typeface="Arial"/>
                <a:cs typeface="Arial"/>
              </a:rPr>
              <a:t>TRUST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8E5C0B-18CD-40C1-87D9-8986D15F4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F1F2F8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F1F2F8"/>
                </a:solidFill>
                <a:latin typeface="Arial"/>
                <a:ea typeface="Arial"/>
                <a:cs typeface="Arial"/>
              </a:rPr>
              <a:t>Evidence upload boundary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10F17F-326D-46C4-B7AF-3BAFB07D1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1">
                <a:solidFill>
                  <a:srgbClr val="A7ACC2"/>
                </a:solidFill>
                <a:latin typeface="Calibri"/>
                <a:ea typeface="Calibri"/>
                <a:cs typeface="Calibri"/>
              </a:defRPr>
            </a:pPr>
            <a:r>
              <a:rPr sz="1500" b="0" i="1">
                <a:solidFill>
                  <a:srgbClr val="A7ACC2"/>
                </a:solidFill>
                <a:latin typeface="Calibri"/>
                <a:ea typeface="Calibri"/>
                <a:cs typeface="Calibri"/>
              </a:rPr>
              <a:t>The server authorizes both the user and the destination path before storing a file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242521-39EA-41D5-A7D8-5E807942E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38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737A99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737A99"/>
                </a:solidFill>
                <a:latin typeface="Arial"/>
                <a:ea typeface="Arial"/>
                <a:cs typeface="Arial"/>
              </a:rPr>
              <a:t>TURNFLOW HOME  •  SYSTEM GUIDE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3104B0-4BF8-4134-A0B4-902AE6662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737A99"/>
                </a:solidFill>
                <a:latin typeface="Courier New"/>
                <a:ea typeface="Courier New"/>
                <a:cs typeface="Courier New"/>
              </a:defRPr>
            </a:pPr>
            <a:r>
              <a:rPr sz="900" b="0" i="0">
                <a:solidFill>
                  <a:srgbClr val="737A99"/>
                </a:solidFill>
                <a:latin typeface="Courier New"/>
                <a:ea typeface="Courier New"/>
                <a:cs typeface="Courier New"/>
              </a:rPr>
              <a:t>19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3441B6-963A-4C90-AA6A-4C7DAC51D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619375"/>
            <a:ext cx="19050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1B1D2E"/>
          </a:solidFill>
          <a:ln xmlns:a="http://schemas.openxmlformats.org/drawingml/2006/main" w="19050">
            <a:solidFill>
              <a:srgbClr val="5EC8F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C7F94EA-BF92-493E-9927-80A5DDDE5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714625"/>
            <a:ext cx="1676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5EC8F2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5EC8F2"/>
                </a:solidFill>
                <a:latin typeface="Arial"/>
                <a:ea typeface="Arial"/>
                <a:cs typeface="Arial"/>
              </a:rPr>
              <a:t>Browser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0F59DAE-2002-4430-81D9-9A31F4F86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019425"/>
            <a:ext cx="1676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A7ACC2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A7ACC2"/>
                </a:solidFill>
                <a:latin typeface="Calibri"/>
                <a:ea typeface="Calibri"/>
                <a:cs typeface="Calibri"/>
              </a:rPr>
              <a:t>Compresses large images and posts multipart data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4B6D5E1-A5AC-4CCA-B337-C93110DFB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2619375"/>
            <a:ext cx="19050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1B1D2E"/>
          </a:solidFill>
          <a:ln xmlns:a="http://schemas.openxmlformats.org/drawingml/2006/main" w="19050">
            <a:solidFill>
              <a:srgbClr val="8B7C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9AD3A79-A1AD-4A57-9180-43AF1A69A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2714625"/>
            <a:ext cx="1676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8B7CFF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8B7CFF"/>
                </a:solidFill>
                <a:latin typeface="Arial"/>
                <a:ea typeface="Arial"/>
                <a:cs typeface="Arial"/>
              </a:rPr>
              <a:t>Upload route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F4B0DAF-60A3-4EB6-98F6-938C2D4E3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3019425"/>
            <a:ext cx="1676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A7ACC2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A7ACC2"/>
                </a:solidFill>
                <a:latin typeface="Calibri"/>
                <a:ea typeface="Calibri"/>
                <a:cs typeface="Calibri"/>
              </a:rPr>
              <a:t>Checks token, type, size, session, and path syntax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10C6212-E243-4264-9863-F02B7B5F3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619375"/>
            <a:ext cx="19050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1B1D2E"/>
          </a:solidFill>
          <a:ln xmlns:a="http://schemas.openxmlformats.org/drawingml/2006/main" w="19050">
            <a:solidFill>
              <a:srgbClr val="FF6B8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A3FFCEB-C096-4779-8AFF-D99691EDF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714625"/>
            <a:ext cx="1676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FF6B8A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FF6B8A"/>
                </a:solidFill>
                <a:latin typeface="Arial"/>
                <a:ea typeface="Arial"/>
                <a:cs typeface="Arial"/>
              </a:rPr>
              <a:t>Record check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502025D-5CED-4F9B-9D09-5F1D96D66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3019425"/>
            <a:ext cx="1676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A7ACC2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A7ACC2"/>
                </a:solidFill>
                <a:latin typeface="Calibri"/>
                <a:ea typeface="Calibri"/>
                <a:cs typeface="Calibri"/>
              </a:rPr>
              <a:t>Owner or assigned vendor for request; owner for property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E7BC6C6-A435-460E-8562-3E4F3353F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619375"/>
            <a:ext cx="19050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1B1D2E"/>
          </a:solidFill>
          <a:ln xmlns:a="http://schemas.openxmlformats.org/drawingml/2006/main" w="19050">
            <a:solidFill>
              <a:srgbClr val="2DD4A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37FD825-B62F-457B-9634-E4A220193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6175" y="2714625"/>
            <a:ext cx="1676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2DD4A7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2DD4A7"/>
                </a:solidFill>
                <a:latin typeface="Arial"/>
                <a:ea typeface="Arial"/>
                <a:cs typeface="Arial"/>
              </a:rPr>
              <a:t>Private Blob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2B939A3-1E2D-43CE-BA8B-72BF96EDB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6175" y="3019425"/>
            <a:ext cx="1676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A7ACC2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A7ACC2"/>
                </a:solidFill>
                <a:latin typeface="Calibri"/>
                <a:ea typeface="Calibri"/>
                <a:cs typeface="Calibri"/>
              </a:rPr>
              <a:t>Stores an authorized path with a random suffix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5D62EBC-1604-4C3C-A3D9-5C624BC0D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619375"/>
            <a:ext cx="19050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1B1D2E"/>
          </a:solidFill>
          <a:ln xmlns:a="http://schemas.openxmlformats.org/drawingml/2006/main" w="19050">
            <a:solidFill>
              <a:srgbClr val="F5B84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FFECB73-CE51-4CE7-8412-C48044C3B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714625"/>
            <a:ext cx="1676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F5B84B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F5B84B"/>
                </a:solidFill>
                <a:latin typeface="Arial"/>
                <a:ea typeface="Arial"/>
                <a:cs typeface="Arial"/>
              </a:rPr>
              <a:t>File route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B7E8138-3895-423A-B074-B85448A33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3019425"/>
            <a:ext cx="1676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A7ACC2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A7ACC2"/>
                </a:solidFill>
                <a:latin typeface="Calibri"/>
                <a:ea typeface="Calibri"/>
                <a:cs typeface="Calibri"/>
              </a:rPr>
              <a:t>Re-checks record access before streaming bytes</a:t>
            </a:r>
          </a:p>
        </p:txBody>
      </p:sp>
      <p:cxnSp>
        <p:nvCxnSpPr>
          <p:cNvPr id="49" name=""/>
          <p:cNvCxnSpPr>
            <a:stCxn xmlns:a="http://schemas.openxmlformats.org/drawingml/2006/main" id="7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2286000" y="3333750"/>
            <a:ext cx="4286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8B7CFF"/>
            </a:solidFill>
            <a:prstDash val="solid"/>
            <a:tailEnd type="arrow" w="sm" len="sm"/>
          </a:ln>
        </p:spPr>
      </p:cxnSp>
      <p:cxnSp>
        <p:nvCxnSpPr>
          <p:cNvPr id="50" name=""/>
          <p:cNvCxnSpPr>
            <a:stCxn xmlns:a="http://schemas.openxmlformats.org/drawingml/2006/main" id="10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4619625" y="3333750"/>
            <a:ext cx="4286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F6B8A"/>
            </a:solidFill>
            <a:prstDash val="solid"/>
            <a:tailEnd type="arrow" w="sm" len="sm"/>
          </a:ln>
        </p:spPr>
      </p:cxnSp>
      <p:cxnSp>
        <p:nvCxnSpPr>
          <p:cNvPr id="51" name=""/>
          <p:cNvCxnSpPr>
            <a:stCxn xmlns:a="http://schemas.openxmlformats.org/drawingml/2006/main" id="13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6953250" y="3333750"/>
            <a:ext cx="4286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DD4A7"/>
            </a:solidFill>
            <a:prstDash val="solid"/>
            <a:tailEnd type="arrow" w="sm" len="sm"/>
          </a:ln>
        </p:spPr>
      </p:cxnSp>
      <p:cxnSp>
        <p:nvCxnSpPr>
          <p:cNvPr id="52" name=""/>
          <p:cNvCxnSpPr>
            <a:stCxn xmlns:a="http://schemas.openxmlformats.org/drawingml/2006/main" id="16" idx="3"/>
            <a:endCxn xmlns:a="http://schemas.openxmlformats.org/drawingml/2006/main" id="19" idx="1"/>
          </p:cNvCxnSpPr>
          <p:nvPr/>
        </p:nvCxnSpPr>
        <p:spPr>
          <a:xfrm xmlns:a="http://schemas.openxmlformats.org/drawingml/2006/main">
            <a:off x="9286875" y="3333750"/>
            <a:ext cx="4286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5B84B"/>
            </a:solidFill>
            <a:prstDash val="solid"/>
            <a:tailEnd type="arrow" w="sm" len="sm"/>
          </a:ln>
        </p:spPr>
      </p:cxn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35D8158-718A-4AD7-88EF-7CE0BF5BB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714875"/>
            <a:ext cx="7048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 i="0">
                <a:solidFill>
                  <a:srgbClr val="F1F2F8"/>
                </a:solidFill>
                <a:latin typeface="Calibri"/>
                <a:ea typeface="Calibri"/>
                <a:cs typeface="Calibri"/>
              </a:defRPr>
            </a:pPr>
            <a:r>
              <a:rPr sz="1500" b="0" i="0">
                <a:solidFill>
                  <a:srgbClr val="F1F2F8"/>
                </a:solidFill>
                <a:latin typeface="Calibri"/>
                <a:ea typeface="Calibri"/>
                <a:cs typeface="Calibri"/>
              </a:rPr>
              <a:t>Allowed types: JPEG, PNG, WebP, HEIC, PDF. Server limit: about 4 MB.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3925E0A-D0C1-4AFD-9BBC-7792C7EEF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5286375"/>
            <a:ext cx="8477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0" i="0">
                <a:solidFill>
                  <a:srgbClr val="F5B84B"/>
                </a:solidFill>
                <a:latin typeface="Calibri"/>
                <a:ea typeface="Calibri"/>
                <a:cs typeface="Calibri"/>
              </a:defRPr>
            </a:pPr>
            <a:r>
              <a:rPr sz="1425" b="0" i="0">
                <a:solidFill>
                  <a:srgbClr val="F5B84B"/>
                </a:solidFill>
                <a:latin typeface="Calibri"/>
                <a:ea typeface="Calibri"/>
                <a:cs typeface="Calibri"/>
              </a:rPr>
              <a:t>New uploads return /api/files URLs. Revoking request access also revokes the ability to read private evidence.</a:t>
            </a:r>
          </a:p>
        </p:txBody>
      </p:sp>
    </p:spTree>
    <p:extLst>
      <p:ext uri="{BB962C8B-B14F-4D97-AF65-F5344CB8AC3E}">
        <p14:creationId xmlns:p14="http://schemas.microsoft.com/office/powerpoint/2010/main" val="283456437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0E0F1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BEC17A6-49DD-4AC1-B8F7-9A08FF513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4287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B7CFF">
              <a:alpha val="12549"/>
            </a:srgbClr>
          </a:solidFill>
          <a:ln xmlns:a="http://schemas.openxmlformats.org/drawingml/2006/main" w="9525">
            <a:solidFill>
              <a:srgbClr val="8B7C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D1EBAA-8FEA-4831-BF96-CD826D27A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8B7C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8B7CFF"/>
                </a:solidFill>
                <a:latin typeface="Arial"/>
                <a:ea typeface="Arial"/>
                <a:cs typeface="Arial"/>
              </a:rPr>
              <a:t>DELIVERY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BD463E-D224-48F5-8CE9-A0798994E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F1F2F8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F1F2F8"/>
                </a:solidFill>
                <a:latin typeface="Arial"/>
                <a:ea typeface="Arial"/>
                <a:cs typeface="Arial"/>
              </a:rPr>
              <a:t>Runtime operations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F94C22-6486-4578-9237-EB76A4CB3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1">
                <a:solidFill>
                  <a:srgbClr val="A7ACC2"/>
                </a:solidFill>
                <a:latin typeface="Calibri"/>
                <a:ea typeface="Calibri"/>
                <a:cs typeface="Calibri"/>
              </a:defRPr>
            </a:pPr>
            <a:r>
              <a:rPr sz="1500" b="0" i="1">
                <a:solidFill>
                  <a:srgbClr val="A7ACC2"/>
                </a:solidFill>
                <a:latin typeface="Calibri"/>
                <a:ea typeface="Calibri"/>
                <a:cs typeface="Calibri"/>
              </a:rPr>
              <a:t>Health, reminders, notifications, and backups make the POC operable without hiding failures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0679E8-093C-405F-8C29-853A0B953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38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737A99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737A99"/>
                </a:solidFill>
                <a:latin typeface="Arial"/>
                <a:ea typeface="Arial"/>
                <a:cs typeface="Arial"/>
              </a:rPr>
              <a:t>TURNFLOW HOME  •  SYSTEM GUIDE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43DADA-5291-4F90-B0BE-BED352C34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737A99"/>
                </a:solidFill>
                <a:latin typeface="Courier New"/>
                <a:ea typeface="Courier New"/>
                <a:cs typeface="Courier New"/>
              </a:defRPr>
            </a:pPr>
            <a:r>
              <a:rPr sz="900" b="0" i="0">
                <a:solidFill>
                  <a:srgbClr val="737A99"/>
                </a:solidFill>
                <a:latin typeface="Courier New"/>
                <a:ea typeface="Courier New"/>
                <a:cs typeface="Courier New"/>
              </a:rPr>
              <a:t>20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253F93-827B-4192-BEC9-4822E5F7D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809750"/>
            <a:ext cx="10572750" cy="628650"/>
          </a:xfrm>
          <a:prstGeom xmlns:a="http://schemas.openxmlformats.org/drawingml/2006/main" prst="roundRect">
            <a:avLst>
              <a:gd name="adj" fmla="val 24242"/>
            </a:avLst>
          </a:prstGeom>
          <a:solidFill xmlns:a="http://schemas.openxmlformats.org/drawingml/2006/main">
            <a:srgbClr val="1B1D2E"/>
          </a:solidFill>
          <a:ln xmlns:a="http://schemas.openxmlformats.org/drawingml/2006/main" w="9525">
            <a:solidFill>
              <a:srgbClr val="3A3F5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F41C0F4-BE82-4073-AAE9-9F55B759E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198120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2DD4A7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2DD4A7"/>
                </a:solidFill>
                <a:latin typeface="Arial"/>
                <a:ea typeface="Arial"/>
                <a:cs typeface="Arial"/>
              </a:rPr>
              <a:t>PUBLIC HEALTH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89D490E-811D-4891-9962-E16291451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962150"/>
            <a:ext cx="7953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A7ACC2"/>
                </a:solidFill>
                <a:latin typeface="Calibri"/>
                <a:ea typeface="Calibri"/>
                <a:cs typeface="Calibri"/>
              </a:defRPr>
            </a:pPr>
            <a:r>
              <a:rPr sz="1275" b="0" i="0">
                <a:solidFill>
                  <a:srgbClr val="A7ACC2"/>
                </a:solidFill>
                <a:latin typeface="Calibri"/>
                <a:ea typeface="Calibri"/>
                <a:cs typeface="Calibri"/>
              </a:rPr>
              <a:t>/api/health returns monitor-safe status with no caching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F34E80A-C27A-4EA4-B9A9-FB44EF528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609850"/>
            <a:ext cx="10572750" cy="628650"/>
          </a:xfrm>
          <a:prstGeom xmlns:a="http://schemas.openxmlformats.org/drawingml/2006/main" prst="roundRect">
            <a:avLst>
              <a:gd name="adj" fmla="val 24242"/>
            </a:avLst>
          </a:prstGeom>
          <a:solidFill xmlns:a="http://schemas.openxmlformats.org/drawingml/2006/main">
            <a:srgbClr val="1B1D2E"/>
          </a:solidFill>
          <a:ln xmlns:a="http://schemas.openxmlformats.org/drawingml/2006/main" w="9525">
            <a:solidFill>
              <a:srgbClr val="3A3F5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5B3EF93-BAD6-4D89-8A57-877DE8345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278130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5EC8F2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5EC8F2"/>
                </a:solidFill>
                <a:latin typeface="Arial"/>
                <a:ea typeface="Arial"/>
                <a:cs typeface="Arial"/>
              </a:rPr>
              <a:t>DEEP HEALTH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F34412B-8F68-4DA8-8328-E55B96AAC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762250"/>
            <a:ext cx="7953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A7ACC2"/>
                </a:solidFill>
                <a:latin typeface="Calibri"/>
                <a:ea typeface="Calibri"/>
                <a:cs typeface="Calibri"/>
              </a:defRPr>
            </a:pPr>
            <a:r>
              <a:rPr sz="1275" b="0" i="0">
                <a:solidFill>
                  <a:srgbClr val="A7ACC2"/>
                </a:solidFill>
                <a:latin typeface="Calibri"/>
                <a:ea typeface="Calibri"/>
                <a:cs typeface="Calibri"/>
              </a:rPr>
              <a:t>Bearer-protected database and configuration checks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FAE548E-5227-4C81-9B8B-1B0406E1D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409950"/>
            <a:ext cx="10572750" cy="628650"/>
          </a:xfrm>
          <a:prstGeom xmlns:a="http://schemas.openxmlformats.org/drawingml/2006/main" prst="roundRect">
            <a:avLst>
              <a:gd name="adj" fmla="val 24242"/>
            </a:avLst>
          </a:prstGeom>
          <a:solidFill xmlns:a="http://schemas.openxmlformats.org/drawingml/2006/main">
            <a:srgbClr val="1B1D2E"/>
          </a:solidFill>
          <a:ln xmlns:a="http://schemas.openxmlformats.org/drawingml/2006/main" w="9525">
            <a:solidFill>
              <a:srgbClr val="3A3F5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23FB25C-CCA8-489C-B005-7B7628DE3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358140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F5B84B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5B84B"/>
                </a:solidFill>
                <a:latin typeface="Arial"/>
                <a:ea typeface="Arial"/>
                <a:cs typeface="Arial"/>
              </a:rPr>
              <a:t>DAILY CRON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5D9A9EE-C522-45F7-AB57-D7E45F7D1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562350"/>
            <a:ext cx="7953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A7ACC2"/>
                </a:solidFill>
                <a:latin typeface="Calibri"/>
                <a:ea typeface="Calibri"/>
                <a:cs typeface="Calibri"/>
              </a:defRPr>
            </a:pPr>
            <a:r>
              <a:rPr sz="1275" b="0" i="0">
                <a:solidFill>
                  <a:srgbClr val="A7ACC2"/>
                </a:solidFill>
                <a:latin typeface="Calibri"/>
                <a:ea typeface="Calibri"/>
                <a:cs typeface="Calibri"/>
              </a:rPr>
              <a:t>13:00 UTC reminder digest protected by CRON_SECRET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A6004DC-2ADC-4F52-B5BF-53124D08E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210050"/>
            <a:ext cx="10572750" cy="628650"/>
          </a:xfrm>
          <a:prstGeom xmlns:a="http://schemas.openxmlformats.org/drawingml/2006/main" prst="roundRect">
            <a:avLst>
              <a:gd name="adj" fmla="val 24242"/>
            </a:avLst>
          </a:prstGeom>
          <a:solidFill xmlns:a="http://schemas.openxmlformats.org/drawingml/2006/main">
            <a:srgbClr val="1B1D2E"/>
          </a:solidFill>
          <a:ln xmlns:a="http://schemas.openxmlformats.org/drawingml/2006/main" w="9525">
            <a:solidFill>
              <a:srgbClr val="3A3F5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58D778A-3012-40CF-9764-321E05608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438150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FF6B8A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F6B8A"/>
                </a:solidFill>
                <a:latin typeface="Arial"/>
                <a:ea typeface="Arial"/>
                <a:cs typeface="Arial"/>
              </a:rPr>
              <a:t>EMAIL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5AD657B-2E72-4153-9C9F-2546ABF46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362450"/>
            <a:ext cx="7953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A7ACC2"/>
                </a:solidFill>
                <a:latin typeface="Calibri"/>
                <a:ea typeface="Calibri"/>
                <a:cs typeface="Calibri"/>
              </a:defRPr>
            </a:pPr>
            <a:r>
              <a:rPr sz="1275" b="0" i="0">
                <a:solidFill>
                  <a:srgbClr val="A7ACC2"/>
                </a:solidFill>
                <a:latin typeface="Calibri"/>
                <a:ea typeface="Calibri"/>
                <a:cs typeface="Calibri"/>
              </a:rPr>
              <a:t>Resend when configured. Every attempt enters notification_log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FF6D827-D49D-4DF9-8B83-1C79EAE44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010150"/>
            <a:ext cx="10572750" cy="628650"/>
          </a:xfrm>
          <a:prstGeom xmlns:a="http://schemas.openxmlformats.org/drawingml/2006/main" prst="roundRect">
            <a:avLst>
              <a:gd name="adj" fmla="val 24242"/>
            </a:avLst>
          </a:prstGeom>
          <a:solidFill xmlns:a="http://schemas.openxmlformats.org/drawingml/2006/main">
            <a:srgbClr val="1B1D2E"/>
          </a:solidFill>
          <a:ln xmlns:a="http://schemas.openxmlformats.org/drawingml/2006/main" w="9525">
            <a:solidFill>
              <a:srgbClr val="3A3F5E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466B4E5-8E70-457B-A0A6-0474B89AB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518160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8B7C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8B7CFF"/>
                </a:solidFill>
                <a:latin typeface="Arial"/>
                <a:ea typeface="Arial"/>
                <a:cs typeface="Arial"/>
              </a:rPr>
              <a:t>PORTABILITY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76C6F53-48E9-4A84-828A-E2E8C1225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162550"/>
            <a:ext cx="7953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A7ACC2"/>
                </a:solidFill>
                <a:latin typeface="Calibri"/>
                <a:ea typeface="Calibri"/>
                <a:cs typeface="Calibri"/>
              </a:defRPr>
            </a:pPr>
            <a:r>
              <a:rPr sz="1275" b="0" i="0">
                <a:solidFill>
                  <a:srgbClr val="A7ACC2"/>
                </a:solidFill>
                <a:latin typeface="Calibri"/>
                <a:ea typeface="Calibri"/>
                <a:cs typeface="Calibri"/>
              </a:rPr>
              <a:t>JSON backup/restore, CSV history, PDF proof packets, ICS reminders</a:t>
            </a:r>
          </a:p>
        </p:txBody>
      </p:sp>
    </p:spTree>
    <p:extLst>
      <p:ext uri="{BB962C8B-B14F-4D97-AF65-F5344CB8AC3E}">
        <p14:creationId xmlns:p14="http://schemas.microsoft.com/office/powerpoint/2010/main" val="1241775479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0E0F1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30A14B3-AD99-4116-8BA3-C432E2332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4287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B7CFF">
              <a:alpha val="12549"/>
            </a:srgbClr>
          </a:solidFill>
          <a:ln xmlns:a="http://schemas.openxmlformats.org/drawingml/2006/main" w="9525">
            <a:solidFill>
              <a:srgbClr val="8B7C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81A9EA-F68B-45CF-B859-EB8788C5A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8B7C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8B7CFF"/>
                </a:solidFill>
                <a:latin typeface="Arial"/>
                <a:ea typeface="Arial"/>
                <a:cs typeface="Arial"/>
              </a:rPr>
              <a:t>DELIVERY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746119-FD80-4540-96CD-998C4F249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F1F2F8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F1F2F8"/>
                </a:solidFill>
                <a:latin typeface="Arial"/>
                <a:ea typeface="Arial"/>
                <a:cs typeface="Arial"/>
              </a:rPr>
              <a:t>Quality map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9151C9-1664-413C-99FC-5C994A3BD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1">
                <a:solidFill>
                  <a:srgbClr val="A7ACC2"/>
                </a:solidFill>
                <a:latin typeface="Calibri"/>
                <a:ea typeface="Calibri"/>
                <a:cs typeface="Calibri"/>
              </a:defRPr>
            </a:pPr>
            <a:r>
              <a:rPr sz="1500" b="0" i="1">
                <a:solidFill>
                  <a:srgbClr val="A7ACC2"/>
                </a:solidFill>
                <a:latin typeface="Calibri"/>
                <a:ea typeface="Calibri"/>
                <a:cs typeface="Calibri"/>
              </a:rPr>
              <a:t>Fast policy tests protect business rules. Browser scripts prove the role handoffs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BE1662-36DA-4E51-BCF6-60AF397F1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38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737A99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737A99"/>
                </a:solidFill>
                <a:latin typeface="Arial"/>
                <a:ea typeface="Arial"/>
                <a:cs typeface="Arial"/>
              </a:rPr>
              <a:t>TURNFLOW HOME  •  SYSTEM GUIDE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14D9BA-7E1C-4955-98BA-9B7E04D2B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737A99"/>
                </a:solidFill>
                <a:latin typeface="Courier New"/>
                <a:ea typeface="Courier New"/>
                <a:cs typeface="Courier New"/>
              </a:defRPr>
            </a:pPr>
            <a:r>
              <a:rPr sz="900" b="0" i="0">
                <a:solidFill>
                  <a:srgbClr val="737A99"/>
                </a:solidFill>
                <a:latin typeface="Courier New"/>
                <a:ea typeface="Courier New"/>
                <a:cs typeface="Courier New"/>
              </a:rPr>
              <a:t>21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6D5256-5937-4A30-98CE-4C9BD76E1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238375"/>
            <a:ext cx="285750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1B1D2E"/>
          </a:solidFill>
          <a:ln xmlns:a="http://schemas.openxmlformats.org/drawingml/2006/main" w="19050">
            <a:solidFill>
              <a:srgbClr val="2DD4A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1E14AE-88A7-4845-8F80-EE138BBFC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333625"/>
            <a:ext cx="2628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2DD4A7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2DD4A7"/>
                </a:solidFill>
                <a:latin typeface="Arial"/>
                <a:ea typeface="Arial"/>
                <a:cs typeface="Arial"/>
              </a:rPr>
              <a:t>318 unit tests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FA734C-2B70-4648-8BB0-12984575F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638425"/>
            <a:ext cx="26289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A7ACC2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A7ACC2"/>
                </a:solidFill>
                <a:latin typeface="Calibri"/>
                <a:ea typeface="Calibri"/>
                <a:cs typeface="Calibri"/>
              </a:rPr>
              <a:t>34 files</a:t>
            </a:r>
          </a:p>
          <a:p xmlns:a="http://schemas.openxmlformats.org/drawingml/2006/main">
            <a:pPr algn="ctr">
              <a:defRPr sz="1125" b="0" i="0">
                <a:solidFill>
                  <a:srgbClr val="A7ACC2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A7ACC2"/>
                </a:solidFill>
                <a:latin typeface="Calibri"/>
                <a:ea typeface="Calibri"/>
                <a:cs typeface="Calibri"/>
              </a:rPr>
              <a:t>Guidance and state rules</a:t>
            </a:r>
          </a:p>
          <a:p xmlns:a="http://schemas.openxmlformats.org/drawingml/2006/main">
            <a:pPr algn="ctr">
              <a:defRPr sz="1125" b="0" i="0">
                <a:solidFill>
                  <a:srgbClr val="A7ACC2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A7ACC2"/>
                </a:solidFill>
                <a:latin typeface="Calibri"/>
                <a:ea typeface="Calibri"/>
                <a:cs typeface="Calibri"/>
              </a:rPr>
              <a:t>Auth, file, cron policy</a:t>
            </a:r>
          </a:p>
          <a:p xmlns:a="http://schemas.openxmlformats.org/drawingml/2006/main">
            <a:pPr algn="ctr">
              <a:defRPr sz="1125" b="0" i="0">
                <a:solidFill>
                  <a:srgbClr val="A7ACC2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A7ACC2"/>
                </a:solidFill>
                <a:latin typeface="Calibri"/>
                <a:ea typeface="Calibri"/>
                <a:cs typeface="Calibri"/>
              </a:rPr>
              <a:t>Forms, headers, and health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3FB3CB9-D671-4A2F-9BD0-CCE194B0A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238375"/>
            <a:ext cx="285750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1B1D2E"/>
          </a:solidFill>
          <a:ln xmlns:a="http://schemas.openxmlformats.org/drawingml/2006/main" w="19050">
            <a:solidFill>
              <a:srgbClr val="5EC8F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7978655-D810-4CBB-86AA-5127AC31D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333625"/>
            <a:ext cx="2628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5EC8F2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5EC8F2"/>
                </a:solidFill>
                <a:latin typeface="Arial"/>
                <a:ea typeface="Arial"/>
                <a:cs typeface="Arial"/>
              </a:rPr>
              <a:t>Browser smoke scripts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FA50505-D2B0-4F3C-92F0-04A8B61E1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638425"/>
            <a:ext cx="26289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A7ACC2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A7ACC2"/>
                </a:solidFill>
                <a:latin typeface="Calibri"/>
                <a:ea typeface="Calibri"/>
                <a:cs typeface="Calibri"/>
              </a:rPr>
              <a:t>Public routes</a:t>
            </a:r>
          </a:p>
          <a:p xmlns:a="http://schemas.openxmlformats.org/drawingml/2006/main">
            <a:pPr algn="ctr">
              <a:defRPr sz="1125" b="0" i="0">
                <a:solidFill>
                  <a:srgbClr val="A7ACC2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A7ACC2"/>
                </a:solidFill>
                <a:latin typeface="Calibri"/>
                <a:ea typeface="Calibri"/>
                <a:cs typeface="Calibri"/>
              </a:rPr>
              <a:t>Owner routes and first flow</a:t>
            </a:r>
          </a:p>
          <a:p xmlns:a="http://schemas.openxmlformats.org/drawingml/2006/main">
            <a:pPr algn="ctr">
              <a:defRPr sz="1125" b="0" i="0">
                <a:solidFill>
                  <a:srgbClr val="A7ACC2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A7ACC2"/>
                </a:solidFill>
                <a:latin typeface="Calibri"/>
                <a:ea typeface="Calibri"/>
                <a:cs typeface="Calibri"/>
              </a:rPr>
              <a:t>Invite acceptance</a:t>
            </a:r>
          </a:p>
          <a:p xmlns:a="http://schemas.openxmlformats.org/drawingml/2006/main">
            <a:pPr algn="ctr">
              <a:defRPr sz="1125" b="0" i="0">
                <a:solidFill>
                  <a:srgbClr val="A7ACC2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A7ACC2"/>
                </a:solidFill>
                <a:latin typeface="Calibri"/>
                <a:ea typeface="Calibri"/>
                <a:cs typeface="Calibri"/>
              </a:rPr>
              <a:t>Helper portals</a:t>
            </a:r>
          </a:p>
          <a:p xmlns:a="http://schemas.openxmlformats.org/drawingml/2006/main">
            <a:pPr algn="ctr">
              <a:defRPr sz="1125" b="0" i="0">
                <a:solidFill>
                  <a:srgbClr val="A7ACC2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A7ACC2"/>
                </a:solidFill>
                <a:latin typeface="Calibri"/>
                <a:ea typeface="Calibri"/>
                <a:cs typeface="Calibri"/>
              </a:rPr>
              <a:t>Full bid-to-closeout loop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0B35D10-7CF1-4E45-A9E8-2B21546D2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238375"/>
            <a:ext cx="285750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1B1D2E"/>
          </a:solidFill>
          <a:ln xmlns:a="http://schemas.openxmlformats.org/drawingml/2006/main" w="19050">
            <a:solidFill>
              <a:srgbClr val="8B7C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460E639-1B96-4820-9CF1-F7C55317A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333625"/>
            <a:ext cx="2628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8B7CFF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8B7CFF"/>
                </a:solidFill>
                <a:latin typeface="Arial"/>
                <a:ea typeface="Arial"/>
                <a:cs typeface="Arial"/>
              </a:rPr>
              <a:t>npm run verify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9C92C51-9B8C-48EA-9F50-49BBE25FC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638425"/>
            <a:ext cx="26289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A7ACC2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A7ACC2"/>
                </a:solidFill>
                <a:latin typeface="Calibri"/>
                <a:ea typeface="Calibri"/>
                <a:cs typeface="Calibri"/>
              </a:rPr>
              <a:t>Lint</a:t>
            </a:r>
          </a:p>
          <a:p xmlns:a="http://schemas.openxmlformats.org/drawingml/2006/main">
            <a:pPr algn="ctr">
              <a:defRPr sz="1125" b="0" i="0">
                <a:solidFill>
                  <a:srgbClr val="A7ACC2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A7ACC2"/>
                </a:solidFill>
                <a:latin typeface="Calibri"/>
                <a:ea typeface="Calibri"/>
                <a:cs typeface="Calibri"/>
              </a:rPr>
              <a:t>TypeScript</a:t>
            </a:r>
          </a:p>
          <a:p xmlns:a="http://schemas.openxmlformats.org/drawingml/2006/main">
            <a:pPr algn="ctr">
              <a:defRPr sz="1125" b="0" i="0">
                <a:solidFill>
                  <a:srgbClr val="A7ACC2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A7ACC2"/>
                </a:solidFill>
                <a:latin typeface="Calibri"/>
                <a:ea typeface="Calibri"/>
                <a:cs typeface="Calibri"/>
              </a:rPr>
              <a:t>Unit tests</a:t>
            </a:r>
          </a:p>
          <a:p xmlns:a="http://schemas.openxmlformats.org/drawingml/2006/main">
            <a:pPr algn="ctr">
              <a:defRPr sz="1125" b="0" i="0">
                <a:solidFill>
                  <a:srgbClr val="A7ACC2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A7ACC2"/>
                </a:solidFill>
                <a:latin typeface="Calibri"/>
                <a:ea typeface="Calibri"/>
                <a:cs typeface="Calibri"/>
              </a:rPr>
              <a:t>Production audit</a:t>
            </a:r>
          </a:p>
          <a:p xmlns:a="http://schemas.openxmlformats.org/drawingml/2006/main">
            <a:pPr algn="ctr">
              <a:defRPr sz="1125" b="0" i="0">
                <a:solidFill>
                  <a:srgbClr val="A7ACC2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A7ACC2"/>
                </a:solidFill>
                <a:latin typeface="Calibri"/>
                <a:ea typeface="Calibri"/>
                <a:cs typeface="Calibri"/>
              </a:rPr>
              <a:t>Schema drift</a:t>
            </a:r>
          </a:p>
          <a:p xmlns:a="http://schemas.openxmlformats.org/drawingml/2006/main">
            <a:pPr algn="ctr">
              <a:defRPr sz="1125" b="0" i="0">
                <a:solidFill>
                  <a:srgbClr val="A7ACC2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A7ACC2"/>
                </a:solidFill>
                <a:latin typeface="Calibri"/>
                <a:ea typeface="Calibri"/>
                <a:cs typeface="Calibri"/>
              </a:rPr>
              <a:t>Production build</a:t>
            </a:r>
          </a:p>
        </p:txBody>
      </p:sp>
      <p:cxnSp>
        <p:nvCxnSpPr>
          <p:cNvPr id="34" name=""/>
          <p:cNvCxnSpPr>
            <a:stCxn xmlns:a="http://schemas.openxmlformats.org/drawingml/2006/main" id="7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3905250" y="3429000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EC8F2"/>
            </a:solidFill>
            <a:prstDash val="solid"/>
            <a:tailEnd type="arrow" w="sm" len="sm"/>
          </a:ln>
        </p:spPr>
      </p:cxnSp>
      <p:cxnSp>
        <p:nvCxnSpPr>
          <p:cNvPr id="35" name=""/>
          <p:cNvCxnSpPr>
            <a:stCxn xmlns:a="http://schemas.openxmlformats.org/drawingml/2006/main" id="10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7524750" y="3429000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8B7CFF"/>
            </a:solidFill>
            <a:prstDash val="solid"/>
            <a:tailEnd type="arrow" w="sm" len="sm"/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8B3940D-FB21-4511-924A-F777D66B6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5286375"/>
            <a:ext cx="828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2DD4A7"/>
                </a:solidFill>
                <a:latin typeface="Calibri"/>
                <a:ea typeface="Calibri"/>
                <a:cs typeface="Calibri"/>
              </a:defRPr>
            </a:pPr>
            <a:r>
              <a:rPr sz="1575" b="1" i="0">
                <a:solidFill>
                  <a:srgbClr val="2DD4A7"/>
                </a:solidFill>
                <a:latin typeface="Calibri"/>
                <a:ea typeface="Calibri"/>
                <a:cs typeface="Calibri"/>
              </a:rPr>
              <a:t>Verified here: all 318 tests, lint, TypeScript, and the production build passed</a:t>
            </a:r>
          </a:p>
        </p:txBody>
      </p:sp>
    </p:spTree>
    <p:extLst>
      <p:ext uri="{BB962C8B-B14F-4D97-AF65-F5344CB8AC3E}">
        <p14:creationId xmlns:p14="http://schemas.microsoft.com/office/powerpoint/2010/main" val="945606085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0E0F1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BEFD015-4FB5-4805-8639-424540E4A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4287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B7CFF">
              <a:alpha val="12549"/>
            </a:srgbClr>
          </a:solidFill>
          <a:ln xmlns:a="http://schemas.openxmlformats.org/drawingml/2006/main" w="9525">
            <a:solidFill>
              <a:srgbClr val="8B7C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DC9C3F-4A1E-4889-A4B8-3F14547A6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8B7C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8B7CFF"/>
                </a:solidFill>
                <a:latin typeface="Arial"/>
                <a:ea typeface="Arial"/>
                <a:cs typeface="Arial"/>
              </a:rPr>
              <a:t>DELIVERY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EB92C5-BA8E-43E8-A334-AC790E89A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F1F2F8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F1F2F8"/>
                </a:solidFill>
                <a:latin typeface="Arial"/>
                <a:ea typeface="Arial"/>
                <a:cs typeface="Arial"/>
              </a:rPr>
              <a:t>Deployment topology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36313B-8FFC-493E-912F-5D03E5CCA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1">
                <a:solidFill>
                  <a:srgbClr val="A7ACC2"/>
                </a:solidFill>
                <a:latin typeface="Calibri"/>
                <a:ea typeface="Calibri"/>
                <a:cs typeface="Calibri"/>
              </a:defRPr>
            </a:pPr>
            <a:r>
              <a:rPr sz="1500" b="0" i="1">
                <a:solidFill>
                  <a:srgbClr val="A7ACC2"/>
                </a:solidFill>
                <a:latin typeface="Calibri"/>
                <a:ea typeface="Calibri"/>
                <a:cs typeface="Calibri"/>
              </a:rPr>
              <a:t>The application is designed around managed Vercel services and explicit environment checks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A61728-4D10-4C67-B291-19FA51905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38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737A99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737A99"/>
                </a:solidFill>
                <a:latin typeface="Arial"/>
                <a:ea typeface="Arial"/>
                <a:cs typeface="Arial"/>
              </a:rPr>
              <a:t>TURNFLOW HOME  •  SYSTEM GUIDE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12748F-A73F-417D-B732-180334187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737A99"/>
                </a:solidFill>
                <a:latin typeface="Courier New"/>
                <a:ea typeface="Courier New"/>
                <a:cs typeface="Courier New"/>
              </a:defRPr>
            </a:pPr>
            <a:r>
              <a:rPr sz="900" b="0" i="0">
                <a:solidFill>
                  <a:srgbClr val="737A99"/>
                </a:solidFill>
                <a:latin typeface="Courier New"/>
                <a:ea typeface="Courier New"/>
                <a:cs typeface="Courier New"/>
              </a:rPr>
              <a:t>22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D5B6B5-EFB2-4D72-8F9B-1E99CF92F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667000"/>
            <a:ext cx="171450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1B1D2E"/>
          </a:solidFill>
          <a:ln xmlns:a="http://schemas.openxmlformats.org/drawingml/2006/main" w="19050">
            <a:solidFill>
              <a:srgbClr val="8B7C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F49F01-AF03-4411-943F-02A0E1A5F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762250"/>
            <a:ext cx="1485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8B7CFF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8B7CFF"/>
                </a:solidFill>
                <a:latin typeface="Arial"/>
                <a:ea typeface="Arial"/>
                <a:cs typeface="Arial"/>
              </a:rPr>
              <a:t>GitHub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6DECFE-5A2F-46CA-9AFE-5D4C424A8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067050"/>
            <a:ext cx="1485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A7ACC2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A7ACC2"/>
                </a:solidFill>
                <a:latin typeface="Calibri"/>
                <a:ea typeface="Calibri"/>
                <a:cs typeface="Calibri"/>
              </a:rPr>
              <a:t>main branch and CI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0693BB4-3159-4359-AEAD-AF4B5E122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2238375"/>
            <a:ext cx="238125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1B1D2E"/>
          </a:solidFill>
          <a:ln xmlns:a="http://schemas.openxmlformats.org/drawingml/2006/main" w="19050">
            <a:solidFill>
              <a:srgbClr val="5EC8F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423FA56-4A0F-4FDA-A30E-B76861E38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2333625"/>
            <a:ext cx="2152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5EC8F2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5EC8F2"/>
                </a:solidFill>
                <a:latin typeface="Arial"/>
                <a:ea typeface="Arial"/>
                <a:cs typeface="Arial"/>
              </a:rPr>
              <a:t>Vercel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F5B2513-DD6B-42E2-B4E9-61A942CD3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2638425"/>
            <a:ext cx="21526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A7ACC2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A7ACC2"/>
                </a:solidFill>
                <a:latin typeface="Calibri"/>
                <a:ea typeface="Calibri"/>
                <a:cs typeface="Calibri"/>
              </a:rPr>
              <a:t>Next.js runtime</a:t>
            </a:r>
          </a:p>
          <a:p xmlns:a="http://schemas.openxmlformats.org/drawingml/2006/main">
            <a:pPr algn="ctr">
              <a:defRPr sz="1125" b="0" i="0">
                <a:solidFill>
                  <a:srgbClr val="A7ACC2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A7ACC2"/>
                </a:solidFill>
                <a:latin typeface="Calibri"/>
                <a:ea typeface="Calibri"/>
                <a:cs typeface="Calibri"/>
              </a:rPr>
              <a:t>serverless routes</a:t>
            </a:r>
          </a:p>
          <a:p xmlns:a="http://schemas.openxmlformats.org/drawingml/2006/main">
            <a:pPr algn="ctr">
              <a:defRPr sz="1125" b="0" i="0">
                <a:solidFill>
                  <a:srgbClr val="A7ACC2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A7ACC2"/>
                </a:solidFill>
                <a:latin typeface="Calibri"/>
                <a:ea typeface="Calibri"/>
                <a:cs typeface="Calibri"/>
              </a:rPr>
              <a:t>cron</a:t>
            </a:r>
          </a:p>
          <a:p xmlns:a="http://schemas.openxmlformats.org/drawingml/2006/main">
            <a:pPr algn="ctr">
              <a:defRPr sz="1125" b="0" i="0">
                <a:solidFill>
                  <a:srgbClr val="A7ACC2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A7ACC2"/>
                </a:solidFill>
                <a:latin typeface="Calibri"/>
                <a:ea typeface="Calibri"/>
                <a:cs typeface="Calibri"/>
              </a:rPr>
              <a:t>security headers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6CD6C4A-A3CD-4A26-8132-B32065F6E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524000"/>
            <a:ext cx="209550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1B1D2E"/>
          </a:solidFill>
          <a:ln xmlns:a="http://schemas.openxmlformats.org/drawingml/2006/main" w="19050">
            <a:solidFill>
              <a:srgbClr val="2DD4A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082D681-02AD-4BAD-A0C3-907B161D2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1619250"/>
            <a:ext cx="1866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2DD4A7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2DD4A7"/>
                </a:solidFill>
                <a:latin typeface="Arial"/>
                <a:ea typeface="Arial"/>
                <a:cs typeface="Arial"/>
              </a:rPr>
              <a:t>Neon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3677984-316D-4639-964C-39199F179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1924050"/>
            <a:ext cx="1866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A7ACC2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A7ACC2"/>
                </a:solidFill>
                <a:latin typeface="Calibri"/>
                <a:ea typeface="Calibri"/>
                <a:cs typeface="Calibri"/>
              </a:rPr>
              <a:t>Postgres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9C31387-CCE4-41E7-A400-4A48A6340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048000"/>
            <a:ext cx="209550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1B1D2E"/>
          </a:solidFill>
          <a:ln xmlns:a="http://schemas.openxmlformats.org/drawingml/2006/main" w="19050">
            <a:solidFill>
              <a:srgbClr val="5EC8F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6FA03BC-9531-4B34-8A6C-5F11E73E7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143250"/>
            <a:ext cx="1866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5EC8F2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5EC8F2"/>
                </a:solidFill>
                <a:latin typeface="Arial"/>
                <a:ea typeface="Arial"/>
                <a:cs typeface="Arial"/>
              </a:rPr>
              <a:t>Vercel Blob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2618A9B-29A2-494B-9B15-21654A025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448050"/>
            <a:ext cx="1866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A7ACC2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A7ACC2"/>
                </a:solidFill>
                <a:latin typeface="Calibri"/>
                <a:ea typeface="Calibri"/>
                <a:cs typeface="Calibri"/>
              </a:rPr>
              <a:t>Private objects via /api/files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260B57F-3D88-4714-BD04-C6AC4DCE1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572000"/>
            <a:ext cx="209550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1B1D2E"/>
          </a:solidFill>
          <a:ln xmlns:a="http://schemas.openxmlformats.org/drawingml/2006/main" w="19050">
            <a:solidFill>
              <a:srgbClr val="F5B84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2DB127B-DE7C-473F-A6D7-C1CD9B700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667250"/>
            <a:ext cx="1866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F5B84B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F5B84B"/>
                </a:solidFill>
                <a:latin typeface="Arial"/>
                <a:ea typeface="Arial"/>
                <a:cs typeface="Arial"/>
              </a:rPr>
              <a:t>Resend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858953E-E643-4551-9E71-20F72B026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972050"/>
            <a:ext cx="1866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A7ACC2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A7ACC2"/>
                </a:solidFill>
                <a:latin typeface="Calibri"/>
                <a:ea typeface="Calibri"/>
                <a:cs typeface="Calibri"/>
              </a:rPr>
              <a:t>Optional email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EFBBC0B-EAB7-45F4-BE86-624B1FCC6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238375"/>
            <a:ext cx="190500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1B1D2E"/>
          </a:solidFill>
          <a:ln xmlns:a="http://schemas.openxmlformats.org/drawingml/2006/main" w="19050">
            <a:solidFill>
              <a:srgbClr val="FF6B8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19AF405-83F3-4A94-AFFC-394556ECC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333625"/>
            <a:ext cx="1676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FF6B8A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FF6B8A"/>
                </a:solidFill>
                <a:latin typeface="Arial"/>
                <a:ea typeface="Arial"/>
                <a:cs typeface="Arial"/>
              </a:rPr>
              <a:t>External monitor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2A97D28-B5B0-4D02-8138-B06D204CA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638425"/>
            <a:ext cx="16764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A7ACC2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A7ACC2"/>
                </a:solidFill>
                <a:latin typeface="Calibri"/>
                <a:ea typeface="Calibri"/>
                <a:cs typeface="Calibri"/>
              </a:rPr>
              <a:t>Public health</a:t>
            </a:r>
          </a:p>
          <a:p xmlns:a="http://schemas.openxmlformats.org/drawingml/2006/main">
            <a:pPr algn="ctr">
              <a:defRPr sz="1125" b="0" i="0">
                <a:solidFill>
                  <a:srgbClr val="A7ACC2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A7ACC2"/>
                </a:solidFill>
                <a:latin typeface="Calibri"/>
                <a:ea typeface="Calibri"/>
                <a:cs typeface="Calibri"/>
              </a:rPr>
              <a:t>Protected deep health</a:t>
            </a:r>
          </a:p>
          <a:p xmlns:a="http://schemas.openxmlformats.org/drawingml/2006/main">
            <a:pPr algn="ctr">
              <a:defRPr sz="1125" b="0" i="0">
                <a:solidFill>
                  <a:srgbClr val="A7ACC2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A7ACC2"/>
                </a:solidFill>
                <a:latin typeface="Calibri"/>
                <a:ea typeface="Calibri"/>
                <a:cs typeface="Calibri"/>
              </a:rPr>
              <a:t>Future alerting</a:t>
            </a:r>
          </a:p>
        </p:txBody>
      </p:sp>
      <p:cxnSp>
        <p:nvCxnSpPr>
          <p:cNvPr id="55" name=""/>
          <p:cNvCxnSpPr>
            <a:stCxn xmlns:a="http://schemas.openxmlformats.org/drawingml/2006/main" id="7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2238375" y="3143250"/>
            <a:ext cx="952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37A99"/>
            </a:solidFill>
            <a:prstDash val="solid"/>
            <a:tailEnd type="arrow" w="sm" len="sm"/>
          </a:ln>
        </p:spPr>
      </p:cxnSp>
      <p:cxnSp>
        <p:nvCxnSpPr>
          <p:cNvPr id="56" name=""/>
          <p:cNvCxnSpPr>
            <a:stCxn xmlns:a="http://schemas.openxmlformats.org/drawingml/2006/main" id="10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 flipV="1">
            <a:off x="5572125" y="2000250"/>
            <a:ext cx="1095375" cy="11430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DD4A7"/>
            </a:solidFill>
            <a:prstDash val="solid"/>
            <a:tailEnd type="arrow" w="sm" len="sm"/>
          </a:ln>
        </p:spPr>
      </p:cxnSp>
      <p:cxnSp>
        <p:nvCxnSpPr>
          <p:cNvPr id="57" name=""/>
          <p:cNvCxnSpPr>
            <a:stCxn xmlns:a="http://schemas.openxmlformats.org/drawingml/2006/main" id="10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5572125" y="3143250"/>
            <a:ext cx="1095375" cy="3810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5EC8F2"/>
            </a:solidFill>
            <a:prstDash val="solid"/>
            <a:tailEnd type="arrow" w="sm" len="sm"/>
          </a:ln>
        </p:spPr>
      </p:cxnSp>
      <p:cxnSp>
        <p:nvCxnSpPr>
          <p:cNvPr id="58" name=""/>
          <p:cNvCxnSpPr>
            <a:stCxn xmlns:a="http://schemas.openxmlformats.org/drawingml/2006/main" id="10" idx="3"/>
            <a:endCxn xmlns:a="http://schemas.openxmlformats.org/drawingml/2006/main" id="19" idx="1"/>
          </p:cNvCxnSpPr>
          <p:nvPr/>
        </p:nvCxnSpPr>
        <p:spPr>
          <a:xfrm xmlns:a="http://schemas.openxmlformats.org/drawingml/2006/main">
            <a:off x="5572125" y="3143250"/>
            <a:ext cx="1095375" cy="19050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F5B84B"/>
            </a:solidFill>
            <a:prstDash val="solid"/>
            <a:tailEnd type="arrow" w="sm" len="sm"/>
          </a:ln>
        </p:spPr>
      </p:cxnSp>
      <p:cxnSp>
        <p:nvCxnSpPr>
          <p:cNvPr id="59" name=""/>
          <p:cNvCxnSpPr>
            <a:stCxn xmlns:a="http://schemas.openxmlformats.org/drawingml/2006/main" id="22" idx="1"/>
            <a:endCxn xmlns:a="http://schemas.openxmlformats.org/drawingml/2006/main" id="10" idx="3"/>
          </p:cNvCxnSpPr>
          <p:nvPr/>
        </p:nvCxnSpPr>
        <p:spPr>
          <a:xfrm xmlns:a="http://schemas.openxmlformats.org/drawingml/2006/main" flipH="1">
            <a:off x="5572125" y="2933700"/>
            <a:ext cx="4143375" cy="209550"/>
          </a:xfrm>
          <a:prstGeom xmlns:a="http://schemas.openxmlformats.org/drawingml/2006/main" prst="bentConnector4">
            <a:avLst/>
          </a:prstGeom>
          <a:ln xmlns:a="http://schemas.openxmlformats.org/drawingml/2006/main" w="19050">
            <a:solidFill>
              <a:srgbClr val="FF6B8A"/>
            </a:solidFill>
            <a:prstDash val="solid"/>
            <a:tailEnd type="arrow" w="sm" len="sm"/>
          </a:ln>
        </p:spPr>
      </p:cxn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0F1C779-BFB7-46EC-B558-5B6E987B1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810250"/>
            <a:ext cx="8191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0" i="0">
                <a:solidFill>
                  <a:srgbClr val="A7ACC2"/>
                </a:solidFill>
                <a:latin typeface="Calibri"/>
                <a:ea typeface="Calibri"/>
                <a:cs typeface="Calibri"/>
              </a:defRPr>
            </a:pPr>
            <a:r>
              <a:rPr sz="1425" b="0" i="0">
                <a:solidFill>
                  <a:srgbClr val="A7ACC2"/>
                </a:solidFill>
                <a:latin typeface="Calibri"/>
                <a:ea typeface="Calibri"/>
                <a:cs typeface="Calibri"/>
              </a:rPr>
              <a:t>poc:ready checks database, auth, URLs, Blob, cron, health, and email posture before user testing</a:t>
            </a:r>
          </a:p>
        </p:txBody>
      </p:sp>
    </p:spTree>
    <p:extLst>
      <p:ext uri="{BB962C8B-B14F-4D97-AF65-F5344CB8AC3E}">
        <p14:creationId xmlns:p14="http://schemas.microsoft.com/office/powerpoint/2010/main" val="348585677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0E0F1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4D25EA1-1CDF-4682-A540-ECE71D80C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4287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6B8A">
              <a:alpha val="12549"/>
            </a:srgbClr>
          </a:solidFill>
          <a:ln xmlns:a="http://schemas.openxmlformats.org/drawingml/2006/main" w="9525">
            <a:solidFill>
              <a:srgbClr val="FF6B8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2916B4-4953-42E3-853A-122541A7B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6B8A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FF6B8A"/>
                </a:solidFill>
                <a:latin typeface="Arial"/>
                <a:ea typeface="Arial"/>
                <a:cs typeface="Arial"/>
              </a:rPr>
              <a:t>READINESS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A4A933-4E95-4E92-9A10-869F41437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F1F2F8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F1F2F8"/>
                </a:solidFill>
                <a:latin typeface="Arial"/>
                <a:ea typeface="Arial"/>
                <a:cs typeface="Arial"/>
              </a:rPr>
              <a:t>Implemented, partial, and missing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894F1D-FD9E-4944-97FC-D8D7E25AA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1">
                <a:solidFill>
                  <a:srgbClr val="A7ACC2"/>
                </a:solidFill>
                <a:latin typeface="Calibri"/>
                <a:ea typeface="Calibri"/>
                <a:cs typeface="Calibri"/>
              </a:defRPr>
            </a:pPr>
            <a:r>
              <a:rPr sz="1500" b="0" i="1">
                <a:solidFill>
                  <a:srgbClr val="A7ACC2"/>
                </a:solidFill>
                <a:latin typeface="Calibri"/>
                <a:ea typeface="Calibri"/>
                <a:cs typeface="Calibri"/>
              </a:rPr>
              <a:t>The POC covers the coordination loop but does not claim a full commercial platform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E75021-3AE7-4041-BA7A-DFD8BFB81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38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737A99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737A99"/>
                </a:solidFill>
                <a:latin typeface="Arial"/>
                <a:ea typeface="Arial"/>
                <a:cs typeface="Arial"/>
              </a:rPr>
              <a:t>TURNFLOW HOME  •  SYSTEM GUIDE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D29043-71F6-49B3-A6B8-F0774CD6E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737A99"/>
                </a:solidFill>
                <a:latin typeface="Courier New"/>
                <a:ea typeface="Courier New"/>
                <a:cs typeface="Courier New"/>
              </a:defRPr>
            </a:pPr>
            <a:r>
              <a:rPr sz="900" b="0" i="0">
                <a:solidFill>
                  <a:srgbClr val="737A99"/>
                </a:solidFill>
                <a:latin typeface="Courier New"/>
                <a:ea typeface="Courier New"/>
                <a:cs typeface="Courier New"/>
              </a:rPr>
              <a:t>23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2E7A8B-3AA0-4246-892F-4C28813CF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00250"/>
            <a:ext cx="3333750" cy="3857625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1B1D2E"/>
          </a:solidFill>
          <a:ln xmlns:a="http://schemas.openxmlformats.org/drawingml/2006/main" w="19050">
            <a:solidFill>
              <a:srgbClr val="2DD4A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359517-198E-445F-A579-105FBAD21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38375"/>
            <a:ext cx="2914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2DD4A7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2DD4A7"/>
                </a:solidFill>
                <a:latin typeface="Arial"/>
                <a:ea typeface="Arial"/>
                <a:cs typeface="Arial"/>
              </a:rPr>
              <a:t>IMPLEMENTED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6BA50A-789E-4813-B69B-3FDD0B99B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0480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D4A7"/>
          </a:solidFill>
          <a:ln xmlns:a="http://schemas.openxmlformats.org/drawingml/2006/main" w="9525">
            <a:solidFill>
              <a:srgbClr val="2DD4A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8ED3032-D7D2-437A-A8A7-C8DCFB330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000375"/>
            <a:ext cx="24955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A7ACC2"/>
                </a:solidFill>
                <a:latin typeface="Calibri"/>
                <a:ea typeface="Calibri"/>
                <a:cs typeface="Calibri"/>
              </a:defRPr>
            </a:pPr>
            <a:r>
              <a:rPr sz="1350" b="0" i="0">
                <a:solidFill>
                  <a:srgbClr val="A7ACC2"/>
                </a:solidFill>
                <a:latin typeface="Calibri"/>
                <a:ea typeface="Calibri"/>
                <a:cs typeface="Calibri"/>
              </a:rPr>
              <a:t>Owner, vendor, collaborator lanes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B6B8F9A-AD68-4580-A476-F27EEF80D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6957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D4A7"/>
          </a:solidFill>
          <a:ln xmlns:a="http://schemas.openxmlformats.org/drawingml/2006/main" w="9525">
            <a:solidFill>
              <a:srgbClr val="2DD4A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36AB000-FBAD-4B2E-8307-4278C10DB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648075"/>
            <a:ext cx="24955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A7ACC2"/>
                </a:solidFill>
                <a:latin typeface="Calibri"/>
                <a:ea typeface="Calibri"/>
                <a:cs typeface="Calibri"/>
              </a:defRPr>
            </a:pPr>
            <a:r>
              <a:rPr sz="1350" b="0" i="0">
                <a:solidFill>
                  <a:srgbClr val="A7ACC2"/>
                </a:solidFill>
                <a:latin typeface="Calibri"/>
                <a:ea typeface="Calibri"/>
                <a:cs typeface="Calibri"/>
              </a:rPr>
              <a:t>Request, proof, quotes, tasks, closeout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3C38121-ABFE-45DB-B6C1-2BDD6EF79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3434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D4A7"/>
          </a:solidFill>
          <a:ln xmlns:a="http://schemas.openxmlformats.org/drawingml/2006/main" w="9525">
            <a:solidFill>
              <a:srgbClr val="2DD4A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E0C6614-930F-4674-BC2B-25BE7CC66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295775"/>
            <a:ext cx="24955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A7ACC2"/>
                </a:solidFill>
                <a:latin typeface="Calibri"/>
                <a:ea typeface="Calibri"/>
                <a:cs typeface="Calibri"/>
              </a:defRPr>
            </a:pPr>
            <a:r>
              <a:rPr sz="1350" b="0" i="0">
                <a:solidFill>
                  <a:srgbClr val="A7ACC2"/>
                </a:solidFill>
                <a:latin typeface="Calibri"/>
                <a:ea typeface="Calibri"/>
                <a:cs typeface="Calibri"/>
              </a:rPr>
              <a:t>Workspace and billing record foundation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CD6A657-2952-4CB4-8147-2570AC7E5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9911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D4A7"/>
          </a:solidFill>
          <a:ln xmlns:a="http://schemas.openxmlformats.org/drawingml/2006/main" w="9525">
            <a:solidFill>
              <a:srgbClr val="2DD4A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15F451B-2372-4685-9199-AB6CAA161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943475"/>
            <a:ext cx="24955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A7ACC2"/>
                </a:solidFill>
                <a:latin typeface="Calibri"/>
                <a:ea typeface="Calibri"/>
                <a:cs typeface="Calibri"/>
              </a:defRPr>
            </a:pPr>
            <a:r>
              <a:rPr sz="1350" b="0" i="0">
                <a:solidFill>
                  <a:srgbClr val="A7ACC2"/>
                </a:solidFill>
                <a:latin typeface="Calibri"/>
                <a:ea typeface="Calibri"/>
                <a:cs typeface="Calibri"/>
              </a:rPr>
              <a:t>Tests, health, deployment runbook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AC130E5-E9DD-471B-A803-0CA417177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000250"/>
            <a:ext cx="3333750" cy="3857625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1B1D2E"/>
          </a:solidFill>
          <a:ln xmlns:a="http://schemas.openxmlformats.org/drawingml/2006/main" w="19050">
            <a:solidFill>
              <a:srgbClr val="F5B84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20B1E4D-B31F-49C8-B459-8DC9D84A5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2238375"/>
            <a:ext cx="2914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F5B84B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F5B84B"/>
                </a:solidFill>
                <a:latin typeface="Arial"/>
                <a:ea typeface="Arial"/>
                <a:cs typeface="Arial"/>
              </a:rPr>
              <a:t>PARTIAL OR ENVIRONMENT-DEPENDENT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D211462-41F6-409D-A880-FFEDB9DA2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30480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B84B"/>
          </a:solidFill>
          <a:ln xmlns:a="http://schemas.openxmlformats.org/drawingml/2006/main" w="9525">
            <a:solidFill>
              <a:srgbClr val="F5B84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F1EDD3E-29A3-4DE1-92DC-DCAA0A16A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3000375"/>
            <a:ext cx="24955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A7ACC2"/>
                </a:solidFill>
                <a:latin typeface="Calibri"/>
                <a:ea typeface="Calibri"/>
                <a:cs typeface="Calibri"/>
              </a:defRPr>
            </a:pPr>
            <a:r>
              <a:rPr sz="1350" b="0" i="0">
                <a:solidFill>
                  <a:srgbClr val="A7ACC2"/>
                </a:solidFill>
                <a:latin typeface="Calibri"/>
                <a:ea typeface="Calibri"/>
                <a:cs typeface="Calibri"/>
              </a:rPr>
              <a:t>Email delivery and cron verification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D3769CE-83EB-4013-8551-0C357BAC7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36957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B84B"/>
          </a:solidFill>
          <a:ln xmlns:a="http://schemas.openxmlformats.org/drawingml/2006/main" w="9525">
            <a:solidFill>
              <a:srgbClr val="F5B84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2E6959C-5FCC-4ED9-8174-A2FE7C637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3648075"/>
            <a:ext cx="24955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A7ACC2"/>
                </a:solidFill>
                <a:latin typeface="Calibri"/>
                <a:ea typeface="Calibri"/>
                <a:cs typeface="Calibri"/>
              </a:defRPr>
            </a:pPr>
            <a:r>
              <a:rPr sz="1350" b="0" i="0">
                <a:solidFill>
                  <a:srgbClr val="A7ACC2"/>
                </a:solidFill>
                <a:latin typeface="Calibri"/>
                <a:ea typeface="Calibri"/>
                <a:cs typeface="Calibri"/>
              </a:rPr>
              <a:t>Workspace policy beyond the owner foundation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FF261C0-5D32-4DA9-B16D-6F64F1E94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43434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B84B"/>
          </a:solidFill>
          <a:ln xmlns:a="http://schemas.openxmlformats.org/drawingml/2006/main" w="9525">
            <a:solidFill>
              <a:srgbClr val="F5B84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A3CA6E6-B39D-4665-914A-F8D8F0961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4295775"/>
            <a:ext cx="24955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A7ACC2"/>
                </a:solidFill>
                <a:latin typeface="Calibri"/>
                <a:ea typeface="Calibri"/>
                <a:cs typeface="Calibri"/>
              </a:defRPr>
            </a:pPr>
            <a:r>
              <a:rPr sz="1350" b="0" i="0">
                <a:solidFill>
                  <a:srgbClr val="A7ACC2"/>
                </a:solidFill>
                <a:latin typeface="Calibri"/>
                <a:ea typeface="Calibri"/>
                <a:cs typeface="Calibri"/>
              </a:rPr>
              <a:t>Production monitoring outside health endpoints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A2A0488-F570-46C4-988B-F5BDA6989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49911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B84B"/>
          </a:solidFill>
          <a:ln xmlns:a="http://schemas.openxmlformats.org/drawingml/2006/main" w="9525">
            <a:solidFill>
              <a:srgbClr val="F5B84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FBA4813-3DBD-490E-82C4-EDCAF775D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4943475"/>
            <a:ext cx="24955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A7ACC2"/>
                </a:solidFill>
                <a:latin typeface="Calibri"/>
                <a:ea typeface="Calibri"/>
                <a:cs typeface="Calibri"/>
              </a:defRPr>
            </a:pPr>
            <a:r>
              <a:rPr sz="1350" b="0" i="0">
                <a:solidFill>
                  <a:srgbClr val="A7ACC2"/>
                </a:solidFill>
                <a:latin typeface="Calibri"/>
                <a:ea typeface="Calibri"/>
                <a:cs typeface="Calibri"/>
              </a:rPr>
              <a:t>Hosted POC environment confirmation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E37A396-D641-4978-B36B-108433FC4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000250"/>
            <a:ext cx="3333750" cy="3857625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1B1D2E"/>
          </a:solidFill>
          <a:ln xmlns:a="http://schemas.openxmlformats.org/drawingml/2006/main" w="19050">
            <a:solidFill>
              <a:srgbClr val="FF6B8A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1723FD3-8BC7-46CC-8FAE-98C515172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238375"/>
            <a:ext cx="2914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FF6B8A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FF6B8A"/>
                </a:solidFill>
                <a:latin typeface="Arial"/>
                <a:ea typeface="Arial"/>
                <a:cs typeface="Arial"/>
              </a:rPr>
              <a:t>PLANNED OR MISSING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D1D426B-EA59-4C27-AF7D-19BDE869B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0480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8A"/>
          </a:solidFill>
          <a:ln xmlns:a="http://schemas.openxmlformats.org/drawingml/2006/main" w="9525">
            <a:solidFill>
              <a:srgbClr val="FF6B8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1BBA737-FD5F-4A1A-9940-75FFF0C11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000375"/>
            <a:ext cx="24955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A7ACC2"/>
                </a:solidFill>
                <a:latin typeface="Calibri"/>
                <a:ea typeface="Calibri"/>
                <a:cs typeface="Calibri"/>
              </a:defRPr>
            </a:pPr>
            <a:r>
              <a:rPr sz="1350" b="0" i="0">
                <a:solidFill>
                  <a:srgbClr val="A7ACC2"/>
                </a:solidFill>
                <a:latin typeface="Calibri"/>
                <a:ea typeface="Calibri"/>
                <a:cs typeface="Calibri"/>
              </a:rPr>
              <a:t>Invite-time vendor/helper signup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D1A4347-B5D5-4BF6-BB57-FDADD81CB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6957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8A"/>
          </a:solidFill>
          <a:ln xmlns:a="http://schemas.openxmlformats.org/drawingml/2006/main" w="9525">
            <a:solidFill>
              <a:srgbClr val="FF6B8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038A183-1405-4662-9822-753803083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648075"/>
            <a:ext cx="24955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A7ACC2"/>
                </a:solidFill>
                <a:latin typeface="Calibri"/>
                <a:ea typeface="Calibri"/>
                <a:cs typeface="Calibri"/>
              </a:defRPr>
            </a:pPr>
            <a:r>
              <a:rPr sz="1350" b="0" i="0">
                <a:solidFill>
                  <a:srgbClr val="A7ACC2"/>
                </a:solidFill>
                <a:latin typeface="Calibri"/>
                <a:ea typeface="Calibri"/>
                <a:cs typeface="Calibri"/>
              </a:rPr>
              <a:t>Transactional multi-row writes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9FB2594-854B-42CF-9116-D5DE7FBD7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3434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8A"/>
          </a:solidFill>
          <a:ln xmlns:a="http://schemas.openxmlformats.org/drawingml/2006/main" w="9525">
            <a:solidFill>
              <a:srgbClr val="FF6B8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70EC755-A84B-415B-AF19-B60B514F3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295775"/>
            <a:ext cx="24955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A7ACC2"/>
                </a:solidFill>
                <a:latin typeface="Calibri"/>
                <a:ea typeface="Calibri"/>
                <a:cs typeface="Calibri"/>
              </a:defRPr>
            </a:pPr>
            <a:r>
              <a:rPr sz="1350" b="0" i="0">
                <a:solidFill>
                  <a:srgbClr val="A7ACC2"/>
                </a:solidFill>
                <a:latin typeface="Calibri"/>
                <a:ea typeface="Calibri"/>
                <a:cs typeface="Calibri"/>
              </a:rPr>
              <a:t>Durable audit retention + quote uniqueness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80021A7-3EE2-43DB-9092-4FB30CF88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9911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8A"/>
          </a:solidFill>
          <a:ln xmlns:a="http://schemas.openxmlformats.org/drawingml/2006/main" w="9525">
            <a:solidFill>
              <a:srgbClr val="FF6B8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12445EA-5A34-4D64-BF8A-4C0AB53F5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943475"/>
            <a:ext cx="24955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A7ACC2"/>
                </a:solidFill>
                <a:latin typeface="Calibri"/>
                <a:ea typeface="Calibri"/>
                <a:cs typeface="Calibri"/>
              </a:defRPr>
            </a:pPr>
            <a:r>
              <a:rPr sz="1350" b="0" i="0">
                <a:solidFill>
                  <a:srgbClr val="A7ACC2"/>
                </a:solidFill>
                <a:latin typeface="Calibri"/>
                <a:ea typeface="Calibri"/>
                <a:cs typeface="Calibri"/>
              </a:rPr>
              <a:t>Moderated homeowner testing</a:t>
            </a:r>
          </a:p>
        </p:txBody>
      </p:sp>
    </p:spTree>
    <p:extLst>
      <p:ext uri="{BB962C8B-B14F-4D97-AF65-F5344CB8AC3E}">
        <p14:creationId xmlns:p14="http://schemas.microsoft.com/office/powerpoint/2010/main" val="1888998327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0E0F1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1C235F3-27AF-4E2A-A0B6-B2911518C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4287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6B8A">
              <a:alpha val="12549"/>
            </a:srgbClr>
          </a:solidFill>
          <a:ln xmlns:a="http://schemas.openxmlformats.org/drawingml/2006/main" w="9525">
            <a:solidFill>
              <a:srgbClr val="FF6B8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1CEA75-2227-4581-9E21-4BF62C958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6B8A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FF6B8A"/>
                </a:solidFill>
                <a:latin typeface="Arial"/>
                <a:ea typeface="Arial"/>
                <a:cs typeface="Arial"/>
              </a:rPr>
              <a:t>READINESS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098649-E89F-4497-8B50-38862530C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F1F2F8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F1F2F8"/>
                </a:solidFill>
                <a:latin typeface="Arial"/>
                <a:ea typeface="Arial"/>
                <a:cs typeface="Arial"/>
              </a:rPr>
              <a:t>Risk and readiness priorities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477631-A84B-4FAB-973B-A8376F1ED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1">
                <a:solidFill>
                  <a:srgbClr val="A7ACC2"/>
                </a:solidFill>
                <a:latin typeface="Calibri"/>
                <a:ea typeface="Calibri"/>
                <a:cs typeface="Calibri"/>
              </a:defRPr>
            </a:pPr>
            <a:r>
              <a:rPr sz="1500" b="0" i="1">
                <a:solidFill>
                  <a:srgbClr val="A7ACC2"/>
                </a:solidFill>
                <a:latin typeface="Calibri"/>
                <a:ea typeface="Calibri"/>
                <a:cs typeface="Calibri"/>
              </a:rPr>
              <a:t>Most risk sits at the boundary between a strong demo and a real external-user launch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2EBABE-48BF-4C33-99D5-5F2ADCF43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38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737A99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737A99"/>
                </a:solidFill>
                <a:latin typeface="Arial"/>
                <a:ea typeface="Arial"/>
                <a:cs typeface="Arial"/>
              </a:rPr>
              <a:t>TURNFLOW HOME  •  SYSTEM GUIDE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D0121E-B914-4C8B-9B33-326166BD3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737A99"/>
                </a:solidFill>
                <a:latin typeface="Courier New"/>
                <a:ea typeface="Courier New"/>
                <a:cs typeface="Courier New"/>
              </a:defRPr>
            </a:pPr>
            <a:r>
              <a:rPr sz="900" b="0" i="0">
                <a:solidFill>
                  <a:srgbClr val="737A99"/>
                </a:solidFill>
                <a:latin typeface="Courier New"/>
                <a:ea typeface="Courier New"/>
                <a:cs typeface="Courier New"/>
              </a:rPr>
              <a:t>24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D09F8D-73B9-44B9-B451-D973CA825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52625"/>
            <a:ext cx="10668000" cy="685800"/>
          </a:xfrm>
          <a:prstGeom xmlns:a="http://schemas.openxmlformats.org/drawingml/2006/main" prst="roundRect">
            <a:avLst>
              <a:gd name="adj" fmla="val 19444"/>
            </a:avLst>
          </a:prstGeom>
          <a:solidFill xmlns:a="http://schemas.openxmlformats.org/drawingml/2006/main">
            <a:srgbClr val="1B1D2E"/>
          </a:solidFill>
          <a:ln xmlns:a="http://schemas.openxmlformats.org/drawingml/2006/main" w="9525">
            <a:solidFill>
              <a:srgbClr val="3A3F5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16F447-2E0F-4611-8572-D754D849D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669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8A"/>
          </a:solidFill>
          <a:ln xmlns:a="http://schemas.openxmlformats.org/drawingml/2006/main" w="9525">
            <a:solidFill>
              <a:srgbClr val="FF6B8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0A952B9-3ECA-4592-AFBA-D10E58C86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6692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0E0F1A"/>
                </a:solidFill>
                <a:latin typeface="Calibri"/>
                <a:ea typeface="Calibri"/>
                <a:cs typeface="Calibri"/>
              </a:defRPr>
            </a:pPr>
            <a:r>
              <a:rPr sz="1425" b="1" i="0">
                <a:solidFill>
                  <a:srgbClr val="0E0F1A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70FE1F5-605C-4382-ABFA-670298C6A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066925"/>
            <a:ext cx="238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FF6B8A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FF6B8A"/>
                </a:solidFill>
                <a:latin typeface="Arial"/>
                <a:ea typeface="Arial"/>
                <a:cs typeface="Arial"/>
              </a:rPr>
              <a:t>Human validation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3D61295-8D87-4292-8D8B-4E6998178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2066925"/>
            <a:ext cx="695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A7ACC2"/>
                </a:solidFill>
                <a:latin typeface="Calibri"/>
                <a:ea typeface="Calibri"/>
                <a:cs typeface="Calibri"/>
              </a:defRPr>
            </a:pPr>
            <a:r>
              <a:rPr sz="1350" b="0" i="0">
                <a:solidFill>
                  <a:srgbClr val="A7ACC2"/>
                </a:solidFill>
                <a:latin typeface="Calibri"/>
                <a:ea typeface="Calibri"/>
                <a:cs typeface="Calibri"/>
              </a:rPr>
              <a:t>Moderated homeowner and vendor sessions remain the documented launch gate.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C1FD63B-0FFC-4DB0-AD62-C2E9FD363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90825"/>
            <a:ext cx="10668000" cy="685800"/>
          </a:xfrm>
          <a:prstGeom xmlns:a="http://schemas.openxmlformats.org/drawingml/2006/main" prst="roundRect">
            <a:avLst>
              <a:gd name="adj" fmla="val 19444"/>
            </a:avLst>
          </a:prstGeom>
          <a:solidFill xmlns:a="http://schemas.openxmlformats.org/drawingml/2006/main">
            <a:srgbClr val="1B1D2E"/>
          </a:solidFill>
          <a:ln xmlns:a="http://schemas.openxmlformats.org/drawingml/2006/main" w="9525">
            <a:solidFill>
              <a:srgbClr val="3A3F5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8545804-AB9C-414B-89CA-D3ED2E4B9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9051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B84B"/>
          </a:solidFill>
          <a:ln xmlns:a="http://schemas.openxmlformats.org/drawingml/2006/main" w="9525">
            <a:solidFill>
              <a:srgbClr val="F5B84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D61799B-9E2D-49FD-97CA-C70EF79E8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90512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0E0F1A"/>
                </a:solidFill>
                <a:latin typeface="Calibri"/>
                <a:ea typeface="Calibri"/>
                <a:cs typeface="Calibri"/>
              </a:defRPr>
            </a:pPr>
            <a:r>
              <a:rPr sz="1425" b="1" i="0">
                <a:solidFill>
                  <a:srgbClr val="0E0F1A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781BEB0-9948-4231-91C6-87DCEB36F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905125"/>
            <a:ext cx="238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F5B84B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F5B84B"/>
                </a:solidFill>
                <a:latin typeface="Arial"/>
                <a:ea typeface="Arial"/>
                <a:cs typeface="Arial"/>
              </a:rPr>
              <a:t>Access onboarding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E6CC872-8171-48F0-8A1F-2BE0A79FB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2905125"/>
            <a:ext cx="695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A7ACC2"/>
                </a:solidFill>
                <a:latin typeface="Calibri"/>
                <a:ea typeface="Calibri"/>
                <a:cs typeface="Calibri"/>
              </a:defRPr>
            </a:pPr>
            <a:r>
              <a:rPr sz="1350" b="0" i="0">
                <a:solidFill>
                  <a:srgbClr val="A7ACC2"/>
                </a:solidFill>
                <a:latin typeface="Calibri"/>
                <a:ea typeface="Calibri"/>
                <a:cs typeface="Calibri"/>
              </a:rPr>
              <a:t>Invited vendors and helpers cannot yet create the required account from the invite.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90BEFBF-94D3-4221-9509-CA32B3CA2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29025"/>
            <a:ext cx="10668000" cy="685800"/>
          </a:xfrm>
          <a:prstGeom xmlns:a="http://schemas.openxmlformats.org/drawingml/2006/main" prst="roundRect">
            <a:avLst>
              <a:gd name="adj" fmla="val 19444"/>
            </a:avLst>
          </a:prstGeom>
          <a:solidFill xmlns:a="http://schemas.openxmlformats.org/drawingml/2006/main">
            <a:srgbClr val="1B1D2E"/>
          </a:solidFill>
          <a:ln xmlns:a="http://schemas.openxmlformats.org/drawingml/2006/main" w="9525">
            <a:solidFill>
              <a:srgbClr val="3A3F5E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118E758-9549-41F0-B41B-02E94725C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7433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EC8F2"/>
          </a:solidFill>
          <a:ln xmlns:a="http://schemas.openxmlformats.org/drawingml/2006/main" w="9525">
            <a:solidFill>
              <a:srgbClr val="5EC8F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F91797F-FCB7-455D-B32C-E188217BE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74332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0E0F1A"/>
                </a:solidFill>
                <a:latin typeface="Calibri"/>
                <a:ea typeface="Calibri"/>
                <a:cs typeface="Calibri"/>
              </a:defRPr>
            </a:pPr>
            <a:r>
              <a:rPr sz="1425" b="1" i="0">
                <a:solidFill>
                  <a:srgbClr val="0E0F1A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2156CAB-F0ED-47A0-AE05-3F53AE296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743325"/>
            <a:ext cx="238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5EC8F2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5EC8F2"/>
                </a:solidFill>
                <a:latin typeface="Arial"/>
                <a:ea typeface="Arial"/>
                <a:cs typeface="Arial"/>
              </a:rPr>
              <a:t>Data integrity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0C26B9D-6944-4A78-9D78-726C1ADD6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3743325"/>
            <a:ext cx="695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A7ACC2"/>
                </a:solidFill>
                <a:latin typeface="Calibri"/>
                <a:ea typeface="Calibri"/>
                <a:cs typeface="Calibri"/>
              </a:defRPr>
            </a:pPr>
            <a:r>
              <a:rPr sz="1350" b="0" i="0">
                <a:solidFill>
                  <a:srgbClr val="A7ACC2"/>
                </a:solidFill>
                <a:latin typeface="Calibri"/>
                <a:ea typeface="Calibri"/>
                <a:cs typeface="Calibri"/>
              </a:rPr>
              <a:t>Multi-row mutations need transactions; quote approval uniqueness needs enforcement.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2B3A774-D1E6-4288-9FE6-DE465F2DE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67225"/>
            <a:ext cx="10668000" cy="685800"/>
          </a:xfrm>
          <a:prstGeom xmlns:a="http://schemas.openxmlformats.org/drawingml/2006/main" prst="roundRect">
            <a:avLst>
              <a:gd name="adj" fmla="val 19444"/>
            </a:avLst>
          </a:prstGeom>
          <a:solidFill xmlns:a="http://schemas.openxmlformats.org/drawingml/2006/main">
            <a:srgbClr val="1B1D2E"/>
          </a:solidFill>
          <a:ln xmlns:a="http://schemas.openxmlformats.org/drawingml/2006/main" w="9525">
            <a:solidFill>
              <a:srgbClr val="3A3F5E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6AC9D3D-3675-448A-8AE4-14576E339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5815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7CFF"/>
          </a:solidFill>
          <a:ln xmlns:a="http://schemas.openxmlformats.org/drawingml/2006/main" w="9525">
            <a:solidFill>
              <a:srgbClr val="8B7CF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264758F-6B94-419B-8B2E-4A48BF7E5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58152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0E0F1A"/>
                </a:solidFill>
                <a:latin typeface="Calibri"/>
                <a:ea typeface="Calibri"/>
                <a:cs typeface="Calibri"/>
              </a:defRPr>
            </a:pPr>
            <a:r>
              <a:rPr sz="1425" b="1" i="0">
                <a:solidFill>
                  <a:srgbClr val="0E0F1A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AD5AC7E-B531-489B-A030-047F2F862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581525"/>
            <a:ext cx="238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8B7CFF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8B7CFF"/>
                </a:solidFill>
                <a:latin typeface="Arial"/>
                <a:ea typeface="Arial"/>
                <a:cs typeface="Arial"/>
              </a:rPr>
              <a:t>Audit durability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D220FCC-8D9B-4862-855F-87394E56B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4581525"/>
            <a:ext cx="695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A7ACC2"/>
                </a:solidFill>
                <a:latin typeface="Calibri"/>
                <a:ea typeface="Calibri"/>
                <a:cs typeface="Calibri"/>
              </a:defRPr>
            </a:pPr>
            <a:r>
              <a:rPr sz="1350" b="0" i="0">
                <a:solidFill>
                  <a:srgbClr val="A7ACC2"/>
                </a:solidFill>
                <a:latin typeface="Calibri"/>
                <a:ea typeface="Calibri"/>
                <a:cs typeface="Calibri"/>
              </a:rPr>
              <a:t>Decision history currently follows request deletion instead of surviving it.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CFFD120-3A77-4BBB-A877-89BB1D457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05425"/>
            <a:ext cx="10668000" cy="685800"/>
          </a:xfrm>
          <a:prstGeom xmlns:a="http://schemas.openxmlformats.org/drawingml/2006/main" prst="roundRect">
            <a:avLst>
              <a:gd name="adj" fmla="val 19444"/>
            </a:avLst>
          </a:prstGeom>
          <a:solidFill xmlns:a="http://schemas.openxmlformats.org/drawingml/2006/main">
            <a:srgbClr val="1B1D2E"/>
          </a:solidFill>
          <a:ln xmlns:a="http://schemas.openxmlformats.org/drawingml/2006/main" w="9525">
            <a:solidFill>
              <a:srgbClr val="3A3F5E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BA248DD-6242-4009-A096-9676B69DF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4197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8A"/>
          </a:solidFill>
          <a:ln xmlns:a="http://schemas.openxmlformats.org/drawingml/2006/main" w="9525">
            <a:solidFill>
              <a:srgbClr val="FF6B8A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D1363C6-F964-47BE-A23D-D48AEB4F8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41972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0E0F1A"/>
                </a:solidFill>
                <a:latin typeface="Calibri"/>
                <a:ea typeface="Calibri"/>
                <a:cs typeface="Calibri"/>
              </a:defRPr>
            </a:pPr>
            <a:r>
              <a:rPr sz="1425" b="1" i="0">
                <a:solidFill>
                  <a:srgbClr val="0E0F1A"/>
                </a:solidFill>
                <a:latin typeface="Calibri"/>
                <a:ea typeface="Calibri"/>
                <a:cs typeface="Calibri"/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EB388F1-1715-4D79-B6C9-6EBB4B599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419725"/>
            <a:ext cx="238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FF6B8A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FF6B8A"/>
                </a:solidFill>
                <a:latin typeface="Arial"/>
                <a:ea typeface="Arial"/>
                <a:cs typeface="Arial"/>
              </a:rPr>
              <a:t>Operations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2AF5B3B-820F-412C-9B3B-8FDA12673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5419725"/>
            <a:ext cx="695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A7ACC2"/>
                </a:solidFill>
                <a:latin typeface="Calibri"/>
                <a:ea typeface="Calibri"/>
                <a:cs typeface="Calibri"/>
              </a:defRPr>
            </a:pPr>
            <a:r>
              <a:rPr sz="1350" b="0" i="0">
                <a:solidFill>
                  <a:srgbClr val="A7ACC2"/>
                </a:solidFill>
                <a:latin typeface="Calibri"/>
                <a:ea typeface="Calibri"/>
                <a:cs typeface="Calibri"/>
              </a:rPr>
              <a:t>Private-Blob migration, demo reset, email, cron, and alerting need environment proof.</a:t>
            </a:r>
          </a:p>
        </p:txBody>
      </p:sp>
    </p:spTree>
    <p:extLst>
      <p:ext uri="{BB962C8B-B14F-4D97-AF65-F5344CB8AC3E}">
        <p14:creationId xmlns:p14="http://schemas.microsoft.com/office/powerpoint/2010/main" val="466547967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0E0F1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69567F0-1C16-4A3C-84F9-78AE5D827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4287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B84B">
              <a:alpha val="12549"/>
            </a:srgbClr>
          </a:solidFill>
          <a:ln xmlns:a="http://schemas.openxmlformats.org/drawingml/2006/main" w="9525">
            <a:solidFill>
              <a:srgbClr val="F5B84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15B1C5-9938-4F3B-B436-1ECE36A25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5B84B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F5B84B"/>
                </a:solidFill>
                <a:latin typeface="Arial"/>
                <a:ea typeface="Arial"/>
                <a:cs typeface="Arial"/>
              </a:rPr>
              <a:t>LEARNING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799481-E65C-4563-93F1-D3E58A9E2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F1F2F8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F1F2F8"/>
                </a:solidFill>
                <a:latin typeface="Arial"/>
                <a:ea typeface="Arial"/>
                <a:cs typeface="Arial"/>
              </a:rPr>
              <a:t>Where to make common changes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8EE4AB-58DB-443F-BB0F-685E7C426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1">
                <a:solidFill>
                  <a:srgbClr val="A7ACC2"/>
                </a:solidFill>
                <a:latin typeface="Calibri"/>
                <a:ea typeface="Calibri"/>
                <a:cs typeface="Calibri"/>
              </a:defRPr>
            </a:pPr>
            <a:r>
              <a:rPr sz="1500" b="0" i="1">
                <a:solidFill>
                  <a:srgbClr val="A7ACC2"/>
                </a:solidFill>
                <a:latin typeface="Calibri"/>
                <a:ea typeface="Calibri"/>
                <a:cs typeface="Calibri"/>
              </a:rPr>
              <a:t>Start at the business rule, then move outward to data, server entry points, UI, and verification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EAA7B3-82EC-4FF0-80BE-FBFEDDDAE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38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737A99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737A99"/>
                </a:solidFill>
                <a:latin typeface="Arial"/>
                <a:ea typeface="Arial"/>
                <a:cs typeface="Arial"/>
              </a:rPr>
              <a:t>TURNFLOW HOME  •  SYSTEM GUIDE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6A60CE-8F95-4D53-BA04-1FF7D4F77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737A99"/>
                </a:solidFill>
                <a:latin typeface="Courier New"/>
                <a:ea typeface="Courier New"/>
                <a:cs typeface="Courier New"/>
              </a:defRPr>
            </a:pPr>
            <a:r>
              <a:rPr sz="900" b="0" i="0">
                <a:solidFill>
                  <a:srgbClr val="737A99"/>
                </a:solidFill>
                <a:latin typeface="Courier New"/>
                <a:ea typeface="Courier New"/>
                <a:cs typeface="Courier New"/>
              </a:rPr>
              <a:t>25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F59028-C962-4E8E-9810-6BBBA42AF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571750"/>
            <a:ext cx="1952625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1B1D2E"/>
          </a:solidFill>
          <a:ln xmlns:a="http://schemas.openxmlformats.org/drawingml/2006/main" w="19050">
            <a:solidFill>
              <a:srgbClr val="F5B84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B039EB-98AE-4BE4-ACD2-8E519D330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667000"/>
            <a:ext cx="17240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F5B84B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F5B84B"/>
                </a:solidFill>
                <a:latin typeface="Arial"/>
                <a:ea typeface="Arial"/>
                <a:cs typeface="Arial"/>
              </a:rPr>
              <a:t>Policy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6F305F-8E12-4FB1-9730-7A39621FB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971800"/>
            <a:ext cx="17240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A7ACC2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A7ACC2"/>
                </a:solidFill>
                <a:latin typeface="Calibri"/>
                <a:ea typeface="Calibri"/>
                <a:cs typeface="Calibri"/>
              </a:rPr>
              <a:t>lib/*.ts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030FAF-943F-49BD-B372-2C089901F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571750"/>
            <a:ext cx="1952625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1B1D2E"/>
          </a:solidFill>
          <a:ln xmlns:a="http://schemas.openxmlformats.org/drawingml/2006/main" w="19050">
            <a:solidFill>
              <a:srgbClr val="2DD4A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A2DA486-7BA8-415D-AC7C-361CAA67A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667000"/>
            <a:ext cx="17240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2DD4A7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2DD4A7"/>
                </a:solidFill>
                <a:latin typeface="Arial"/>
                <a:ea typeface="Arial"/>
                <a:cs typeface="Arial"/>
              </a:rPr>
              <a:t>Schema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B5A1C28-2469-45E8-9D5C-EB9EE0CED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971800"/>
            <a:ext cx="17240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A7ACC2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A7ACC2"/>
                </a:solidFill>
                <a:latin typeface="Calibri"/>
                <a:ea typeface="Calibri"/>
                <a:cs typeface="Calibri"/>
              </a:rPr>
              <a:t>lib/db/schema.ts + migration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415A2D7-E9FD-42F1-8D06-7043F1C69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2571750"/>
            <a:ext cx="1952625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1B1D2E"/>
          </a:solidFill>
          <a:ln xmlns:a="http://schemas.openxmlformats.org/drawingml/2006/main" w="19050">
            <a:solidFill>
              <a:srgbClr val="FF6B8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F7013BA-9BDD-4835-997C-EEDA65E4D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425" y="2667000"/>
            <a:ext cx="17240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FF6B8A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FF6B8A"/>
                </a:solidFill>
                <a:latin typeface="Arial"/>
                <a:ea typeface="Arial"/>
                <a:cs typeface="Arial"/>
              </a:rPr>
              <a:t>Mutation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139A9A5-DF52-405E-8331-7B1559C15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425" y="2971800"/>
            <a:ext cx="17240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A7ACC2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A7ACC2"/>
                </a:solidFill>
                <a:latin typeface="Calibri"/>
                <a:ea typeface="Calibri"/>
                <a:cs typeface="Calibri"/>
              </a:rPr>
              <a:t>lib/actions/*.ts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BC564C2-F492-44F0-B14B-874274FD7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571750"/>
            <a:ext cx="1952625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1B1D2E"/>
          </a:solidFill>
          <a:ln xmlns:a="http://schemas.openxmlformats.org/drawingml/2006/main" w="19050">
            <a:solidFill>
              <a:srgbClr val="5EC8F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8D8BB8C-94B5-4C20-A131-669DBBFD0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667000"/>
            <a:ext cx="17240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5EC8F2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5EC8F2"/>
                </a:solidFill>
                <a:latin typeface="Arial"/>
                <a:ea typeface="Arial"/>
                <a:cs typeface="Arial"/>
              </a:rPr>
              <a:t>Experience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E25571C-0505-45AF-AE43-7353B3EA3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971800"/>
            <a:ext cx="17240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A7ACC2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A7ACC2"/>
                </a:solidFill>
                <a:latin typeface="Calibri"/>
                <a:ea typeface="Calibri"/>
                <a:cs typeface="Calibri"/>
              </a:rPr>
              <a:t>app/ + components/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1C4C654-49F2-4B75-978C-B8681672F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2571750"/>
            <a:ext cx="1952625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1B1D2E"/>
          </a:solidFill>
          <a:ln xmlns:a="http://schemas.openxmlformats.org/drawingml/2006/main" w="19050">
            <a:solidFill>
              <a:srgbClr val="8B7CF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3A44BB5-5367-463F-B597-CC1A1E840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72675" y="2667000"/>
            <a:ext cx="17240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8B7CFF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8B7CFF"/>
                </a:solidFill>
                <a:latin typeface="Arial"/>
                <a:ea typeface="Arial"/>
                <a:cs typeface="Arial"/>
              </a:rPr>
              <a:t>Verification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F369FBD-8F4E-4FC2-BE68-EDB0C2FD6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72675" y="2971800"/>
            <a:ext cx="17240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A7ACC2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A7ACC2"/>
                </a:solidFill>
                <a:latin typeface="Calibri"/>
                <a:ea typeface="Calibri"/>
                <a:cs typeface="Calibri"/>
              </a:rPr>
              <a:t>__tests__/ + smoke script</a:t>
            </a:r>
          </a:p>
        </p:txBody>
      </p:sp>
      <p:cxnSp>
        <p:nvCxnSpPr>
          <p:cNvPr id="48" name=""/>
          <p:cNvCxnSpPr>
            <a:stCxn xmlns:a="http://schemas.openxmlformats.org/drawingml/2006/main" id="7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2476500" y="3190875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DD4A7"/>
            </a:solidFill>
            <a:prstDash val="solid"/>
            <a:tailEnd type="arrow" w="sm" len="sm"/>
          </a:ln>
        </p:spPr>
      </p:cxnSp>
      <p:cxnSp>
        <p:nvCxnSpPr>
          <p:cNvPr id="49" name=""/>
          <p:cNvCxnSpPr>
            <a:stCxn xmlns:a="http://schemas.openxmlformats.org/drawingml/2006/main" id="10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4810125" y="3190875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F6B8A"/>
            </a:solidFill>
            <a:prstDash val="solid"/>
            <a:tailEnd type="arrow" w="sm" len="sm"/>
          </a:ln>
        </p:spPr>
      </p:cxnSp>
      <p:cxnSp>
        <p:nvCxnSpPr>
          <p:cNvPr id="50" name=""/>
          <p:cNvCxnSpPr>
            <a:stCxn xmlns:a="http://schemas.openxmlformats.org/drawingml/2006/main" id="13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7143750" y="3190875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EC8F2"/>
            </a:solidFill>
            <a:prstDash val="solid"/>
            <a:tailEnd type="arrow" w="sm" len="sm"/>
          </a:ln>
        </p:spPr>
      </p:cxnSp>
      <p:cxnSp>
        <p:nvCxnSpPr>
          <p:cNvPr id="51" name=""/>
          <p:cNvCxnSpPr>
            <a:stCxn xmlns:a="http://schemas.openxmlformats.org/drawingml/2006/main" id="16" idx="3"/>
            <a:endCxn xmlns:a="http://schemas.openxmlformats.org/drawingml/2006/main" id="19" idx="1"/>
          </p:cNvCxnSpPr>
          <p:nvPr/>
        </p:nvCxnSpPr>
        <p:spPr>
          <a:xfrm xmlns:a="http://schemas.openxmlformats.org/drawingml/2006/main">
            <a:off x="9477375" y="3190875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8B7CFF"/>
            </a:solidFill>
            <a:prstDash val="solid"/>
            <a:tailEnd type="arrow" w="sm" len="sm"/>
          </a:ln>
        </p:spPr>
      </p:cxn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823E95E-DEA7-417E-BE8E-FF51B35F1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810125"/>
            <a:ext cx="8763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 i="0">
                <a:solidFill>
                  <a:srgbClr val="F1F2F8"/>
                </a:solidFill>
                <a:latin typeface="Calibri"/>
                <a:ea typeface="Calibri"/>
                <a:cs typeface="Calibri"/>
              </a:defRPr>
            </a:pPr>
            <a:r>
              <a:rPr sz="1725" b="1" i="0">
                <a:solidFill>
                  <a:srgbClr val="F1F2F8"/>
                </a:solidFill>
                <a:latin typeface="Calibri"/>
                <a:ea typeface="Calibri"/>
                <a:cs typeface="Calibri"/>
              </a:rPr>
              <a:t>Example: a new request field touches schema, migration, intake action, forms, backup/export, guidance, and tests.</a:t>
            </a:r>
          </a:p>
        </p:txBody>
      </p:sp>
    </p:spTree>
    <p:extLst>
      <p:ext uri="{BB962C8B-B14F-4D97-AF65-F5344CB8AC3E}">
        <p14:creationId xmlns:p14="http://schemas.microsoft.com/office/powerpoint/2010/main" val="1522190947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0E0F1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1C69D62-0C9E-4DE6-856F-2A55B2429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4287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B84B">
              <a:alpha val="12549"/>
            </a:srgbClr>
          </a:solidFill>
          <a:ln xmlns:a="http://schemas.openxmlformats.org/drawingml/2006/main" w="9525">
            <a:solidFill>
              <a:srgbClr val="F5B84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8C6394-DC97-4547-86FF-543C3D42A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5B84B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F5B84B"/>
                </a:solidFill>
                <a:latin typeface="Arial"/>
                <a:ea typeface="Arial"/>
                <a:cs typeface="Arial"/>
              </a:rPr>
              <a:t>LEARNING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947AD9-5F22-4C68-AF8B-B61E03D94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F1F2F8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F1F2F8"/>
                </a:solidFill>
                <a:latin typeface="Arial"/>
                <a:ea typeface="Arial"/>
                <a:cs typeface="Arial"/>
              </a:rPr>
              <a:t>A two-minute explanation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6B9F29-A5E8-4CE2-A8E9-BAACF9564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1">
                <a:solidFill>
                  <a:srgbClr val="A7ACC2"/>
                </a:solidFill>
                <a:latin typeface="Calibri"/>
                <a:ea typeface="Calibri"/>
                <a:cs typeface="Calibri"/>
              </a:defRPr>
            </a:pPr>
            <a:r>
              <a:rPr sz="1500" b="0" i="1">
                <a:solidFill>
                  <a:srgbClr val="A7ACC2"/>
                </a:solidFill>
                <a:latin typeface="Calibri"/>
                <a:ea typeface="Calibri"/>
                <a:cs typeface="Calibri"/>
              </a:rPr>
              <a:t>Use four beats and name the product boundary before the stack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28C079-577C-4BEF-B743-6752C9DB6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38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737A99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737A99"/>
                </a:solidFill>
                <a:latin typeface="Arial"/>
                <a:ea typeface="Arial"/>
                <a:cs typeface="Arial"/>
              </a:rPr>
              <a:t>TURNFLOW HOME  •  SYSTEM GUIDE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0FB700-3BF0-4AA8-A97C-CBE8B59D8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737A99"/>
                </a:solidFill>
                <a:latin typeface="Courier New"/>
                <a:ea typeface="Courier New"/>
                <a:cs typeface="Courier New"/>
              </a:defRPr>
            </a:pPr>
            <a:r>
              <a:rPr sz="900" b="0" i="0">
                <a:solidFill>
                  <a:srgbClr val="737A99"/>
                </a:solidFill>
                <a:latin typeface="Courier New"/>
                <a:ea typeface="Courier New"/>
                <a:cs typeface="Courier New"/>
              </a:rPr>
              <a:t>26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8F06C0-DD29-435F-B93A-FB5498560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238375"/>
            <a:ext cx="2381250" cy="3000375"/>
          </a:xfrm>
          <a:prstGeom xmlns:a="http://schemas.openxmlformats.org/drawingml/2006/main" prst="roundRect">
            <a:avLst>
              <a:gd name="adj" fmla="val 8800"/>
            </a:avLst>
          </a:prstGeom>
          <a:solidFill xmlns:a="http://schemas.openxmlformats.org/drawingml/2006/main">
            <a:srgbClr val="1B1D2E"/>
          </a:solidFill>
          <a:ln xmlns:a="http://schemas.openxmlformats.org/drawingml/2006/main" w="19050">
            <a:solidFill>
              <a:srgbClr val="FF6B8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1B8090-B2F8-4D5E-8E37-2236D7BE1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2524125"/>
            <a:ext cx="628650" cy="628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8A"/>
          </a:solidFill>
          <a:ln xmlns:a="http://schemas.openxmlformats.org/drawingml/2006/main" w="9525">
            <a:solidFill>
              <a:srgbClr val="FF6B8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D87E673-9C68-4BE1-85B8-BD726E332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2524125"/>
            <a:ext cx="6286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 i="0">
                <a:solidFill>
                  <a:srgbClr val="0E0F1A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0E0F1A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82EA92A-4818-4EDA-8041-DCDD55B3D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476625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 i="0">
                <a:solidFill>
                  <a:srgbClr val="FF6B8A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FF6B8A"/>
                </a:solidFill>
                <a:latin typeface="Arial"/>
                <a:ea typeface="Arial"/>
                <a:cs typeface="Arial"/>
              </a:rPr>
              <a:t>Problem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7674D27-836E-4CD3-9E19-600AC6B70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4000500"/>
            <a:ext cx="19621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 i="0">
                <a:solidFill>
                  <a:srgbClr val="A7ACC2"/>
                </a:solidFill>
                <a:latin typeface="Calibri"/>
                <a:ea typeface="Calibri"/>
                <a:cs typeface="Calibri"/>
              </a:defRPr>
            </a:pPr>
            <a:r>
              <a:rPr sz="1350" b="0" i="0">
                <a:solidFill>
                  <a:srgbClr val="A7ACC2"/>
                </a:solidFill>
                <a:latin typeface="Calibri"/>
                <a:ea typeface="Calibri"/>
                <a:cs typeface="Calibri"/>
              </a:rPr>
              <a:t>Repair evidence and decisions fragment across messages, files, and memory.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6A37F6B-689E-482E-AEE1-6737A65B5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2238375"/>
            <a:ext cx="2381250" cy="3000375"/>
          </a:xfrm>
          <a:prstGeom xmlns:a="http://schemas.openxmlformats.org/drawingml/2006/main" prst="roundRect">
            <a:avLst>
              <a:gd name="adj" fmla="val 8800"/>
            </a:avLst>
          </a:prstGeom>
          <a:solidFill xmlns:a="http://schemas.openxmlformats.org/drawingml/2006/main">
            <a:srgbClr val="1B1D2E"/>
          </a:solidFill>
          <a:ln xmlns:a="http://schemas.openxmlformats.org/drawingml/2006/main" w="19050">
            <a:solidFill>
              <a:srgbClr val="2DD4A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36E4678-5035-4889-867F-6A83D33A7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2524125"/>
            <a:ext cx="628650" cy="628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D4A7"/>
          </a:solidFill>
          <a:ln xmlns:a="http://schemas.openxmlformats.org/drawingml/2006/main" w="9525">
            <a:solidFill>
              <a:srgbClr val="2DD4A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F00BB80-B676-4875-A643-42F7EA9AB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2524125"/>
            <a:ext cx="6286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 i="0">
                <a:solidFill>
                  <a:srgbClr val="0E0F1A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0E0F1A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DBAE256-3065-4607-A375-F6CC63003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3476625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 i="0">
                <a:solidFill>
                  <a:srgbClr val="2DD4A7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2DD4A7"/>
                </a:solidFill>
                <a:latin typeface="Arial"/>
                <a:ea typeface="Arial"/>
                <a:cs typeface="Arial"/>
              </a:rPr>
              <a:t>Product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71150BB-DB89-4A23-AA1A-21E2EA3FB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4000500"/>
            <a:ext cx="19621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 i="0">
                <a:solidFill>
                  <a:srgbClr val="A7ACC2"/>
                </a:solidFill>
                <a:latin typeface="Calibri"/>
                <a:ea typeface="Calibri"/>
                <a:cs typeface="Calibri"/>
              </a:defRPr>
            </a:pPr>
            <a:r>
              <a:rPr sz="1350" b="0" i="0">
                <a:solidFill>
                  <a:srgbClr val="A7ACC2"/>
                </a:solidFill>
                <a:latin typeface="Calibri"/>
                <a:ea typeface="Calibri"/>
                <a:cs typeface="Calibri"/>
              </a:rPr>
              <a:t>The owner keeps one property record and shares only the request that needs help.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67DE1A8-4D05-4323-A328-3987735E5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238375"/>
            <a:ext cx="2381250" cy="3000375"/>
          </a:xfrm>
          <a:prstGeom xmlns:a="http://schemas.openxmlformats.org/drawingml/2006/main" prst="roundRect">
            <a:avLst>
              <a:gd name="adj" fmla="val 8800"/>
            </a:avLst>
          </a:prstGeom>
          <a:solidFill xmlns:a="http://schemas.openxmlformats.org/drawingml/2006/main">
            <a:srgbClr val="1B1D2E"/>
          </a:solidFill>
          <a:ln xmlns:a="http://schemas.openxmlformats.org/drawingml/2006/main" w="19050">
            <a:solidFill>
              <a:srgbClr val="5EC8F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96A9BF3-DEDD-4D9C-A250-6537508C3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5675" y="2524125"/>
            <a:ext cx="628650" cy="628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EC8F2"/>
          </a:solidFill>
          <a:ln xmlns:a="http://schemas.openxmlformats.org/drawingml/2006/main" w="9525">
            <a:solidFill>
              <a:srgbClr val="5EC8F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C9EFC98-83CD-49D3-A314-8A841A057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5675" y="2524125"/>
            <a:ext cx="6286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 i="0">
                <a:solidFill>
                  <a:srgbClr val="0E0F1A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0E0F1A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806E7A1-DFED-4CF4-845E-4C3895F7D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3476625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 i="0">
                <a:solidFill>
                  <a:srgbClr val="5EC8F2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5EC8F2"/>
                </a:solidFill>
                <a:latin typeface="Arial"/>
                <a:ea typeface="Arial"/>
                <a:cs typeface="Arial"/>
              </a:rPr>
              <a:t>System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2590CEF-3E52-4371-80E2-9C448032A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4000500"/>
            <a:ext cx="19621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 i="0">
                <a:solidFill>
                  <a:srgbClr val="A7ACC2"/>
                </a:solidFill>
                <a:latin typeface="Calibri"/>
                <a:ea typeface="Calibri"/>
                <a:cs typeface="Calibri"/>
              </a:defRPr>
            </a:pPr>
            <a:r>
              <a:rPr sz="1350" b="0" i="0">
                <a:solidFill>
                  <a:srgbClr val="A7ACC2"/>
                </a:solidFill>
                <a:latin typeface="Calibri"/>
                <a:ea typeface="Calibri"/>
                <a:cs typeface="Calibri"/>
              </a:rPr>
              <a:t>Next.js owns the server boundary. Postgres stores history. Blob stores files.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82F22E5-1224-4ED6-BCD4-8FF458DFE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2238375"/>
            <a:ext cx="2381250" cy="3000375"/>
          </a:xfrm>
          <a:prstGeom xmlns:a="http://schemas.openxmlformats.org/drawingml/2006/main" prst="roundRect">
            <a:avLst>
              <a:gd name="adj" fmla="val 8800"/>
            </a:avLst>
          </a:prstGeom>
          <a:solidFill xmlns:a="http://schemas.openxmlformats.org/drawingml/2006/main">
            <a:srgbClr val="1B1D2E"/>
          </a:solidFill>
          <a:ln xmlns:a="http://schemas.openxmlformats.org/drawingml/2006/main" w="19050">
            <a:solidFill>
              <a:srgbClr val="F5B84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8826F3E-D525-4651-9323-39ADC565F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3175" y="2524125"/>
            <a:ext cx="628650" cy="628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B84B"/>
          </a:solidFill>
          <a:ln xmlns:a="http://schemas.openxmlformats.org/drawingml/2006/main" w="9525">
            <a:solidFill>
              <a:srgbClr val="F5B84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814BE07-282C-4D85-9EFA-5D90635C3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3175" y="2524125"/>
            <a:ext cx="6286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 i="0">
                <a:solidFill>
                  <a:srgbClr val="0E0F1A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0E0F1A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CCEE568-E81E-4250-A62C-307E92BEE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3476625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 i="0">
                <a:solidFill>
                  <a:srgbClr val="F5B84B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F5B84B"/>
                </a:solidFill>
                <a:latin typeface="Arial"/>
                <a:ea typeface="Arial"/>
                <a:cs typeface="Arial"/>
              </a:rPr>
              <a:t>Maturity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730F3E7-9871-49CE-A9CE-3BEDADA83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6425" y="4000500"/>
            <a:ext cx="19621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 i="0">
                <a:solidFill>
                  <a:srgbClr val="A7ACC2"/>
                </a:solidFill>
                <a:latin typeface="Calibri"/>
                <a:ea typeface="Calibri"/>
                <a:cs typeface="Calibri"/>
              </a:defRPr>
            </a:pPr>
            <a:r>
              <a:rPr sz="1350" b="0" i="0">
                <a:solidFill>
                  <a:srgbClr val="A7ACC2"/>
                </a:solidFill>
                <a:latin typeface="Calibri"/>
                <a:ea typeface="Calibri"/>
                <a:cs typeface="Calibri"/>
              </a:rPr>
              <a:t>The full POC loop works. Payments, broader org policy, and user validation remain.</a:t>
            </a:r>
          </a:p>
        </p:txBody>
      </p:sp>
    </p:spTree>
    <p:extLst>
      <p:ext uri="{BB962C8B-B14F-4D97-AF65-F5344CB8AC3E}">
        <p14:creationId xmlns:p14="http://schemas.microsoft.com/office/powerpoint/2010/main" val="1817147481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0E0F1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A9ADE19-C5C0-4A33-A166-5A85B01BB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4287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B84B">
              <a:alpha val="12549"/>
            </a:srgbClr>
          </a:solidFill>
          <a:ln xmlns:a="http://schemas.openxmlformats.org/drawingml/2006/main" w="9525">
            <a:solidFill>
              <a:srgbClr val="F5B84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92075E-3D7A-44CC-AA11-DED98B231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5B84B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F5B84B"/>
                </a:solidFill>
                <a:latin typeface="Arial"/>
                <a:ea typeface="Arial"/>
                <a:cs typeface="Arial"/>
              </a:rPr>
              <a:t>LEARNING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959B47-C700-407D-875D-977260590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F1F2F8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F1F2F8"/>
                </a:solidFill>
                <a:latin typeface="Arial"/>
                <a:ea typeface="Arial"/>
                <a:cs typeface="Arial"/>
              </a:rPr>
              <a:t>A guided code-reading path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827B72-25BF-4774-8317-B7E9EE42B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1">
                <a:solidFill>
                  <a:srgbClr val="A7ACC2"/>
                </a:solidFill>
                <a:latin typeface="Calibri"/>
                <a:ea typeface="Calibri"/>
                <a:cs typeface="Calibri"/>
              </a:defRPr>
            </a:pPr>
            <a:r>
              <a:rPr sz="1500" b="0" i="1">
                <a:solidFill>
                  <a:srgbClr val="A7ACC2"/>
                </a:solidFill>
                <a:latin typeface="Calibri"/>
                <a:ea typeface="Calibri"/>
                <a:cs typeface="Calibri"/>
              </a:rPr>
              <a:t>Trace one repair from page to policy, mutation, data, and proof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06513A-6F9D-4653-A538-E26171AFC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38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737A99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737A99"/>
                </a:solidFill>
                <a:latin typeface="Arial"/>
                <a:ea typeface="Arial"/>
                <a:cs typeface="Arial"/>
              </a:rPr>
              <a:t>TURNFLOW HOME  •  SYSTEM GUIDE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C94ECE-73CE-4DCC-916A-BEF2AE706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737A99"/>
                </a:solidFill>
                <a:latin typeface="Courier New"/>
                <a:ea typeface="Courier New"/>
                <a:cs typeface="Courier New"/>
              </a:defRPr>
            </a:pPr>
            <a:r>
              <a:rPr sz="900" b="0" i="0">
                <a:solidFill>
                  <a:srgbClr val="737A99"/>
                </a:solidFill>
                <a:latin typeface="Courier New"/>
                <a:ea typeface="Courier New"/>
                <a:cs typeface="Courier New"/>
              </a:rPr>
              <a:t>27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C1ED8D-6BF4-49B2-A270-72921D7C9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52625"/>
            <a:ext cx="476250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1B1D2E"/>
          </a:solidFill>
          <a:ln xmlns:a="http://schemas.openxmlformats.org/drawingml/2006/main" w="14288">
            <a:solidFill>
              <a:srgbClr val="8B7C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546DAD-29EE-440F-AD5D-D9375DB33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66925"/>
            <a:ext cx="438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8B7CFF"/>
                </a:solidFill>
                <a:latin typeface="Courier New"/>
                <a:ea typeface="Courier New"/>
                <a:cs typeface="Courier New"/>
              </a:defRPr>
            </a:pPr>
            <a:r>
              <a:rPr sz="1275" b="1" i="0">
                <a:solidFill>
                  <a:srgbClr val="8B7CFF"/>
                </a:solidFill>
                <a:latin typeface="Courier New"/>
                <a:ea typeface="Courier New"/>
                <a:cs typeface="Courier New"/>
              </a:rPr>
              <a:t>app/owner/requests/[id]/page.tsx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E5D1E4-DBC9-44CF-9F6C-3F8FD0DF9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952625"/>
            <a:ext cx="476250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262A42"/>
          </a:solidFill>
          <a:ln xmlns:a="http://schemas.openxmlformats.org/drawingml/2006/main" w="9525">
            <a:solidFill>
              <a:srgbClr val="3A3F5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DF49652-3583-42CC-BF3E-3EDC15EBF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066925"/>
            <a:ext cx="438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F1F2F8"/>
                </a:solidFill>
                <a:latin typeface="Calibri"/>
                <a:ea typeface="Calibri"/>
                <a:cs typeface="Calibri"/>
              </a:defRPr>
            </a:pPr>
            <a:r>
              <a:rPr sz="1350" b="0" i="0">
                <a:solidFill>
                  <a:srgbClr val="F1F2F8"/>
                </a:solidFill>
                <a:latin typeface="Calibri"/>
                <a:ea typeface="Calibri"/>
                <a:cs typeface="Calibri"/>
              </a:rPr>
              <a:t>Loads the owner-scoped aggregate</a:t>
            </a:r>
          </a:p>
        </p:txBody>
      </p:sp>
      <p:cxnSp>
        <p:nvCxnSpPr>
          <p:cNvPr id="42" name=""/>
          <p:cNvCxnSpPr>
            <a:stCxn xmlns:a="http://schemas.openxmlformats.org/drawingml/2006/main" id="7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5524500" y="2257425"/>
            <a:ext cx="1143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8B7CFF"/>
            </a:solidFill>
            <a:prstDash val="solid"/>
            <a:tailEnd type="arrow" w="sm" len="sm"/>
          </a:ln>
        </p:spPr>
      </p:cxn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B807CEE-F712-43AD-A6C4-43B4C1993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71775"/>
            <a:ext cx="476250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1B1D2E"/>
          </a:solidFill>
          <a:ln xmlns:a="http://schemas.openxmlformats.org/drawingml/2006/main" w="14288">
            <a:solidFill>
              <a:srgbClr val="5EC8F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C43BCC3-BC24-4BE8-8128-90E4F864E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86075"/>
            <a:ext cx="438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5EC8F2"/>
                </a:solidFill>
                <a:latin typeface="Courier New"/>
                <a:ea typeface="Courier New"/>
                <a:cs typeface="Courier New"/>
              </a:defRPr>
            </a:pPr>
            <a:r>
              <a:rPr sz="1275" b="1" i="0">
                <a:solidFill>
                  <a:srgbClr val="5EC8F2"/>
                </a:solidFill>
                <a:latin typeface="Courier New"/>
                <a:ea typeface="Courier New"/>
                <a:cs typeface="Courier New"/>
              </a:rPr>
              <a:t>components/RequestDetailView.tsx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6247162-A49F-4AC8-9BB2-F940354D3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771775"/>
            <a:ext cx="476250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262A42"/>
          </a:solidFill>
          <a:ln xmlns:a="http://schemas.openxmlformats.org/drawingml/2006/main" w="9525">
            <a:solidFill>
              <a:srgbClr val="3A3F5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98EDD30-FA8B-425B-A2B0-10E9DD84E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886075"/>
            <a:ext cx="438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F1F2F8"/>
                </a:solidFill>
                <a:latin typeface="Calibri"/>
                <a:ea typeface="Calibri"/>
                <a:cs typeface="Calibri"/>
              </a:defRPr>
            </a:pPr>
            <a:r>
              <a:rPr sz="1350" b="0" i="0">
                <a:solidFill>
                  <a:srgbClr val="F1F2F8"/>
                </a:solidFill>
                <a:latin typeface="Calibri"/>
                <a:ea typeface="Calibri"/>
                <a:cs typeface="Calibri"/>
              </a:rPr>
              <a:t>Composes the workflow controls</a:t>
            </a:r>
          </a:p>
        </p:txBody>
      </p:sp>
      <p:cxnSp>
        <p:nvCxnSpPr>
          <p:cNvPr id="47" name=""/>
          <p:cNvCxnSpPr>
            <a:stCxn xmlns:a="http://schemas.openxmlformats.org/drawingml/2006/main" id="12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5524500" y="3076575"/>
            <a:ext cx="1143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EC8F2"/>
            </a:solidFill>
            <a:prstDash val="solid"/>
            <a:tailEnd type="arrow" w="sm" len="sm"/>
          </a:ln>
        </p:spPr>
      </p:cxn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9F34E28-CA22-4564-8A8D-239E6B7AA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90925"/>
            <a:ext cx="476250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1B1D2E"/>
          </a:solidFill>
          <a:ln xmlns:a="http://schemas.openxmlformats.org/drawingml/2006/main" w="14288">
            <a:solidFill>
              <a:srgbClr val="2DD4A7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EC6E71F-BE73-471D-96F4-F4847A39D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705225"/>
            <a:ext cx="438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2DD4A7"/>
                </a:solidFill>
                <a:latin typeface="Courier New"/>
                <a:ea typeface="Courier New"/>
                <a:cs typeface="Courier New"/>
              </a:defRPr>
            </a:pPr>
            <a:r>
              <a:rPr sz="1275" b="1" i="0">
                <a:solidFill>
                  <a:srgbClr val="2DD4A7"/>
                </a:solidFill>
                <a:latin typeface="Courier New"/>
                <a:ea typeface="Courier New"/>
                <a:cs typeface="Courier New"/>
              </a:rPr>
              <a:t>lib/request-workflow.ts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90C6AF3-3FCE-43E7-BCDC-663159F0D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590925"/>
            <a:ext cx="476250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262A42"/>
          </a:solidFill>
          <a:ln xmlns:a="http://schemas.openxmlformats.org/drawingml/2006/main" w="9525">
            <a:solidFill>
              <a:srgbClr val="3A3F5E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257ED4B-56D3-4155-ACC3-54CA5D719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705225"/>
            <a:ext cx="438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F1F2F8"/>
                </a:solidFill>
                <a:latin typeface="Calibri"/>
                <a:ea typeface="Calibri"/>
                <a:cs typeface="Calibri"/>
              </a:defRPr>
            </a:pPr>
            <a:r>
              <a:rPr sz="1350" b="0" i="0">
                <a:solidFill>
                  <a:srgbClr val="F1F2F8"/>
                </a:solidFill>
                <a:latin typeface="Calibri"/>
                <a:ea typeface="Calibri"/>
                <a:cs typeface="Calibri"/>
              </a:rPr>
              <a:t>Explains current state and next action</a:t>
            </a:r>
          </a:p>
        </p:txBody>
      </p:sp>
      <p:cxnSp>
        <p:nvCxnSpPr>
          <p:cNvPr id="52" name=""/>
          <p:cNvCxnSpPr>
            <a:stCxn xmlns:a="http://schemas.openxmlformats.org/drawingml/2006/main" id="17" idx="3"/>
            <a:endCxn xmlns:a="http://schemas.openxmlformats.org/drawingml/2006/main" id="19" idx="1"/>
          </p:cNvCxnSpPr>
          <p:nvPr/>
        </p:nvCxnSpPr>
        <p:spPr>
          <a:xfrm xmlns:a="http://schemas.openxmlformats.org/drawingml/2006/main">
            <a:off x="5524500" y="3895725"/>
            <a:ext cx="1143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DD4A7"/>
            </a:solidFill>
            <a:prstDash val="solid"/>
            <a:tailEnd type="arrow" w="sm" len="sm"/>
          </a:ln>
        </p:spPr>
      </p:cxn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B8E327B-F53E-4CAA-AF43-C54A00CC2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10075"/>
            <a:ext cx="476250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1B1D2E"/>
          </a:solidFill>
          <a:ln xmlns:a="http://schemas.openxmlformats.org/drawingml/2006/main" w="14288">
            <a:solidFill>
              <a:srgbClr val="FF6B8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95BC318-2EF9-443D-B5B9-F3B53C594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524375"/>
            <a:ext cx="438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FF6B8A"/>
                </a:solidFill>
                <a:latin typeface="Courier New"/>
                <a:ea typeface="Courier New"/>
                <a:cs typeface="Courier New"/>
              </a:defRPr>
            </a:pPr>
            <a:r>
              <a:rPr sz="1275" b="1" i="0">
                <a:solidFill>
                  <a:srgbClr val="FF6B8A"/>
                </a:solidFill>
                <a:latin typeface="Courier New"/>
                <a:ea typeface="Courier New"/>
                <a:cs typeface="Courier New"/>
              </a:rPr>
              <a:t>lib/actions/requests.ts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859CD16-741D-4772-BD74-D6247DE02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410075"/>
            <a:ext cx="476250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262A42"/>
          </a:solidFill>
          <a:ln xmlns:a="http://schemas.openxmlformats.org/drawingml/2006/main" w="9525">
            <a:solidFill>
              <a:srgbClr val="3A3F5E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AAAAA35-AF71-4AEA-8963-0A25EF4E2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524375"/>
            <a:ext cx="438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F1F2F8"/>
                </a:solidFill>
                <a:latin typeface="Calibri"/>
                <a:ea typeface="Calibri"/>
                <a:cs typeface="Calibri"/>
              </a:defRPr>
            </a:pPr>
            <a:r>
              <a:rPr sz="1350" b="0" i="0">
                <a:solidFill>
                  <a:srgbClr val="F1F2F8"/>
                </a:solidFill>
                <a:latin typeface="Calibri"/>
                <a:ea typeface="Calibri"/>
                <a:cs typeface="Calibri"/>
              </a:rPr>
              <a:t>Enforces ownership and status changes</a:t>
            </a:r>
          </a:p>
        </p:txBody>
      </p:sp>
      <p:cxnSp>
        <p:nvCxnSpPr>
          <p:cNvPr id="57" name=""/>
          <p:cNvCxnSpPr>
            <a:stCxn xmlns:a="http://schemas.openxmlformats.org/drawingml/2006/main" id="22" idx="3"/>
            <a:endCxn xmlns:a="http://schemas.openxmlformats.org/drawingml/2006/main" id="24" idx="1"/>
          </p:cNvCxnSpPr>
          <p:nvPr/>
        </p:nvCxnSpPr>
        <p:spPr>
          <a:xfrm xmlns:a="http://schemas.openxmlformats.org/drawingml/2006/main">
            <a:off x="5524500" y="4714875"/>
            <a:ext cx="1143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F6B8A"/>
            </a:solidFill>
            <a:prstDash val="solid"/>
            <a:tailEnd type="arrow" w="sm" len="sm"/>
          </a:ln>
        </p:spPr>
      </p:cxn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E64C3F0-AA1C-4305-8ED6-934FE84ED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29225"/>
            <a:ext cx="476250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1B1D2E"/>
          </a:solidFill>
          <a:ln xmlns:a="http://schemas.openxmlformats.org/drawingml/2006/main" w="14288">
            <a:solidFill>
              <a:srgbClr val="F5B84B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D6EA734-AF5F-4EB6-9557-613558180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343525"/>
            <a:ext cx="438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F5B84B"/>
                </a:solidFill>
                <a:latin typeface="Courier New"/>
                <a:ea typeface="Courier New"/>
                <a:cs typeface="Courier New"/>
              </a:defRPr>
            </a:pPr>
            <a:r>
              <a:rPr sz="1275" b="1" i="0">
                <a:solidFill>
                  <a:srgbClr val="F5B84B"/>
                </a:solidFill>
                <a:latin typeface="Courier New"/>
                <a:ea typeface="Courier New"/>
                <a:cs typeface="Courier New"/>
              </a:rPr>
              <a:t>lib/db/schema.ts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CF6FCAF-1904-46F6-AC98-4B087D4D2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229225"/>
            <a:ext cx="476250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262A42"/>
          </a:solidFill>
          <a:ln xmlns:a="http://schemas.openxmlformats.org/drawingml/2006/main" w="9525">
            <a:solidFill>
              <a:srgbClr val="3A3F5E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4AD8B1A-F6C0-4A0D-B9AB-DBB50AEBD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343525"/>
            <a:ext cx="438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F1F2F8"/>
                </a:solidFill>
                <a:latin typeface="Calibri"/>
                <a:ea typeface="Calibri"/>
                <a:cs typeface="Calibri"/>
              </a:defRPr>
            </a:pPr>
            <a:r>
              <a:rPr sz="1350" b="0" i="0">
                <a:solidFill>
                  <a:srgbClr val="F1F2F8"/>
                </a:solidFill>
                <a:latin typeface="Calibri"/>
                <a:ea typeface="Calibri"/>
                <a:cs typeface="Calibri"/>
              </a:rPr>
              <a:t>Shows the stored relationships</a:t>
            </a:r>
          </a:p>
        </p:txBody>
      </p:sp>
      <p:cxnSp>
        <p:nvCxnSpPr>
          <p:cNvPr id="62" name=""/>
          <p:cNvCxnSpPr>
            <a:stCxn xmlns:a="http://schemas.openxmlformats.org/drawingml/2006/main" id="27" idx="3"/>
            <a:endCxn xmlns:a="http://schemas.openxmlformats.org/drawingml/2006/main" id="29" idx="1"/>
          </p:cNvCxnSpPr>
          <p:nvPr/>
        </p:nvCxnSpPr>
        <p:spPr>
          <a:xfrm xmlns:a="http://schemas.openxmlformats.org/drawingml/2006/main">
            <a:off x="5524500" y="5534025"/>
            <a:ext cx="1143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5B84B"/>
            </a:solidFill>
            <a:prstDash val="solid"/>
            <a:tailEnd type="arrow" w="sm" len="sm"/>
          </a:ln>
        </p:spPr>
      </p:cxnSp>
    </p:spTree>
    <p:extLst>
      <p:ext uri="{BB962C8B-B14F-4D97-AF65-F5344CB8AC3E}">
        <p14:creationId xmlns:p14="http://schemas.microsoft.com/office/powerpoint/2010/main" val="1676873385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0E0F1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53F9384-77B7-42DA-A3CF-E8A30536E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4287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6B8A">
              <a:alpha val="12549"/>
            </a:srgbClr>
          </a:solidFill>
          <a:ln xmlns:a="http://schemas.openxmlformats.org/drawingml/2006/main" w="9525">
            <a:solidFill>
              <a:srgbClr val="FF6B8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966E93-399A-4949-AEC9-B39BD17DC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6B8A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FF6B8A"/>
                </a:solidFill>
                <a:latin typeface="Arial"/>
                <a:ea typeface="Arial"/>
                <a:cs typeface="Arial"/>
              </a:rPr>
              <a:t>READINESS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8537AD-C508-4E1E-A06C-36E8BF024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F1F2F8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F1F2F8"/>
                </a:solidFill>
                <a:latin typeface="Arial"/>
                <a:ea typeface="Arial"/>
                <a:cs typeface="Arial"/>
              </a:rPr>
              <a:t>Recommended next steps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BD9DA0-8551-4695-8219-9AFFF1DA3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1">
                <a:solidFill>
                  <a:srgbClr val="A7ACC2"/>
                </a:solidFill>
                <a:latin typeface="Calibri"/>
                <a:ea typeface="Calibri"/>
                <a:cs typeface="Calibri"/>
              </a:defRPr>
            </a:pPr>
            <a:r>
              <a:rPr sz="1500" b="0" i="1">
                <a:solidFill>
                  <a:srgbClr val="A7ACC2"/>
                </a:solidFill>
                <a:latin typeface="Calibri"/>
                <a:ea typeface="Calibri"/>
                <a:cs typeface="Calibri"/>
              </a:rPr>
              <a:t>Strengthen the proof of usefulness before expanding the commercial surface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B942BA-CD17-4121-BA0A-654551891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38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737A99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737A99"/>
                </a:solidFill>
                <a:latin typeface="Arial"/>
                <a:ea typeface="Arial"/>
                <a:cs typeface="Arial"/>
              </a:rPr>
              <a:t>TURNFLOW HOME  •  SYSTEM GUIDE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E539A9-61B8-4E05-A822-F355802A9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737A99"/>
                </a:solidFill>
                <a:latin typeface="Courier New"/>
                <a:ea typeface="Courier New"/>
                <a:cs typeface="Courier New"/>
              </a:defRPr>
            </a:pPr>
            <a:r>
              <a:rPr sz="900" b="0" i="0">
                <a:solidFill>
                  <a:srgbClr val="737A99"/>
                </a:solidFill>
                <a:latin typeface="Courier New"/>
                <a:ea typeface="Courier New"/>
                <a:cs typeface="Courier New"/>
              </a:rPr>
              <a:t>28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BA6AC2-ED25-4A4D-B321-BA49C9496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524125"/>
            <a:ext cx="238125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1B1D2E"/>
          </a:solidFill>
          <a:ln xmlns:a="http://schemas.openxmlformats.org/drawingml/2006/main" w="19050">
            <a:solidFill>
              <a:srgbClr val="FF6B8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7AB765-E728-4CE8-954A-CA17E0155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2619375"/>
            <a:ext cx="2152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FF6B8A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FF6B8A"/>
                </a:solidFill>
                <a:latin typeface="Arial"/>
                <a:ea typeface="Arial"/>
                <a:cs typeface="Arial"/>
              </a:rPr>
              <a:t>NOW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D456FA-477D-4BF6-A0A3-E7FC33288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2924175"/>
            <a:ext cx="21526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A7ACC2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A7ACC2"/>
                </a:solidFill>
                <a:latin typeface="Calibri"/>
                <a:ea typeface="Calibri"/>
                <a:cs typeface="Calibri"/>
              </a:rPr>
              <a:t>Run moderated owner and vendor sessions against the hosted seeded flow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4B8105C-5BF3-4A16-AA0C-2BB7783AC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524125"/>
            <a:ext cx="238125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1B1D2E"/>
          </a:solidFill>
          <a:ln xmlns:a="http://schemas.openxmlformats.org/drawingml/2006/main" w="19050">
            <a:solidFill>
              <a:srgbClr val="F5B84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7E9D868-DE76-43CA-9B8A-8D1F25270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619375"/>
            <a:ext cx="2152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F5B84B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F5B84B"/>
                </a:solidFill>
                <a:latin typeface="Arial"/>
                <a:ea typeface="Arial"/>
                <a:cs typeface="Arial"/>
              </a:rPr>
              <a:t>NEXT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0AEA0FA-F324-428D-B8D2-7F6726CD6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924175"/>
            <a:ext cx="21526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A7ACC2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A7ACC2"/>
                </a:solidFill>
                <a:latin typeface="Calibri"/>
                <a:ea typeface="Calibri"/>
                <a:cs typeface="Calibri"/>
              </a:rPr>
              <a:t>Close invite signup and verify private-Blob migration, demo reset, email, cron, and health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24CE614-CD05-48DF-8923-038E4D9AB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524125"/>
            <a:ext cx="238125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1B1D2E"/>
          </a:solidFill>
          <a:ln xmlns:a="http://schemas.openxmlformats.org/drawingml/2006/main" w="19050">
            <a:solidFill>
              <a:srgbClr val="5EC8F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1C3012C-0247-4628-9616-3084067E7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2619375"/>
            <a:ext cx="2152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5EC8F2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5EC8F2"/>
                </a:solidFill>
                <a:latin typeface="Arial"/>
                <a:ea typeface="Arial"/>
                <a:cs typeface="Arial"/>
              </a:rPr>
              <a:t>THEN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6AA23E3-EA1D-4A55-9C4F-E53FB6B7A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2924175"/>
            <a:ext cx="21526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A7ACC2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A7ACC2"/>
                </a:solidFill>
                <a:latin typeface="Calibri"/>
                <a:ea typeface="Calibri"/>
                <a:cs typeface="Calibri"/>
              </a:rPr>
              <a:t>Add transactions, durable audit retention, quote uniqueness, and boundary tests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D17663A-D230-4BE6-88C4-9ED8CC6EB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524125"/>
            <a:ext cx="238125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1B1D2E"/>
          </a:solidFill>
          <a:ln xmlns:a="http://schemas.openxmlformats.org/drawingml/2006/main" w="19050">
            <a:solidFill>
              <a:srgbClr val="2DD4A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8C3EE5C-747A-42CE-9B83-AFB76AACA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619375"/>
            <a:ext cx="2152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2DD4A7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2DD4A7"/>
                </a:solidFill>
                <a:latin typeface="Arial"/>
                <a:ea typeface="Arial"/>
                <a:cs typeface="Arial"/>
              </a:rPr>
              <a:t>AFTER EVIDENCE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82DBEFC-E269-4E52-B80F-AAF7AD13C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924175"/>
            <a:ext cx="21526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A7ACC2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A7ACC2"/>
                </a:solidFill>
                <a:latin typeface="Calibri"/>
                <a:ea typeface="Calibri"/>
                <a:cs typeface="Calibri"/>
              </a:rPr>
              <a:t>Choose payments, team policy, or vendor discovery from observed demand</a:t>
            </a:r>
          </a:p>
        </p:txBody>
      </p:sp>
      <p:cxnSp>
        <p:nvCxnSpPr>
          <p:cNvPr id="41" name=""/>
          <p:cNvCxnSpPr>
            <a:stCxn xmlns:a="http://schemas.openxmlformats.org/drawingml/2006/main" id="7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3286125" y="3429000"/>
            <a:ext cx="4286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5B84B"/>
            </a:solidFill>
            <a:prstDash val="solid"/>
            <a:tailEnd type="arrow" w="sm" len="sm"/>
          </a:ln>
        </p:spPr>
      </p:cxnSp>
      <p:cxnSp>
        <p:nvCxnSpPr>
          <p:cNvPr id="42" name=""/>
          <p:cNvCxnSpPr>
            <a:stCxn xmlns:a="http://schemas.openxmlformats.org/drawingml/2006/main" id="10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6096000" y="3429000"/>
            <a:ext cx="4286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EC8F2"/>
            </a:solidFill>
            <a:prstDash val="solid"/>
            <a:tailEnd type="arrow" w="sm" len="sm"/>
          </a:ln>
        </p:spPr>
      </p:cxnSp>
      <p:cxnSp>
        <p:nvCxnSpPr>
          <p:cNvPr id="43" name=""/>
          <p:cNvCxnSpPr>
            <a:stCxn xmlns:a="http://schemas.openxmlformats.org/drawingml/2006/main" id="13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8905875" y="3429000"/>
            <a:ext cx="4286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DD4A7"/>
            </a:solidFill>
            <a:prstDash val="solid"/>
            <a:tailEnd type="arrow" w="sm" len="sm"/>
          </a:ln>
        </p:spPr>
      </p:cxn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5BE4538-7CCA-4B45-94FB-B91094320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095875"/>
            <a:ext cx="8953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 i="0">
                <a:solidFill>
                  <a:srgbClr val="F1F2F8"/>
                </a:solidFill>
                <a:latin typeface="Calibri"/>
                <a:ea typeface="Calibri"/>
                <a:cs typeface="Calibri"/>
              </a:defRPr>
            </a:pPr>
            <a:r>
              <a:rPr sz="1725" b="1" i="0">
                <a:solidFill>
                  <a:srgbClr val="F1F2F8"/>
                </a:solidFill>
                <a:latin typeface="Calibri"/>
                <a:ea typeface="Calibri"/>
                <a:cs typeface="Calibri"/>
              </a:rPr>
              <a:t>The current code proves coordination and recordkeeping. The next release decision should come from real workflow evidence.</a:t>
            </a:r>
          </a:p>
        </p:txBody>
      </p:sp>
    </p:spTree>
    <p:extLst>
      <p:ext uri="{BB962C8B-B14F-4D97-AF65-F5344CB8AC3E}">
        <p14:creationId xmlns:p14="http://schemas.microsoft.com/office/powerpoint/2010/main" val="1704074451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0E0F1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E762C4E-825C-4F35-8DA1-25B695C24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990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75" b="1" i="0">
                <a:solidFill>
                  <a:srgbClr val="F1F2F8"/>
                </a:solidFill>
                <a:latin typeface="Arial"/>
                <a:ea typeface="Arial"/>
                <a:cs typeface="Arial"/>
              </a:defRPr>
            </a:pPr>
            <a:r>
              <a:rPr sz="3375" b="1" i="0">
                <a:solidFill>
                  <a:srgbClr val="F1F2F8"/>
                </a:solidFill>
                <a:latin typeface="Arial"/>
                <a:ea typeface="Arial"/>
                <a:cs typeface="Arial"/>
              </a:rPr>
              <a:t>The system is one request-centered record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841354-3D5A-426A-9BB6-19DA8AEE0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43050"/>
            <a:ext cx="857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A7ACC2"/>
                </a:solidFill>
                <a:latin typeface="Calibri"/>
                <a:ea typeface="Calibri"/>
                <a:cs typeface="Calibri"/>
              </a:defRPr>
            </a:pPr>
            <a:r>
              <a:rPr sz="1650" b="0" i="0">
                <a:solidFill>
                  <a:srgbClr val="A7ACC2"/>
                </a:solidFill>
                <a:latin typeface="Calibri"/>
                <a:ea typeface="Calibri"/>
                <a:cs typeface="Calibri"/>
              </a:rPr>
              <a:t>Trace these four links and you can explain or extend TurnFlow Home with confidence.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7CE135-F7AD-4058-8030-086C8106F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0"/>
            <a:ext cx="2286000" cy="133350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1B1D2E"/>
          </a:solidFill>
          <a:ln xmlns:a="http://schemas.openxmlformats.org/drawingml/2006/main" w="19050">
            <a:solidFill>
              <a:srgbClr val="8B7C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081821-F4F4-44F2-937F-B12B5C214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43250"/>
            <a:ext cx="2057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8B7CFF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8B7CFF"/>
                </a:solidFill>
                <a:latin typeface="Arial"/>
                <a:ea typeface="Arial"/>
                <a:cs typeface="Arial"/>
              </a:rPr>
              <a:t>Role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62AEFB-3BCF-4FCD-B4D9-ECA928D30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48050"/>
            <a:ext cx="2057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A7ACC2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A7ACC2"/>
                </a:solidFill>
                <a:latin typeface="Calibri"/>
                <a:ea typeface="Calibri"/>
                <a:cs typeface="Calibri"/>
              </a:rPr>
              <a:t>Who may act?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91589B-3DB2-418C-8B50-3DBD9BA80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048000"/>
            <a:ext cx="2286000" cy="133350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1B1D2E"/>
          </a:solidFill>
          <a:ln xmlns:a="http://schemas.openxmlformats.org/drawingml/2006/main" w="19050">
            <a:solidFill>
              <a:srgbClr val="2DD4A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A1B5BA-0308-40B7-AEF1-1F53AB4B0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143250"/>
            <a:ext cx="2057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2DD4A7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2DD4A7"/>
                </a:solidFill>
                <a:latin typeface="Arial"/>
                <a:ea typeface="Arial"/>
                <a:cs typeface="Arial"/>
              </a:rPr>
              <a:t>Request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5CF94B8-4CDA-4AE0-92E3-2DD032EDF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448050"/>
            <a:ext cx="2057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A7ACC2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A7ACC2"/>
                </a:solidFill>
                <a:latin typeface="Calibri"/>
                <a:ea typeface="Calibri"/>
                <a:cs typeface="Calibri"/>
              </a:rPr>
              <a:t>Which repair?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F2E4225-1BAB-4A5A-B767-D7096C20E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048000"/>
            <a:ext cx="2286000" cy="133350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1B1D2E"/>
          </a:solidFill>
          <a:ln xmlns:a="http://schemas.openxmlformats.org/drawingml/2006/main" w="19050">
            <a:solidFill>
              <a:srgbClr val="F5B84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D0B6AD1-4139-4FFA-9DD5-401D4D192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143250"/>
            <a:ext cx="2057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F5B84B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F5B84B"/>
                </a:solidFill>
                <a:latin typeface="Arial"/>
                <a:ea typeface="Arial"/>
                <a:cs typeface="Arial"/>
              </a:rPr>
              <a:t>Evidence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3C4ADA3-C646-4C1C-A837-D74A008D9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448050"/>
            <a:ext cx="2057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A7ACC2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A7ACC2"/>
                </a:solidFill>
                <a:latin typeface="Calibri"/>
                <a:ea typeface="Calibri"/>
                <a:cs typeface="Calibri"/>
              </a:rPr>
              <a:t>What proves it?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4A227D7-6E5E-4EC6-98A0-DEDD5EF3C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048000"/>
            <a:ext cx="2286000" cy="133350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1B1D2E"/>
          </a:solidFill>
          <a:ln xmlns:a="http://schemas.openxmlformats.org/drawingml/2006/main" w="19050">
            <a:solidFill>
              <a:srgbClr val="FF6B8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C5DBD2B-BDF1-46B4-B579-F57183E1A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143250"/>
            <a:ext cx="2057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FF6B8A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FF6B8A"/>
                </a:solidFill>
                <a:latin typeface="Arial"/>
                <a:ea typeface="Arial"/>
                <a:cs typeface="Arial"/>
              </a:rPr>
              <a:t>Decision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CD4B410-D90B-4D0E-BE16-81339B99C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448050"/>
            <a:ext cx="2057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A7ACC2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A7ACC2"/>
                </a:solidFill>
                <a:latin typeface="Calibri"/>
                <a:ea typeface="Calibri"/>
                <a:cs typeface="Calibri"/>
              </a:rPr>
              <a:t>What changed?</a:t>
            </a:r>
          </a:p>
        </p:txBody>
      </p:sp>
      <p:cxnSp>
        <p:nvCxnSpPr>
          <p:cNvPr id="35" name=""/>
          <p:cNvCxnSpPr>
            <a:stCxn xmlns:a="http://schemas.openxmlformats.org/drawingml/2006/main" id="3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2952750" y="3714750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DD4A7"/>
            </a:solidFill>
            <a:prstDash val="solid"/>
            <a:tailEnd type="arrow" w="sm" len="sm"/>
          </a:ln>
        </p:spPr>
      </p:cxnSp>
      <p:cxnSp>
        <p:nvCxnSpPr>
          <p:cNvPr id="36" name=""/>
          <p:cNvCxnSpPr>
            <a:stCxn xmlns:a="http://schemas.openxmlformats.org/drawingml/2006/main" id="6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5810250" y="3714750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5B84B"/>
            </a:solidFill>
            <a:prstDash val="solid"/>
            <a:tailEnd type="arrow" w="sm" len="sm"/>
          </a:ln>
        </p:spPr>
      </p:cxnSp>
      <p:cxnSp>
        <p:nvCxnSpPr>
          <p:cNvPr id="37" name=""/>
          <p:cNvCxnSpPr>
            <a:stCxn xmlns:a="http://schemas.openxmlformats.org/drawingml/2006/main" id="9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8667750" y="3714750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F6B8A"/>
            </a:solidFill>
            <a:prstDash val="solid"/>
            <a:tailEnd type="arrow" w="sm" len="sm"/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1A5DB85-A7F4-4173-B475-9706EB728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0"/>
            <a:ext cx="571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EC8F2"/>
                </a:solidFill>
                <a:latin typeface="Courier New"/>
                <a:ea typeface="Courier New"/>
                <a:cs typeface="Courier New"/>
              </a:defRPr>
            </a:pPr>
            <a:r>
              <a:rPr sz="1350" b="0" i="0">
                <a:solidFill>
                  <a:srgbClr val="5EC8F2"/>
                </a:solidFill>
                <a:latin typeface="Courier New"/>
                <a:ea typeface="Courier New"/>
                <a:cs typeface="Courier New"/>
              </a:rPr>
              <a:t>Start page: PROJECT_SYSTEM_GUIDE.md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88EE26E-F96C-48FB-A8E0-5685B6977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38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737A99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737A99"/>
                </a:solidFill>
                <a:latin typeface="Arial"/>
                <a:ea typeface="Arial"/>
                <a:cs typeface="Arial"/>
              </a:rPr>
              <a:t>TURNFLOW HOME  •  SYSTEM GUIDE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0840031-707F-4A71-B68C-52EB46DA6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737A99"/>
                </a:solidFill>
                <a:latin typeface="Courier New"/>
                <a:ea typeface="Courier New"/>
                <a:cs typeface="Courier New"/>
              </a:defRPr>
            </a:pPr>
            <a:r>
              <a:rPr sz="900" b="0" i="0">
                <a:solidFill>
                  <a:srgbClr val="737A99"/>
                </a:solidFill>
                <a:latin typeface="Courier New"/>
                <a:ea typeface="Courier New"/>
                <a:cs typeface="Courier New"/>
              </a:rPr>
              <a:t>29</a:t>
            </a:r>
          </a:p>
        </p:txBody>
      </p:sp>
    </p:spTree>
    <p:extLst>
      <p:ext uri="{BB962C8B-B14F-4D97-AF65-F5344CB8AC3E}">
        <p14:creationId xmlns:p14="http://schemas.microsoft.com/office/powerpoint/2010/main" val="520170802"/>
      </p:ext>
    </p:extLst>
  </p:cSld>
</p:sld>
</file>

<file path=ppt/theme/theme1.xml><?xml version="1.0" encoding="utf-8"?>
<a:theme xmlns:a="http://schemas.openxmlformats.org/drawingml/2006/main" name="ChatGPT">
  <a:themeElements>
    <a:clrScheme name="TurnFlow Dark">
      <a:dk1>
        <a:srgbClr val="000000"/>
      </a:dk1>
      <a:lt1>
        <a:srgbClr val="FFFFFF"/>
      </a:lt1>
      <a:dk2>
        <a:srgbClr val="10121E"/>
      </a:dk2>
      <a:lt2>
        <a:srgbClr val="E7E9F2"/>
      </a:lt2>
      <a:accent1>
        <a:srgbClr val="8B7CFF"/>
      </a:accent1>
      <a:accent2>
        <a:srgbClr val="2DD4A7"/>
      </a:accent2>
      <a:accent3>
        <a:srgbClr val="F5B84B"/>
      </a:accent3>
      <a:accent4>
        <a:srgbClr val="FF6B8A"/>
      </a:accent4>
      <a:accent5>
        <a:srgbClr val="5EC8F2"/>
      </a:accent5>
      <a:accent6>
        <a:srgbClr val="737A99"/>
      </a:accent6>
      <a:hlink>
        <a:srgbClr val="5EC8F2"/>
      </a:hlink>
      <a:folHlink>
        <a:srgbClr val="8B7CFF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TurnFlow Dark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2026-09-30T23:13:33.7110000Z</dcterms:created>
  <dcterms:modified xsi:type="dcterms:W3CDTF">2026-09-30T23:13:33.7120000Z</dcterms:modified>
</coreProperties>
</file>